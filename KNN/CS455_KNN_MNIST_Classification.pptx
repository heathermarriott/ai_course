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1"/>
  </p:notesMasterIdLst>
  <p:handoutMasterIdLst>
    <p:handoutMasterId r:id="rId32"/>
  </p:handoutMasterIdLst>
  <p:sldIdLst>
    <p:sldId id="257" r:id="rId5"/>
    <p:sldId id="268" r:id="rId6"/>
    <p:sldId id="294" r:id="rId7"/>
    <p:sldId id="278" r:id="rId8"/>
    <p:sldId id="280" r:id="rId9"/>
    <p:sldId id="279" r:id="rId10"/>
    <p:sldId id="281" r:id="rId11"/>
    <p:sldId id="284" r:id="rId12"/>
    <p:sldId id="283" r:id="rId13"/>
    <p:sldId id="286" r:id="rId14"/>
    <p:sldId id="285" r:id="rId15"/>
    <p:sldId id="282" r:id="rId16"/>
    <p:sldId id="287" r:id="rId17"/>
    <p:sldId id="290" r:id="rId18"/>
    <p:sldId id="288" r:id="rId19"/>
    <p:sldId id="289" r:id="rId20"/>
    <p:sldId id="296" r:id="rId21"/>
    <p:sldId id="292" r:id="rId22"/>
    <p:sldId id="297" r:id="rId23"/>
    <p:sldId id="298" r:id="rId24"/>
    <p:sldId id="299" r:id="rId25"/>
    <p:sldId id="300" r:id="rId26"/>
    <p:sldId id="302" r:id="rId27"/>
    <p:sldId id="301" r:id="rId28"/>
    <p:sldId id="291" r:id="rId29"/>
    <p:sldId id="303" r:id="rId30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A01A"/>
    <a:srgbClr val="029999"/>
    <a:srgbClr val="394404"/>
    <a:srgbClr val="5F6F0F"/>
    <a:srgbClr val="718412"/>
    <a:srgbClr val="65741A"/>
    <a:srgbClr val="70811D"/>
    <a:srgbClr val="7B8D1F"/>
    <a:srgbClr val="839721"/>
    <a:srgbClr val="95A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51" autoAdjust="0"/>
    <p:restoredTop sz="81868" autoAdjust="0"/>
  </p:normalViewPr>
  <p:slideViewPr>
    <p:cSldViewPr>
      <p:cViewPr varScale="1">
        <p:scale>
          <a:sx n="80" d="100"/>
          <a:sy n="80" d="100"/>
        </p:scale>
        <p:origin x="258" y="7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1/26/2026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1/26/2026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105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 dirty="0" err="1"/>
              <a:t>MNIST_database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387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ED0C5-9DE6-1387-7D72-C0373E72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59C8D-82B6-AEAD-A1A0-550D9BCA70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947BDA-14F9-0C70-1B45-9C9F83A94A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 dirty="0" err="1"/>
              <a:t>MNIST_database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6402A-E3D3-6B02-3AD7-BFECCBB378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086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FE471-EC25-96AF-B1E7-4481C824E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018B5-5F5C-6C2C-527A-4F4E3B694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BF283E-0B78-F307-2E1F-D519B6069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import </a:t>
            </a:r>
            <a:r>
              <a:rPr lang="en-US" dirty="0" err="1"/>
              <a:t>gzip</a:t>
            </a:r>
            <a:endParaRPr lang="en-US" dirty="0"/>
          </a:p>
          <a:p>
            <a:r>
              <a:rPr lang="en-US" dirty="0"/>
              <a:t>import struct</a:t>
            </a:r>
          </a:p>
          <a:p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load_images</a:t>
            </a:r>
            <a:r>
              <a:rPr lang="en-US" dirty="0"/>
              <a:t>(filename):</a:t>
            </a:r>
          </a:p>
          <a:p>
            <a:r>
              <a:rPr lang="en-US" dirty="0"/>
              <a:t>    #the file is compressed using GNU zip(</a:t>
            </a:r>
            <a:r>
              <a:rPr lang="en-US" dirty="0" err="1"/>
              <a:t>gzip</a:t>
            </a:r>
            <a:r>
              <a:rPr lang="en-US" dirty="0"/>
              <a:t>) format</a:t>
            </a:r>
          </a:p>
          <a:p>
            <a:r>
              <a:rPr lang="en-US" dirty="0"/>
              <a:t>    #open binary file for reading '</a:t>
            </a:r>
            <a:r>
              <a:rPr lang="en-US" dirty="0" err="1"/>
              <a:t>rb</a:t>
            </a:r>
            <a:r>
              <a:rPr lang="en-US" dirty="0"/>
              <a:t>'</a:t>
            </a:r>
          </a:p>
          <a:p>
            <a:r>
              <a:rPr lang="en-US" dirty="0"/>
              <a:t>    #</a:t>
            </a:r>
          </a:p>
          <a:p>
            <a:r>
              <a:rPr lang="en-US" dirty="0"/>
              <a:t>    with </a:t>
            </a:r>
            <a:r>
              <a:rPr lang="en-US" dirty="0" err="1"/>
              <a:t>gzip.open</a:t>
            </a:r>
            <a:r>
              <a:rPr lang="en-US" dirty="0"/>
              <a:t>(filename, '</a:t>
            </a:r>
            <a:r>
              <a:rPr lang="en-US" dirty="0" err="1"/>
              <a:t>rb</a:t>
            </a:r>
            <a:r>
              <a:rPr lang="en-US" dirty="0"/>
              <a:t>') as f:</a:t>
            </a:r>
          </a:p>
          <a:p>
            <a:r>
              <a:rPr lang="en-US" dirty="0"/>
              <a:t>        #&gt; means big-endian (most sig byte first)</a:t>
            </a:r>
          </a:p>
          <a:p>
            <a:r>
              <a:rPr lang="en-US" dirty="0"/>
              <a:t>        #I means unsigned 32-bit int  so IIII is 4 unsigned integers</a:t>
            </a:r>
          </a:p>
          <a:p>
            <a:r>
              <a:rPr lang="en-US" dirty="0"/>
              <a:t>        #each int is 4 bytes and you have 4 = 16 bytes</a:t>
            </a:r>
          </a:p>
          <a:p>
            <a:r>
              <a:rPr lang="en-US" dirty="0"/>
              <a:t>        #this first line reads the header bytes:</a:t>
            </a:r>
          </a:p>
          <a:p>
            <a:r>
              <a:rPr lang="en-US" dirty="0"/>
              <a:t>        # magic byte, number images, rows, columns</a:t>
            </a:r>
          </a:p>
          <a:p>
            <a:r>
              <a:rPr lang="en-US" dirty="0"/>
              <a:t>        _, </a:t>
            </a:r>
            <a:r>
              <a:rPr lang="en-US" dirty="0" err="1"/>
              <a:t>n_images</a:t>
            </a:r>
            <a:r>
              <a:rPr lang="en-US" dirty="0"/>
              <a:t>, rows, cols = </a:t>
            </a:r>
            <a:r>
              <a:rPr lang="en-US" dirty="0" err="1"/>
              <a:t>struct.unpack</a:t>
            </a:r>
            <a:r>
              <a:rPr lang="en-US" dirty="0"/>
              <a:t>('&gt;IIII', </a:t>
            </a:r>
            <a:r>
              <a:rPr lang="en-US" dirty="0" err="1"/>
              <a:t>f.read</a:t>
            </a:r>
            <a:r>
              <a:rPr lang="en-US" dirty="0"/>
              <a:t>(16))</a:t>
            </a:r>
          </a:p>
          <a:p>
            <a:r>
              <a:rPr lang="en-US" dirty="0"/>
              <a:t>        #this line reads all the data from the file values are unsigned</a:t>
            </a:r>
          </a:p>
          <a:p>
            <a:r>
              <a:rPr lang="en-US" dirty="0"/>
              <a:t>        #8-bit </a:t>
            </a:r>
            <a:r>
              <a:rPr lang="en-US" dirty="0" err="1"/>
              <a:t>ints</a:t>
            </a:r>
            <a:endParaRPr lang="en-US" dirty="0"/>
          </a:p>
          <a:p>
            <a:r>
              <a:rPr lang="en-US" dirty="0"/>
              <a:t>        data = </a:t>
            </a:r>
            <a:r>
              <a:rPr lang="en-US" dirty="0" err="1"/>
              <a:t>np.frombuffer</a:t>
            </a:r>
            <a:r>
              <a:rPr lang="en-US" dirty="0"/>
              <a:t>(</a:t>
            </a:r>
            <a:r>
              <a:rPr lang="en-US" dirty="0" err="1"/>
              <a:t>f.read</a:t>
            </a:r>
            <a:r>
              <a:rPr lang="en-US" dirty="0"/>
              <a:t>(), </a:t>
            </a:r>
            <a:r>
              <a:rPr lang="en-US" dirty="0" err="1"/>
              <a:t>dtype</a:t>
            </a:r>
            <a:r>
              <a:rPr lang="en-US" dirty="0"/>
              <a:t>=np.uint8)</a:t>
            </a:r>
          </a:p>
          <a:p>
            <a:r>
              <a:rPr lang="en-US" dirty="0"/>
              <a:t>        print(</a:t>
            </a:r>
            <a:r>
              <a:rPr lang="en-US" dirty="0" err="1"/>
              <a:t>f"Read</a:t>
            </a:r>
            <a:r>
              <a:rPr lang="en-US" dirty="0"/>
              <a:t> {</a:t>
            </a:r>
            <a:r>
              <a:rPr lang="en-US" dirty="0" err="1"/>
              <a:t>n_images</a:t>
            </a:r>
            <a:r>
              <a:rPr lang="en-US" dirty="0"/>
              <a:t>} images. Image sizes={rows}x{cols}")</a:t>
            </a:r>
          </a:p>
          <a:p>
            <a:r>
              <a:rPr lang="en-US" dirty="0"/>
              <a:t>        #reshape changes the shape of the array from a 1D array of 784 (28x28)</a:t>
            </a:r>
          </a:p>
          <a:p>
            <a:r>
              <a:rPr lang="en-US" dirty="0"/>
              <a:t>        #to 2D array of 28x28</a:t>
            </a:r>
          </a:p>
          <a:p>
            <a:r>
              <a:rPr lang="en-US" dirty="0"/>
              <a:t>        return </a:t>
            </a:r>
            <a:r>
              <a:rPr lang="en-US" dirty="0" err="1"/>
              <a:t>data.reshape</a:t>
            </a:r>
            <a:r>
              <a:rPr lang="en-US" dirty="0"/>
              <a:t>(</a:t>
            </a:r>
            <a:r>
              <a:rPr lang="en-US" dirty="0" err="1"/>
              <a:t>n_images</a:t>
            </a:r>
            <a:r>
              <a:rPr lang="en-US" dirty="0"/>
              <a:t>, rows, cols)</a:t>
            </a:r>
          </a:p>
          <a:p>
            <a:endParaRPr lang="en-US" dirty="0"/>
          </a:p>
          <a:p>
            <a:r>
              <a:rPr lang="en-US" dirty="0"/>
              <a:t># Load images from the 10,000 testing MNIST images</a:t>
            </a:r>
          </a:p>
          <a:p>
            <a:r>
              <a:rPr lang="en-US" dirty="0"/>
              <a:t>images = </a:t>
            </a:r>
            <a:r>
              <a:rPr lang="en-US" dirty="0" err="1"/>
              <a:t>load_images</a:t>
            </a:r>
            <a:r>
              <a:rPr lang="en-US" dirty="0"/>
              <a:t>("t10k-images-idx3-ubyte.gz")</a:t>
            </a:r>
          </a:p>
          <a:p>
            <a:endParaRPr lang="en-US" dirty="0"/>
          </a:p>
          <a:p>
            <a:r>
              <a:rPr lang="en-US" dirty="0"/>
              <a:t># Pick one digit</a:t>
            </a:r>
          </a:p>
          <a:p>
            <a:r>
              <a:rPr lang="en-US" dirty="0"/>
              <a:t>digit = images[2]</a:t>
            </a:r>
          </a:p>
          <a:p>
            <a:endParaRPr lang="en-US" dirty="0"/>
          </a:p>
          <a:p>
            <a:r>
              <a:rPr lang="en-US" dirty="0"/>
              <a:t># Display it</a:t>
            </a:r>
          </a:p>
          <a:p>
            <a:r>
              <a:rPr lang="en-US" dirty="0" err="1"/>
              <a:t>plt.imshow</a:t>
            </a:r>
            <a:r>
              <a:rPr lang="en-US" dirty="0"/>
              <a:t>(digit, </a:t>
            </a:r>
            <a:r>
              <a:rPr lang="en-US" dirty="0" err="1"/>
              <a:t>cmap</a:t>
            </a:r>
            <a:r>
              <a:rPr lang="en-US" dirty="0"/>
              <a:t>="gray")</a:t>
            </a:r>
          </a:p>
          <a:p>
            <a:r>
              <a:rPr lang="en-US" dirty="0" err="1"/>
              <a:t>plt.axis</a:t>
            </a:r>
            <a:r>
              <a:rPr lang="en-US" dirty="0"/>
              <a:t>("off")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96B20-1118-005B-8C37-391068089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538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6C3C1-E8B3-850F-3F5F-E2C81A8CF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BA543C-3A3D-B7B7-B5B7-BADE4F05D9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6BD7EC-4979-9A31-1092-CD752B620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import </a:t>
            </a:r>
            <a:r>
              <a:rPr lang="en-US" dirty="0" err="1"/>
              <a:t>gzip</a:t>
            </a:r>
            <a:endParaRPr lang="en-US" dirty="0"/>
          </a:p>
          <a:p>
            <a:r>
              <a:rPr lang="en-US" dirty="0"/>
              <a:t>import struct</a:t>
            </a:r>
          </a:p>
          <a:p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load_images</a:t>
            </a:r>
            <a:r>
              <a:rPr lang="en-US" dirty="0"/>
              <a:t>(filename):</a:t>
            </a:r>
          </a:p>
          <a:p>
            <a:r>
              <a:rPr lang="en-US" dirty="0"/>
              <a:t>    #the file is compressed using GNU zip(</a:t>
            </a:r>
            <a:r>
              <a:rPr lang="en-US" dirty="0" err="1"/>
              <a:t>gzip</a:t>
            </a:r>
            <a:r>
              <a:rPr lang="en-US" dirty="0"/>
              <a:t>) format</a:t>
            </a:r>
          </a:p>
          <a:p>
            <a:r>
              <a:rPr lang="en-US" dirty="0"/>
              <a:t>    #open binary file for reading '</a:t>
            </a:r>
            <a:r>
              <a:rPr lang="en-US" dirty="0" err="1"/>
              <a:t>rb</a:t>
            </a:r>
            <a:r>
              <a:rPr lang="en-US" dirty="0"/>
              <a:t>'</a:t>
            </a:r>
          </a:p>
          <a:p>
            <a:r>
              <a:rPr lang="en-US" dirty="0"/>
              <a:t>    #</a:t>
            </a:r>
          </a:p>
          <a:p>
            <a:r>
              <a:rPr lang="en-US" dirty="0"/>
              <a:t>    with </a:t>
            </a:r>
            <a:r>
              <a:rPr lang="en-US" dirty="0" err="1"/>
              <a:t>gzip.open</a:t>
            </a:r>
            <a:r>
              <a:rPr lang="en-US" dirty="0"/>
              <a:t>(filename, '</a:t>
            </a:r>
            <a:r>
              <a:rPr lang="en-US" dirty="0" err="1"/>
              <a:t>rb</a:t>
            </a:r>
            <a:r>
              <a:rPr lang="en-US" dirty="0"/>
              <a:t>') as f:</a:t>
            </a:r>
          </a:p>
          <a:p>
            <a:r>
              <a:rPr lang="en-US" dirty="0"/>
              <a:t>        #&gt; means big-endian (most sig byte first)</a:t>
            </a:r>
          </a:p>
          <a:p>
            <a:r>
              <a:rPr lang="en-US" dirty="0"/>
              <a:t>        #I means unsigned 32-bit int  so IIII is 4 unsigned integers</a:t>
            </a:r>
          </a:p>
          <a:p>
            <a:r>
              <a:rPr lang="en-US" dirty="0"/>
              <a:t>        #each int is 4 bytes and you have 4 = 16 bytes</a:t>
            </a:r>
          </a:p>
          <a:p>
            <a:r>
              <a:rPr lang="en-US" dirty="0"/>
              <a:t>        #this first line reads the header bytes:</a:t>
            </a:r>
          </a:p>
          <a:p>
            <a:r>
              <a:rPr lang="en-US" dirty="0"/>
              <a:t>        # magic byte, number images, rows, columns</a:t>
            </a:r>
          </a:p>
          <a:p>
            <a:r>
              <a:rPr lang="en-US" dirty="0"/>
              <a:t>        _, </a:t>
            </a:r>
            <a:r>
              <a:rPr lang="en-US" dirty="0" err="1"/>
              <a:t>n_images</a:t>
            </a:r>
            <a:r>
              <a:rPr lang="en-US" dirty="0"/>
              <a:t>, rows, cols = </a:t>
            </a:r>
            <a:r>
              <a:rPr lang="en-US" dirty="0" err="1"/>
              <a:t>struct.unpack</a:t>
            </a:r>
            <a:r>
              <a:rPr lang="en-US" dirty="0"/>
              <a:t>('&gt;IIII', </a:t>
            </a:r>
            <a:r>
              <a:rPr lang="en-US" dirty="0" err="1"/>
              <a:t>f.read</a:t>
            </a:r>
            <a:r>
              <a:rPr lang="en-US" dirty="0"/>
              <a:t>(16))</a:t>
            </a:r>
          </a:p>
          <a:p>
            <a:r>
              <a:rPr lang="en-US" dirty="0"/>
              <a:t>        #this line reads all the data from the file values are unsigned</a:t>
            </a:r>
          </a:p>
          <a:p>
            <a:r>
              <a:rPr lang="en-US" dirty="0"/>
              <a:t>        #8-bit </a:t>
            </a:r>
            <a:r>
              <a:rPr lang="en-US" dirty="0" err="1"/>
              <a:t>ints</a:t>
            </a:r>
            <a:endParaRPr lang="en-US" dirty="0"/>
          </a:p>
          <a:p>
            <a:r>
              <a:rPr lang="en-US" dirty="0"/>
              <a:t>        data = </a:t>
            </a:r>
            <a:r>
              <a:rPr lang="en-US" dirty="0" err="1"/>
              <a:t>np.frombuffer</a:t>
            </a:r>
            <a:r>
              <a:rPr lang="en-US" dirty="0"/>
              <a:t>(</a:t>
            </a:r>
            <a:r>
              <a:rPr lang="en-US" dirty="0" err="1"/>
              <a:t>f.read</a:t>
            </a:r>
            <a:r>
              <a:rPr lang="en-US" dirty="0"/>
              <a:t>(), </a:t>
            </a:r>
            <a:r>
              <a:rPr lang="en-US" dirty="0" err="1"/>
              <a:t>dtype</a:t>
            </a:r>
            <a:r>
              <a:rPr lang="en-US" dirty="0"/>
              <a:t>=np.uint8)</a:t>
            </a:r>
          </a:p>
          <a:p>
            <a:r>
              <a:rPr lang="en-US" dirty="0"/>
              <a:t>        print(</a:t>
            </a:r>
            <a:r>
              <a:rPr lang="en-US" dirty="0" err="1"/>
              <a:t>f"Read</a:t>
            </a:r>
            <a:r>
              <a:rPr lang="en-US" dirty="0"/>
              <a:t> {</a:t>
            </a:r>
            <a:r>
              <a:rPr lang="en-US" dirty="0" err="1"/>
              <a:t>n_images</a:t>
            </a:r>
            <a:r>
              <a:rPr lang="en-US" dirty="0"/>
              <a:t>} images. Image sizes={rows}x{cols}")</a:t>
            </a:r>
          </a:p>
          <a:p>
            <a:r>
              <a:rPr lang="en-US" dirty="0"/>
              <a:t>        #reshape changes the shape of the array from a 1D array of 784 (28x28)</a:t>
            </a:r>
          </a:p>
          <a:p>
            <a:r>
              <a:rPr lang="en-US" dirty="0"/>
              <a:t>        #to 2D array of 28x28</a:t>
            </a:r>
          </a:p>
          <a:p>
            <a:r>
              <a:rPr lang="en-US" dirty="0"/>
              <a:t>        return </a:t>
            </a:r>
            <a:r>
              <a:rPr lang="en-US" dirty="0" err="1"/>
              <a:t>data.reshape</a:t>
            </a:r>
            <a:r>
              <a:rPr lang="en-US" dirty="0"/>
              <a:t>(</a:t>
            </a:r>
            <a:r>
              <a:rPr lang="en-US" dirty="0" err="1"/>
              <a:t>n_images</a:t>
            </a:r>
            <a:r>
              <a:rPr lang="en-US" dirty="0"/>
              <a:t>, rows, cols)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load_labels</a:t>
            </a:r>
            <a:r>
              <a:rPr lang="en-US" dirty="0"/>
              <a:t>(filename):</a:t>
            </a:r>
          </a:p>
          <a:p>
            <a:r>
              <a:rPr lang="en-US" dirty="0"/>
              <a:t>    with </a:t>
            </a:r>
            <a:r>
              <a:rPr lang="en-US" dirty="0" err="1"/>
              <a:t>gzip.open</a:t>
            </a:r>
            <a:r>
              <a:rPr lang="en-US" dirty="0"/>
              <a:t>(filename, '</a:t>
            </a:r>
            <a:r>
              <a:rPr lang="en-US" dirty="0" err="1"/>
              <a:t>rb</a:t>
            </a:r>
            <a:r>
              <a:rPr lang="en-US" dirty="0"/>
              <a:t>') as f:</a:t>
            </a:r>
          </a:p>
          <a:p>
            <a:r>
              <a:rPr lang="en-US" dirty="0"/>
              <a:t>        # header: magic + number</a:t>
            </a:r>
          </a:p>
          <a:p>
            <a:r>
              <a:rPr lang="en-US" dirty="0"/>
              <a:t>        magic, </a:t>
            </a:r>
            <a:r>
              <a:rPr lang="en-US" dirty="0" err="1"/>
              <a:t>n_labels</a:t>
            </a:r>
            <a:r>
              <a:rPr lang="en-US" dirty="0"/>
              <a:t> = </a:t>
            </a:r>
            <a:r>
              <a:rPr lang="en-US" dirty="0" err="1"/>
              <a:t>struct.unpack</a:t>
            </a:r>
            <a:r>
              <a:rPr lang="en-US" dirty="0"/>
              <a:t>("&gt;II", </a:t>
            </a:r>
            <a:r>
              <a:rPr lang="en-US" dirty="0" err="1"/>
              <a:t>f.read</a:t>
            </a:r>
            <a:r>
              <a:rPr lang="en-US" dirty="0"/>
              <a:t>(8))</a:t>
            </a:r>
          </a:p>
          <a:p>
            <a:r>
              <a:rPr lang="en-US" dirty="0"/>
              <a:t>        labels = </a:t>
            </a:r>
            <a:r>
              <a:rPr lang="en-US" dirty="0" err="1"/>
              <a:t>np.frombuffer</a:t>
            </a:r>
            <a:r>
              <a:rPr lang="en-US" dirty="0"/>
              <a:t>(</a:t>
            </a:r>
            <a:r>
              <a:rPr lang="en-US" dirty="0" err="1"/>
              <a:t>f.read</a:t>
            </a:r>
            <a:r>
              <a:rPr lang="en-US" dirty="0"/>
              <a:t>(), </a:t>
            </a:r>
            <a:r>
              <a:rPr lang="en-US" dirty="0" err="1"/>
              <a:t>dtype</a:t>
            </a:r>
            <a:r>
              <a:rPr lang="en-US" dirty="0"/>
              <a:t>=np.uint8)</a:t>
            </a:r>
          </a:p>
          <a:p>
            <a:r>
              <a:rPr lang="en-US" dirty="0"/>
              <a:t>    return labels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# Load images from the 10,000 testing MNIST images</a:t>
            </a:r>
          </a:p>
          <a:p>
            <a:r>
              <a:rPr lang="en-US" dirty="0"/>
              <a:t>images = </a:t>
            </a:r>
            <a:r>
              <a:rPr lang="en-US" dirty="0" err="1"/>
              <a:t>load_images</a:t>
            </a:r>
            <a:r>
              <a:rPr lang="en-US" dirty="0"/>
              <a:t>("t10k-images-idx3-ubyte.gz")</a:t>
            </a:r>
          </a:p>
          <a:p>
            <a:endParaRPr lang="en-US" dirty="0"/>
          </a:p>
          <a:p>
            <a:r>
              <a:rPr lang="en-US" dirty="0"/>
              <a:t>#load the labels</a:t>
            </a:r>
          </a:p>
          <a:p>
            <a:r>
              <a:rPr lang="en-US" dirty="0" err="1"/>
              <a:t>Y_test_all</a:t>
            </a:r>
            <a:r>
              <a:rPr lang="en-US" dirty="0"/>
              <a:t> = </a:t>
            </a:r>
            <a:r>
              <a:rPr lang="en-US" dirty="0" err="1"/>
              <a:t>load_labels</a:t>
            </a:r>
            <a:r>
              <a:rPr lang="en-US" dirty="0"/>
              <a:t>("t10k-labels-idx1-ubyte.gz")</a:t>
            </a:r>
          </a:p>
          <a:p>
            <a:endParaRPr lang="en-US" dirty="0"/>
          </a:p>
          <a:p>
            <a:r>
              <a:rPr lang="en-US" dirty="0"/>
              <a:t># Pick one digit</a:t>
            </a:r>
          </a:p>
          <a:p>
            <a:r>
              <a:rPr lang="en-US" dirty="0"/>
              <a:t>n=0</a:t>
            </a:r>
          </a:p>
          <a:p>
            <a:r>
              <a:rPr lang="en-US" dirty="0"/>
              <a:t>digit = images[n]</a:t>
            </a:r>
          </a:p>
          <a:p>
            <a:r>
              <a:rPr lang="en-US" dirty="0"/>
              <a:t>print(</a:t>
            </a:r>
            <a:r>
              <a:rPr lang="en-US" dirty="0" err="1"/>
              <a:t>f"The</a:t>
            </a:r>
            <a:r>
              <a:rPr lang="en-US" dirty="0"/>
              <a:t> label for this digit is: {</a:t>
            </a:r>
            <a:r>
              <a:rPr lang="en-US" dirty="0" err="1"/>
              <a:t>Y_test_all</a:t>
            </a:r>
            <a:r>
              <a:rPr lang="en-US" dirty="0"/>
              <a:t>[n]}")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DD0FE-F2DD-EC9B-087F-D1C5321F2C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477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Load images from the 60,000 training MNIST images</a:t>
            </a:r>
          </a:p>
          <a:p>
            <a:r>
              <a:rPr lang="en-US" dirty="0" err="1"/>
              <a:t>images_train</a:t>
            </a:r>
            <a:r>
              <a:rPr lang="en-US" dirty="0"/>
              <a:t> = </a:t>
            </a:r>
            <a:r>
              <a:rPr lang="en-US" dirty="0" err="1"/>
              <a:t>load_images</a:t>
            </a:r>
            <a:r>
              <a:rPr lang="en-US" dirty="0"/>
              <a:t>("train-images-idx3-ubyte.gz")</a:t>
            </a:r>
          </a:p>
          <a:p>
            <a:r>
              <a:rPr lang="en-US" dirty="0" err="1"/>
              <a:t>Y_train_all</a:t>
            </a:r>
            <a:r>
              <a:rPr lang="en-US" dirty="0"/>
              <a:t> = </a:t>
            </a:r>
            <a:r>
              <a:rPr lang="en-US" dirty="0" err="1"/>
              <a:t>load_labels</a:t>
            </a:r>
            <a:r>
              <a:rPr lang="en-US" dirty="0"/>
              <a:t>("train-labels-idx1-ubyte.gz")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8252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2371D-EBD4-6D17-EC37-B33C77648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D6C6CA-BE72-5091-7AD9-5100709E31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1AD9C3-C643-02DB-EC64-2FE612C5C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55F0A-3DEF-E6BF-F267-3F9AE7AD2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80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BB3F7-9573-2930-00E5-C5F434AAD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5449B7-5E97-17DA-4C31-414EB650C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8BF15-B6B2-ECD2-A233-9AFF81BCF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r>
              <a:rPr lang="en-US" dirty="0"/>
              <a:t># Blue points (class 1)</a:t>
            </a:r>
          </a:p>
          <a:p>
            <a:r>
              <a:rPr lang="en-US" dirty="0" err="1"/>
              <a:t>x_blue</a:t>
            </a:r>
            <a:r>
              <a:rPr lang="en-US" dirty="0"/>
              <a:t> = [1, 2, 3, 1, 0, 2, 3, 3]</a:t>
            </a:r>
          </a:p>
          <a:p>
            <a:r>
              <a:rPr lang="en-US" dirty="0" err="1"/>
              <a:t>y_blue</a:t>
            </a:r>
            <a:r>
              <a:rPr lang="en-US" dirty="0"/>
              <a:t> = [4, 5, 6, 5, 3, 4, 5, 4]</a:t>
            </a:r>
          </a:p>
          <a:p>
            <a:endParaRPr lang="en-US" dirty="0"/>
          </a:p>
          <a:p>
            <a:r>
              <a:rPr lang="en-US" dirty="0"/>
              <a:t># Red points (class 2)</a:t>
            </a:r>
          </a:p>
          <a:p>
            <a:r>
              <a:rPr lang="en-US" dirty="0" err="1"/>
              <a:t>x_red</a:t>
            </a:r>
            <a:r>
              <a:rPr lang="en-US" dirty="0"/>
              <a:t> = [2, 3, 4, 3, 0, 1, 2, 4, 3]</a:t>
            </a:r>
          </a:p>
          <a:p>
            <a:r>
              <a:rPr lang="en-US" dirty="0" err="1"/>
              <a:t>y_red</a:t>
            </a:r>
            <a:r>
              <a:rPr lang="en-US" dirty="0"/>
              <a:t> = [1, 2, 3, 1, 0, 1, 2, 1, 2]</a:t>
            </a:r>
          </a:p>
          <a:p>
            <a:endParaRPr lang="en-US" dirty="0"/>
          </a:p>
          <a:p>
            <a:r>
              <a:rPr lang="en-US" dirty="0" err="1"/>
              <a:t>plt.scatter</a:t>
            </a:r>
            <a:r>
              <a:rPr lang="en-US" dirty="0"/>
              <a:t>(</a:t>
            </a:r>
            <a:r>
              <a:rPr lang="en-US" dirty="0" err="1"/>
              <a:t>x_blue</a:t>
            </a:r>
            <a:r>
              <a:rPr lang="en-US" dirty="0"/>
              <a:t>, </a:t>
            </a:r>
            <a:r>
              <a:rPr lang="en-US" dirty="0" err="1"/>
              <a:t>y_blue</a:t>
            </a:r>
            <a:r>
              <a:rPr lang="en-US" dirty="0"/>
              <a:t>, color='blue')</a:t>
            </a:r>
          </a:p>
          <a:p>
            <a:r>
              <a:rPr lang="en-US" dirty="0" err="1"/>
              <a:t>plt.scatter</a:t>
            </a:r>
            <a:r>
              <a:rPr lang="en-US" dirty="0"/>
              <a:t>(</a:t>
            </a:r>
            <a:r>
              <a:rPr lang="en-US" dirty="0" err="1"/>
              <a:t>x_red</a:t>
            </a:r>
            <a:r>
              <a:rPr lang="en-US" dirty="0"/>
              <a:t>, </a:t>
            </a:r>
            <a:r>
              <a:rPr lang="en-US" dirty="0" err="1"/>
              <a:t>y_red</a:t>
            </a:r>
            <a:r>
              <a:rPr lang="en-US" dirty="0"/>
              <a:t>, color='red')</a:t>
            </a:r>
          </a:p>
          <a:p>
            <a:endParaRPr lang="en-US" dirty="0"/>
          </a:p>
          <a:p>
            <a:r>
              <a:rPr lang="en-US" dirty="0"/>
              <a:t># --- Labels and legend ---</a:t>
            </a:r>
          </a:p>
          <a:p>
            <a:r>
              <a:rPr lang="en-US" dirty="0" err="1"/>
              <a:t>plt.xlabel</a:t>
            </a:r>
            <a:r>
              <a:rPr lang="en-US" dirty="0"/>
              <a:t>('Feature 1')</a:t>
            </a:r>
          </a:p>
          <a:p>
            <a:r>
              <a:rPr lang="en-US" dirty="0" err="1"/>
              <a:t>plt.ylabel</a:t>
            </a:r>
            <a:r>
              <a:rPr lang="en-US" dirty="0"/>
              <a:t>('Feature 2')</a:t>
            </a:r>
          </a:p>
          <a:p>
            <a:r>
              <a:rPr lang="en-US" dirty="0" err="1"/>
              <a:t>plt.title</a:t>
            </a:r>
            <a:r>
              <a:rPr lang="en-US" dirty="0"/>
              <a:t>('K-nearest Neighbors Example')</a:t>
            </a:r>
          </a:p>
          <a:p>
            <a:r>
              <a:rPr lang="en-US" dirty="0" err="1"/>
              <a:t>plt.legend</a:t>
            </a:r>
            <a:r>
              <a:rPr lang="en-US" dirty="0"/>
              <a:t>()</a:t>
            </a:r>
          </a:p>
          <a:p>
            <a:r>
              <a:rPr lang="en-US" dirty="0" err="1"/>
              <a:t>plt.grid</a:t>
            </a:r>
            <a:r>
              <a:rPr lang="en-US" dirty="0"/>
              <a:t>(True)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1ACF9-0BB1-3D80-A300-BE8896459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8088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EC3C9-A3FF-458C-34C6-5A8EB5CFD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592DE6-FEA5-D4D1-EDCE-A88F3891B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33879-3478-90D1-27E2-2F688DFD4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35E03-2A9C-DDF9-2CB0-85475B76F4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9662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08AD2-52BE-E1BA-707B-2AE03D13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131994-805B-0CBE-1235-0B674144B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B6330F-E492-4514-E3E5-5A0328D41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D5B5F-A683-268A-A9FE-C1E01EA377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0786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07B38-9935-4284-105F-68A234FF4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424827-0BDE-D175-9159-CA6364015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1349C0-403A-28B5-2D36-DB65A8E55F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import </a:t>
            </a:r>
            <a:r>
              <a:rPr lang="en-US" dirty="0" err="1"/>
              <a:t>gzip</a:t>
            </a:r>
            <a:endParaRPr lang="en-US" dirty="0"/>
          </a:p>
          <a:p>
            <a:r>
              <a:rPr lang="en-US" dirty="0"/>
              <a:t>import struct</a:t>
            </a:r>
          </a:p>
          <a:p>
            <a:r>
              <a:rPr lang="en-US" dirty="0"/>
              <a:t>from </a:t>
            </a:r>
            <a:r>
              <a:rPr lang="en-US" dirty="0" err="1"/>
              <a:t>sklearn.neighbors</a:t>
            </a:r>
            <a:r>
              <a:rPr lang="en-US" dirty="0"/>
              <a:t> import </a:t>
            </a:r>
            <a:r>
              <a:rPr lang="en-US" dirty="0" err="1"/>
              <a:t>KNeighborsClassifier</a:t>
            </a:r>
            <a:endParaRPr lang="en-US" dirty="0"/>
          </a:p>
          <a:p>
            <a:endParaRPr lang="en-US" dirty="0"/>
          </a:p>
          <a:p>
            <a:r>
              <a:rPr lang="en-US" dirty="0"/>
              <a:t># --- Load functions ---</a:t>
            </a:r>
          </a:p>
          <a:p>
            <a:r>
              <a:rPr lang="en-US" dirty="0"/>
              <a:t>def </a:t>
            </a:r>
            <a:r>
              <a:rPr lang="en-US" dirty="0" err="1"/>
              <a:t>load_images</a:t>
            </a:r>
            <a:r>
              <a:rPr lang="en-US" dirty="0"/>
              <a:t>(filename):</a:t>
            </a:r>
          </a:p>
          <a:p>
            <a:r>
              <a:rPr lang="en-US" dirty="0"/>
              <a:t>    with </a:t>
            </a:r>
            <a:r>
              <a:rPr lang="en-US" dirty="0" err="1"/>
              <a:t>gzip.open</a:t>
            </a:r>
            <a:r>
              <a:rPr lang="en-US" dirty="0"/>
              <a:t>(filename, '</a:t>
            </a:r>
            <a:r>
              <a:rPr lang="en-US" dirty="0" err="1"/>
              <a:t>rb</a:t>
            </a:r>
            <a:r>
              <a:rPr lang="en-US" dirty="0"/>
              <a:t>') as f:</a:t>
            </a:r>
          </a:p>
          <a:p>
            <a:r>
              <a:rPr lang="en-US" dirty="0"/>
              <a:t>        _, </a:t>
            </a:r>
            <a:r>
              <a:rPr lang="en-US" dirty="0" err="1"/>
              <a:t>n_images</a:t>
            </a:r>
            <a:r>
              <a:rPr lang="en-US" dirty="0"/>
              <a:t>, rows, cols = </a:t>
            </a:r>
            <a:r>
              <a:rPr lang="en-US" dirty="0" err="1"/>
              <a:t>struct.unpack</a:t>
            </a:r>
            <a:r>
              <a:rPr lang="en-US" dirty="0"/>
              <a:t>('&gt;IIII', </a:t>
            </a:r>
            <a:r>
              <a:rPr lang="en-US" dirty="0" err="1"/>
              <a:t>f.read</a:t>
            </a:r>
            <a:r>
              <a:rPr lang="en-US" dirty="0"/>
              <a:t>(16))</a:t>
            </a:r>
          </a:p>
          <a:p>
            <a:r>
              <a:rPr lang="en-US" dirty="0"/>
              <a:t>        data = </a:t>
            </a:r>
            <a:r>
              <a:rPr lang="en-US" dirty="0" err="1"/>
              <a:t>np.frombuffer</a:t>
            </a:r>
            <a:r>
              <a:rPr lang="en-US" dirty="0"/>
              <a:t>(</a:t>
            </a:r>
            <a:r>
              <a:rPr lang="en-US" dirty="0" err="1"/>
              <a:t>f.read</a:t>
            </a:r>
            <a:r>
              <a:rPr lang="en-US" dirty="0"/>
              <a:t>(), </a:t>
            </a:r>
            <a:r>
              <a:rPr lang="en-US" dirty="0" err="1"/>
              <a:t>dtype</a:t>
            </a:r>
            <a:r>
              <a:rPr lang="en-US" dirty="0"/>
              <a:t>=np.uint8)</a:t>
            </a:r>
          </a:p>
          <a:p>
            <a:r>
              <a:rPr lang="en-US" dirty="0"/>
              <a:t>        return </a:t>
            </a:r>
            <a:r>
              <a:rPr lang="en-US" dirty="0" err="1"/>
              <a:t>data.reshape</a:t>
            </a:r>
            <a:r>
              <a:rPr lang="en-US" dirty="0"/>
              <a:t>(</a:t>
            </a:r>
            <a:r>
              <a:rPr lang="en-US" dirty="0" err="1"/>
              <a:t>n_images</a:t>
            </a:r>
            <a:r>
              <a:rPr lang="en-US" dirty="0"/>
              <a:t>, rows, cols)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load_labels</a:t>
            </a:r>
            <a:r>
              <a:rPr lang="en-US" dirty="0"/>
              <a:t>(filename):</a:t>
            </a:r>
          </a:p>
          <a:p>
            <a:r>
              <a:rPr lang="en-US" dirty="0"/>
              <a:t>    with </a:t>
            </a:r>
            <a:r>
              <a:rPr lang="en-US" dirty="0" err="1"/>
              <a:t>gzip.open</a:t>
            </a:r>
            <a:r>
              <a:rPr lang="en-US" dirty="0"/>
              <a:t>(filename, '</a:t>
            </a:r>
            <a:r>
              <a:rPr lang="en-US" dirty="0" err="1"/>
              <a:t>rb</a:t>
            </a:r>
            <a:r>
              <a:rPr lang="en-US" dirty="0"/>
              <a:t>') as f:</a:t>
            </a:r>
          </a:p>
          <a:p>
            <a:r>
              <a:rPr lang="en-US" dirty="0"/>
              <a:t>        magic, </a:t>
            </a:r>
            <a:r>
              <a:rPr lang="en-US" dirty="0" err="1"/>
              <a:t>n_labels</a:t>
            </a:r>
            <a:r>
              <a:rPr lang="en-US" dirty="0"/>
              <a:t> = </a:t>
            </a:r>
            <a:r>
              <a:rPr lang="en-US" dirty="0" err="1"/>
              <a:t>struct.unpack</a:t>
            </a:r>
            <a:r>
              <a:rPr lang="en-US" dirty="0"/>
              <a:t>("&gt;II", </a:t>
            </a:r>
            <a:r>
              <a:rPr lang="en-US" dirty="0" err="1"/>
              <a:t>f.read</a:t>
            </a:r>
            <a:r>
              <a:rPr lang="en-US" dirty="0"/>
              <a:t>(8))</a:t>
            </a:r>
          </a:p>
          <a:p>
            <a:r>
              <a:rPr lang="en-US" dirty="0"/>
              <a:t>        labels = </a:t>
            </a:r>
            <a:r>
              <a:rPr lang="en-US" dirty="0" err="1"/>
              <a:t>np.frombuffer</a:t>
            </a:r>
            <a:r>
              <a:rPr lang="en-US" dirty="0"/>
              <a:t>(</a:t>
            </a:r>
            <a:r>
              <a:rPr lang="en-US" dirty="0" err="1"/>
              <a:t>f.read</a:t>
            </a:r>
            <a:r>
              <a:rPr lang="en-US" dirty="0"/>
              <a:t>(), </a:t>
            </a:r>
            <a:r>
              <a:rPr lang="en-US" dirty="0" err="1"/>
              <a:t>dtype</a:t>
            </a:r>
            <a:r>
              <a:rPr lang="en-US" dirty="0"/>
              <a:t>=np.uint8)</a:t>
            </a:r>
          </a:p>
          <a:p>
            <a:r>
              <a:rPr lang="en-US" dirty="0"/>
              <a:t>    return labels</a:t>
            </a:r>
          </a:p>
          <a:p>
            <a:endParaRPr lang="en-US" dirty="0"/>
          </a:p>
          <a:p>
            <a:r>
              <a:rPr lang="en-US" dirty="0"/>
              <a:t># --- Load MNIST data ---</a:t>
            </a:r>
          </a:p>
          <a:p>
            <a:r>
              <a:rPr lang="en-US" dirty="0" err="1"/>
              <a:t>X_train</a:t>
            </a:r>
            <a:r>
              <a:rPr lang="en-US" dirty="0"/>
              <a:t> = </a:t>
            </a:r>
            <a:r>
              <a:rPr lang="en-US" dirty="0" err="1"/>
              <a:t>load_images</a:t>
            </a:r>
            <a:r>
              <a:rPr lang="en-US" dirty="0"/>
              <a:t>("train-images-idx3-ubyte.gz")</a:t>
            </a:r>
          </a:p>
          <a:p>
            <a:r>
              <a:rPr lang="en-US" dirty="0" err="1"/>
              <a:t>Y_train</a:t>
            </a:r>
            <a:r>
              <a:rPr lang="en-US" dirty="0"/>
              <a:t> = </a:t>
            </a:r>
            <a:r>
              <a:rPr lang="en-US" dirty="0" err="1"/>
              <a:t>load_labels</a:t>
            </a:r>
            <a:r>
              <a:rPr lang="en-US" dirty="0"/>
              <a:t>("train-labels-idx1-ubyte.gz")</a:t>
            </a:r>
          </a:p>
          <a:p>
            <a:endParaRPr lang="en-US" dirty="0"/>
          </a:p>
          <a:p>
            <a:r>
              <a:rPr lang="en-US" dirty="0" err="1"/>
              <a:t>X_test</a:t>
            </a:r>
            <a:r>
              <a:rPr lang="en-US" dirty="0"/>
              <a:t>  = </a:t>
            </a:r>
            <a:r>
              <a:rPr lang="en-US" dirty="0" err="1"/>
              <a:t>load_images</a:t>
            </a:r>
            <a:r>
              <a:rPr lang="en-US" dirty="0"/>
              <a:t>("t10k-images-idx3-ubyte.gz")</a:t>
            </a:r>
          </a:p>
          <a:p>
            <a:r>
              <a:rPr lang="en-US" dirty="0" err="1"/>
              <a:t>Y_test</a:t>
            </a:r>
            <a:r>
              <a:rPr lang="en-US" dirty="0"/>
              <a:t>  = </a:t>
            </a:r>
            <a:r>
              <a:rPr lang="en-US" dirty="0" err="1"/>
              <a:t>load_labels</a:t>
            </a:r>
            <a:r>
              <a:rPr lang="en-US" dirty="0"/>
              <a:t>("t10k-labels-idx1-ubyte.gz")</a:t>
            </a:r>
          </a:p>
          <a:p>
            <a:endParaRPr lang="en-US" dirty="0"/>
          </a:p>
          <a:p>
            <a:r>
              <a:rPr lang="en-US" dirty="0"/>
              <a:t># --- Flatten images for classifier ---</a:t>
            </a:r>
          </a:p>
          <a:p>
            <a:r>
              <a:rPr lang="en-US" dirty="0" err="1"/>
              <a:t>X_train_flat</a:t>
            </a:r>
            <a:r>
              <a:rPr lang="en-US" dirty="0"/>
              <a:t> = </a:t>
            </a:r>
            <a:r>
              <a:rPr lang="en-US" dirty="0" err="1"/>
              <a:t>X_train.reshape</a:t>
            </a:r>
            <a:r>
              <a:rPr lang="en-US" dirty="0"/>
              <a:t>(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), -1)  # 60,000 x 784</a:t>
            </a:r>
          </a:p>
          <a:p>
            <a:r>
              <a:rPr lang="en-US" dirty="0" err="1"/>
              <a:t>X_test_flat</a:t>
            </a:r>
            <a:r>
              <a:rPr lang="en-US" dirty="0"/>
              <a:t>  = </a:t>
            </a:r>
            <a:r>
              <a:rPr lang="en-US" dirty="0" err="1"/>
              <a:t>X_test.reshape</a:t>
            </a:r>
            <a:r>
              <a:rPr lang="en-US" dirty="0"/>
              <a:t>(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X_test</a:t>
            </a:r>
            <a:r>
              <a:rPr lang="en-US" dirty="0"/>
              <a:t>), -1)    # 10,000 x 784</a:t>
            </a:r>
          </a:p>
          <a:p>
            <a:endParaRPr lang="en-US" dirty="0"/>
          </a:p>
          <a:p>
            <a:r>
              <a:rPr lang="en-US" dirty="0"/>
              <a:t># --- Create and train </a:t>
            </a:r>
            <a:r>
              <a:rPr lang="en-US" dirty="0" err="1"/>
              <a:t>kNN</a:t>
            </a:r>
            <a:r>
              <a:rPr lang="en-US" dirty="0"/>
              <a:t> classifier ---</a:t>
            </a:r>
          </a:p>
          <a:p>
            <a:r>
              <a:rPr lang="en-US" dirty="0" err="1"/>
              <a:t>knn</a:t>
            </a:r>
            <a:r>
              <a:rPr lang="en-US" dirty="0"/>
              <a:t> = </a:t>
            </a:r>
            <a:r>
              <a:rPr lang="en-US" dirty="0" err="1"/>
              <a:t>KNeighborsClassifier</a:t>
            </a:r>
            <a:r>
              <a:rPr lang="en-US" dirty="0"/>
              <a:t>(</a:t>
            </a:r>
            <a:r>
              <a:rPr lang="en-US" dirty="0" err="1"/>
              <a:t>n_neighbors</a:t>
            </a:r>
            <a:r>
              <a:rPr lang="en-US" dirty="0"/>
              <a:t>=3)</a:t>
            </a:r>
          </a:p>
          <a:p>
            <a:r>
              <a:rPr lang="en-US" dirty="0" err="1"/>
              <a:t>knn.fit</a:t>
            </a:r>
            <a:r>
              <a:rPr lang="en-US" dirty="0"/>
              <a:t>(</a:t>
            </a:r>
            <a:r>
              <a:rPr lang="en-US" dirty="0" err="1"/>
              <a:t>X_train_flat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# --- Predict on test set ---</a:t>
            </a:r>
          </a:p>
          <a:p>
            <a:r>
              <a:rPr lang="en-US" dirty="0" err="1"/>
              <a:t>y_pred</a:t>
            </a:r>
            <a:r>
              <a:rPr lang="en-US" dirty="0"/>
              <a:t> = </a:t>
            </a:r>
            <a:r>
              <a:rPr lang="en-US" dirty="0" err="1"/>
              <a:t>knn.predict</a:t>
            </a:r>
            <a:r>
              <a:rPr lang="en-US" dirty="0"/>
              <a:t>(</a:t>
            </a:r>
            <a:r>
              <a:rPr lang="en-US" dirty="0" err="1"/>
              <a:t>X_test_flat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# --- Calculate accuracy ---</a:t>
            </a:r>
          </a:p>
          <a:p>
            <a:r>
              <a:rPr lang="en-US" dirty="0"/>
              <a:t>accuracy = (</a:t>
            </a:r>
            <a:r>
              <a:rPr lang="en-US" dirty="0" err="1"/>
              <a:t>y_pred</a:t>
            </a:r>
            <a:r>
              <a:rPr lang="en-US" dirty="0"/>
              <a:t> == </a:t>
            </a:r>
            <a:r>
              <a:rPr lang="en-US" dirty="0" err="1"/>
              <a:t>Y_test</a:t>
            </a:r>
            <a:r>
              <a:rPr lang="en-US" dirty="0"/>
              <a:t>).mean()</a:t>
            </a:r>
          </a:p>
          <a:p>
            <a:r>
              <a:rPr lang="en-US" dirty="0"/>
              <a:t>print("Test accuracy:", accuracy)</a:t>
            </a:r>
          </a:p>
          <a:p>
            <a:endParaRPr lang="en-US" dirty="0"/>
          </a:p>
          <a:p>
            <a:r>
              <a:rPr lang="en-US" dirty="0"/>
              <a:t># --- Optional: check one prediction ---</a:t>
            </a:r>
          </a:p>
          <a:p>
            <a:r>
              <a:rPr lang="en-US" dirty="0"/>
              <a:t>n = 0</a:t>
            </a:r>
          </a:p>
          <a:p>
            <a:r>
              <a:rPr lang="en-US" dirty="0"/>
              <a:t>print(</a:t>
            </a:r>
            <a:r>
              <a:rPr lang="en-US" dirty="0" err="1"/>
              <a:t>f"True</a:t>
            </a:r>
            <a:r>
              <a:rPr lang="en-US" dirty="0"/>
              <a:t> label: {</a:t>
            </a:r>
            <a:r>
              <a:rPr lang="en-US" dirty="0" err="1"/>
              <a:t>Y_test</a:t>
            </a:r>
            <a:r>
              <a:rPr lang="en-US" dirty="0"/>
              <a:t>[n]}, Predicted: {</a:t>
            </a:r>
            <a:r>
              <a:rPr lang="en-US" dirty="0" err="1"/>
              <a:t>y_pred</a:t>
            </a:r>
            <a:r>
              <a:rPr lang="en-US" dirty="0"/>
              <a:t>[n]}")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1EB95-7CD1-6EE0-0402-F9755B21F9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1066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826B8-5EC4-6079-85AF-CFD058DA8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DFDF9-A670-5145-EE55-F4DA3D774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3CB91-AC6E-2C6F-EBFE-C3352A5F4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sklearn.neighbors</a:t>
            </a:r>
            <a:r>
              <a:rPr lang="en-US" dirty="0"/>
              <a:t> import </a:t>
            </a:r>
            <a:r>
              <a:rPr lang="en-US" dirty="0" err="1"/>
              <a:t>KNeighborsClassifier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# Blue points (class 1)</a:t>
            </a:r>
          </a:p>
          <a:p>
            <a:r>
              <a:rPr lang="en-US" dirty="0" err="1"/>
              <a:t>x_blue</a:t>
            </a:r>
            <a:r>
              <a:rPr lang="en-US" dirty="0"/>
              <a:t> = [1, 2, 3, 1, 0, 2, 3, 3]</a:t>
            </a:r>
          </a:p>
          <a:p>
            <a:r>
              <a:rPr lang="en-US" dirty="0" err="1"/>
              <a:t>y_blue</a:t>
            </a:r>
            <a:r>
              <a:rPr lang="en-US" dirty="0"/>
              <a:t> = [4, 5, 6, 5, 3, 4, 5, 4]</a:t>
            </a:r>
          </a:p>
          <a:p>
            <a:endParaRPr lang="en-US" dirty="0"/>
          </a:p>
          <a:p>
            <a:r>
              <a:rPr lang="en-US" dirty="0"/>
              <a:t># Red points (class 2)</a:t>
            </a:r>
          </a:p>
          <a:p>
            <a:r>
              <a:rPr lang="en-US" dirty="0" err="1"/>
              <a:t>x_red</a:t>
            </a:r>
            <a:r>
              <a:rPr lang="en-US" dirty="0"/>
              <a:t> = [2, 3, 4, 3, 0, 1, 2, 4, 3]</a:t>
            </a:r>
          </a:p>
          <a:p>
            <a:r>
              <a:rPr lang="en-US" dirty="0" err="1"/>
              <a:t>y_red</a:t>
            </a:r>
            <a:r>
              <a:rPr lang="en-US" dirty="0"/>
              <a:t> = [1, 2, 3, 1, 0, 1, 2, 1, 2]</a:t>
            </a:r>
          </a:p>
          <a:p>
            <a:endParaRPr lang="en-US" dirty="0"/>
          </a:p>
          <a:p>
            <a:r>
              <a:rPr lang="en-US" dirty="0" err="1"/>
              <a:t>plt.scatter</a:t>
            </a:r>
            <a:r>
              <a:rPr lang="en-US" dirty="0"/>
              <a:t>(</a:t>
            </a:r>
            <a:r>
              <a:rPr lang="en-US" dirty="0" err="1"/>
              <a:t>x_blue</a:t>
            </a:r>
            <a:r>
              <a:rPr lang="en-US" dirty="0"/>
              <a:t>, </a:t>
            </a:r>
            <a:r>
              <a:rPr lang="en-US" dirty="0" err="1"/>
              <a:t>y_blue</a:t>
            </a:r>
            <a:r>
              <a:rPr lang="en-US" dirty="0"/>
              <a:t>, color='blue')</a:t>
            </a:r>
          </a:p>
          <a:p>
            <a:r>
              <a:rPr lang="en-US" dirty="0" err="1"/>
              <a:t>plt.scatter</a:t>
            </a:r>
            <a:r>
              <a:rPr lang="en-US" dirty="0"/>
              <a:t>(</a:t>
            </a:r>
            <a:r>
              <a:rPr lang="en-US" dirty="0" err="1"/>
              <a:t>x_red</a:t>
            </a:r>
            <a:r>
              <a:rPr lang="en-US" dirty="0"/>
              <a:t>, </a:t>
            </a:r>
            <a:r>
              <a:rPr lang="en-US" dirty="0" err="1"/>
              <a:t>y_red</a:t>
            </a:r>
            <a:r>
              <a:rPr lang="en-US" dirty="0"/>
              <a:t>, color='red')</a:t>
            </a:r>
          </a:p>
          <a:p>
            <a:endParaRPr lang="en-US" dirty="0"/>
          </a:p>
          <a:p>
            <a:r>
              <a:rPr lang="en-US" dirty="0"/>
              <a:t>x=int(input('Enter x value: '))</a:t>
            </a:r>
          </a:p>
          <a:p>
            <a:r>
              <a:rPr lang="en-US" dirty="0"/>
              <a:t>y=int(input('Enter y value: '))</a:t>
            </a:r>
          </a:p>
          <a:p>
            <a:endParaRPr lang="en-US" dirty="0"/>
          </a:p>
          <a:p>
            <a:r>
              <a:rPr lang="en-US" dirty="0" err="1"/>
              <a:t>plt.scatter</a:t>
            </a:r>
            <a:r>
              <a:rPr lang="en-US" dirty="0"/>
              <a:t>(x, y, color='yellow')</a:t>
            </a:r>
          </a:p>
          <a:p>
            <a:endParaRPr lang="en-US" dirty="0"/>
          </a:p>
          <a:p>
            <a:r>
              <a:rPr lang="en-US" dirty="0"/>
              <a:t># --- Labels and legend ---</a:t>
            </a:r>
          </a:p>
          <a:p>
            <a:r>
              <a:rPr lang="en-US" dirty="0" err="1"/>
              <a:t>plt.xlabel</a:t>
            </a:r>
            <a:r>
              <a:rPr lang="en-US" dirty="0"/>
              <a:t>('Feature 1')</a:t>
            </a:r>
          </a:p>
          <a:p>
            <a:r>
              <a:rPr lang="en-US" dirty="0" err="1"/>
              <a:t>plt.ylabel</a:t>
            </a:r>
            <a:r>
              <a:rPr lang="en-US" dirty="0"/>
              <a:t>('Feature 2')</a:t>
            </a:r>
          </a:p>
          <a:p>
            <a:r>
              <a:rPr lang="en-US" dirty="0" err="1"/>
              <a:t>plt.title</a:t>
            </a:r>
            <a:r>
              <a:rPr lang="en-US" dirty="0"/>
              <a:t>('K-nearest Neighbors Example')</a:t>
            </a:r>
          </a:p>
          <a:p>
            <a:r>
              <a:rPr lang="en-US" dirty="0" err="1"/>
              <a:t>plt.grid</a:t>
            </a:r>
            <a:r>
              <a:rPr lang="en-US" dirty="0"/>
              <a:t>(True)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C3C05-210D-721A-2E0C-99599C86E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2555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7E234-BAB2-9C6F-32D4-CC54BFA34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F85DCE-22AF-DDF2-EAB5-A02C3D298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4CB5F3-516F-BDE7-6BBE-4A0C794A73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sklearn.neighbors</a:t>
            </a:r>
            <a:r>
              <a:rPr lang="en-US" dirty="0"/>
              <a:t> import </a:t>
            </a:r>
            <a:r>
              <a:rPr lang="en-US" dirty="0" err="1"/>
              <a:t>KNeighborsClassifier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# Blue points (class 1)</a:t>
            </a:r>
          </a:p>
          <a:p>
            <a:r>
              <a:rPr lang="en-US" dirty="0" err="1"/>
              <a:t>x_blue</a:t>
            </a:r>
            <a:r>
              <a:rPr lang="en-US" dirty="0"/>
              <a:t> = [1, 2, 3, 1, 0, 2, 3, 3]</a:t>
            </a:r>
          </a:p>
          <a:p>
            <a:r>
              <a:rPr lang="en-US" dirty="0" err="1"/>
              <a:t>y_blue</a:t>
            </a:r>
            <a:r>
              <a:rPr lang="en-US" dirty="0"/>
              <a:t> = [4, 5, 6, 5, 3, 4, 5, 4]</a:t>
            </a:r>
          </a:p>
          <a:p>
            <a:endParaRPr lang="en-US" dirty="0"/>
          </a:p>
          <a:p>
            <a:r>
              <a:rPr lang="en-US" dirty="0"/>
              <a:t># Red points (class 2)</a:t>
            </a:r>
          </a:p>
          <a:p>
            <a:r>
              <a:rPr lang="en-US" dirty="0" err="1"/>
              <a:t>x_red</a:t>
            </a:r>
            <a:r>
              <a:rPr lang="en-US" dirty="0"/>
              <a:t> = [2, 3, 4, 3, 0, 1, 2, 4, 3]</a:t>
            </a:r>
          </a:p>
          <a:p>
            <a:r>
              <a:rPr lang="en-US" dirty="0" err="1"/>
              <a:t>y_red</a:t>
            </a:r>
            <a:r>
              <a:rPr lang="en-US" dirty="0"/>
              <a:t> = [1, 2, 3, 1, 0, 1, 2, 1, 2]</a:t>
            </a:r>
          </a:p>
          <a:p>
            <a:endParaRPr lang="en-US" dirty="0"/>
          </a:p>
          <a:p>
            <a:r>
              <a:rPr lang="en-US" dirty="0" err="1"/>
              <a:t>plt.scatter</a:t>
            </a:r>
            <a:r>
              <a:rPr lang="en-US" dirty="0"/>
              <a:t>(</a:t>
            </a:r>
            <a:r>
              <a:rPr lang="en-US" dirty="0" err="1"/>
              <a:t>x_blue</a:t>
            </a:r>
            <a:r>
              <a:rPr lang="en-US" dirty="0"/>
              <a:t>, </a:t>
            </a:r>
            <a:r>
              <a:rPr lang="en-US" dirty="0" err="1"/>
              <a:t>y_blue</a:t>
            </a:r>
            <a:r>
              <a:rPr lang="en-US" dirty="0"/>
              <a:t>, color='blue')</a:t>
            </a:r>
          </a:p>
          <a:p>
            <a:r>
              <a:rPr lang="en-US" dirty="0" err="1"/>
              <a:t>plt.scatter</a:t>
            </a:r>
            <a:r>
              <a:rPr lang="en-US" dirty="0"/>
              <a:t>(</a:t>
            </a:r>
            <a:r>
              <a:rPr lang="en-US" dirty="0" err="1"/>
              <a:t>x_red</a:t>
            </a:r>
            <a:r>
              <a:rPr lang="en-US" dirty="0"/>
              <a:t>, </a:t>
            </a:r>
            <a:r>
              <a:rPr lang="en-US" dirty="0" err="1"/>
              <a:t>y_red</a:t>
            </a:r>
            <a:r>
              <a:rPr lang="en-US" dirty="0"/>
              <a:t>, color='red')</a:t>
            </a:r>
          </a:p>
          <a:p>
            <a:endParaRPr lang="en-US" dirty="0"/>
          </a:p>
          <a:p>
            <a:r>
              <a:rPr lang="en-US" dirty="0"/>
              <a:t>x=int(input('Enter x value: '))</a:t>
            </a:r>
          </a:p>
          <a:p>
            <a:r>
              <a:rPr lang="en-US" dirty="0"/>
              <a:t>y=int(input('Enter y value: '))</a:t>
            </a:r>
          </a:p>
          <a:p>
            <a:endParaRPr lang="en-US" dirty="0"/>
          </a:p>
          <a:p>
            <a:r>
              <a:rPr lang="en-US" dirty="0"/>
              <a:t>#training data must be 2D array</a:t>
            </a:r>
          </a:p>
          <a:p>
            <a:r>
              <a:rPr lang="en-US" dirty="0" err="1"/>
              <a:t>X_train</a:t>
            </a:r>
            <a:r>
              <a:rPr lang="en-US" dirty="0"/>
              <a:t> = [[</a:t>
            </a:r>
            <a:r>
              <a:rPr lang="en-US" dirty="0" err="1"/>
              <a:t>x_blue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], </a:t>
            </a:r>
            <a:r>
              <a:rPr lang="en-US" dirty="0" err="1"/>
              <a:t>y_blue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]] for </a:t>
            </a:r>
            <a:r>
              <a:rPr lang="en-US" dirty="0" err="1"/>
              <a:t>i</a:t>
            </a:r>
            <a:r>
              <a:rPr lang="en-US" dirty="0"/>
              <a:t> in range(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x_blue</a:t>
            </a:r>
            <a:r>
              <a:rPr lang="en-US" dirty="0"/>
              <a:t>))] + \</a:t>
            </a:r>
          </a:p>
          <a:p>
            <a:r>
              <a:rPr lang="en-US" dirty="0"/>
              <a:t>          [[</a:t>
            </a:r>
            <a:r>
              <a:rPr lang="en-US" dirty="0" err="1"/>
              <a:t>x_red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], </a:t>
            </a:r>
            <a:r>
              <a:rPr lang="en-US" dirty="0" err="1"/>
              <a:t>y_red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]] for </a:t>
            </a:r>
            <a:r>
              <a:rPr lang="en-US" dirty="0" err="1"/>
              <a:t>i</a:t>
            </a:r>
            <a:r>
              <a:rPr lang="en-US" dirty="0"/>
              <a:t> in range(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x_red</a:t>
            </a:r>
            <a:r>
              <a:rPr lang="en-US" dirty="0"/>
              <a:t>))]</a:t>
            </a:r>
          </a:p>
          <a:p>
            <a:r>
              <a:rPr lang="en-US" dirty="0" err="1"/>
              <a:t>y_train</a:t>
            </a:r>
            <a:r>
              <a:rPr lang="en-US" dirty="0"/>
              <a:t> = ['blue']*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x_blue</a:t>
            </a:r>
            <a:r>
              <a:rPr lang="en-US" dirty="0"/>
              <a:t>) + ['red']*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x_red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# --- Create and train </a:t>
            </a:r>
            <a:r>
              <a:rPr lang="en-US" dirty="0" err="1"/>
              <a:t>kNN</a:t>
            </a:r>
            <a:r>
              <a:rPr lang="en-US" dirty="0"/>
              <a:t> classifier ---</a:t>
            </a:r>
          </a:p>
          <a:p>
            <a:endParaRPr lang="en-US" dirty="0"/>
          </a:p>
          <a:p>
            <a:r>
              <a:rPr lang="en-US" dirty="0" err="1"/>
              <a:t>knn</a:t>
            </a:r>
            <a:r>
              <a:rPr lang="en-US" dirty="0"/>
              <a:t> = </a:t>
            </a:r>
            <a:r>
              <a:rPr lang="en-US" dirty="0" err="1"/>
              <a:t>KNeighborsClassifier</a:t>
            </a:r>
            <a:r>
              <a:rPr lang="en-US" dirty="0"/>
              <a:t>(</a:t>
            </a:r>
            <a:r>
              <a:rPr lang="en-US" dirty="0" err="1"/>
              <a:t>n_neighbors</a:t>
            </a:r>
            <a:r>
              <a:rPr lang="en-US" dirty="0"/>
              <a:t>=3)</a:t>
            </a:r>
          </a:p>
          <a:p>
            <a:endParaRPr lang="en-US" dirty="0"/>
          </a:p>
          <a:p>
            <a:r>
              <a:rPr lang="en-US" dirty="0" err="1"/>
              <a:t>knn.fit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)</a:t>
            </a:r>
          </a:p>
          <a:p>
            <a:r>
              <a:rPr lang="en-US" dirty="0"/>
              <a:t>print("Classification of new point is: ", </a:t>
            </a:r>
            <a:r>
              <a:rPr lang="en-US" dirty="0" err="1"/>
              <a:t>knn.predict</a:t>
            </a:r>
            <a:r>
              <a:rPr lang="en-US" dirty="0"/>
              <a:t>([[</a:t>
            </a:r>
            <a:r>
              <a:rPr lang="en-US" dirty="0" err="1"/>
              <a:t>x,y</a:t>
            </a:r>
            <a:r>
              <a:rPr lang="en-US" dirty="0"/>
              <a:t>]]))</a:t>
            </a:r>
          </a:p>
          <a:p>
            <a:endParaRPr lang="en-US" dirty="0"/>
          </a:p>
          <a:p>
            <a:r>
              <a:rPr lang="en-US" dirty="0" err="1"/>
              <a:t>plt.scatter</a:t>
            </a:r>
            <a:r>
              <a:rPr lang="en-US" dirty="0"/>
              <a:t>(x, y, color='orange')</a:t>
            </a:r>
          </a:p>
          <a:p>
            <a:endParaRPr lang="en-US" dirty="0"/>
          </a:p>
          <a:p>
            <a:r>
              <a:rPr lang="en-US" dirty="0"/>
              <a:t># --- Labels and legend ---</a:t>
            </a:r>
          </a:p>
          <a:p>
            <a:r>
              <a:rPr lang="en-US" dirty="0" err="1"/>
              <a:t>plt.xlabel</a:t>
            </a:r>
            <a:r>
              <a:rPr lang="en-US" dirty="0"/>
              <a:t>('Feature 1')</a:t>
            </a:r>
          </a:p>
          <a:p>
            <a:r>
              <a:rPr lang="en-US" dirty="0" err="1"/>
              <a:t>plt.ylabel</a:t>
            </a:r>
            <a:r>
              <a:rPr lang="en-US" dirty="0"/>
              <a:t>('Feature 2')</a:t>
            </a:r>
          </a:p>
          <a:p>
            <a:r>
              <a:rPr lang="en-US" dirty="0" err="1"/>
              <a:t>plt.title</a:t>
            </a:r>
            <a:r>
              <a:rPr lang="en-US" dirty="0"/>
              <a:t>('K-nearest Neighbors Example')</a:t>
            </a:r>
          </a:p>
          <a:p>
            <a:r>
              <a:rPr lang="en-US" dirty="0" err="1"/>
              <a:t>plt.grid</a:t>
            </a:r>
            <a:r>
              <a:rPr lang="en-US" dirty="0"/>
              <a:t>(True)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763A8-D5F7-B357-C766-56822A387E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7893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8F53E-35F1-50ED-F639-A7FA00BBF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BBECE-370E-BB24-F44B-4C9B12915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4CE311-9151-1BE1-DF98-443A21FF38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import </a:t>
            </a:r>
            <a:r>
              <a:rPr lang="en-US" dirty="0" err="1"/>
              <a:t>gzip</a:t>
            </a:r>
            <a:endParaRPr lang="en-US" dirty="0"/>
          </a:p>
          <a:p>
            <a:r>
              <a:rPr lang="en-US" dirty="0"/>
              <a:t>import struct</a:t>
            </a:r>
          </a:p>
          <a:p>
            <a:r>
              <a:rPr lang="en-US" dirty="0"/>
              <a:t>from </a:t>
            </a:r>
            <a:r>
              <a:rPr lang="en-US" dirty="0" err="1"/>
              <a:t>sklearn.neighbors</a:t>
            </a:r>
            <a:r>
              <a:rPr lang="en-US" dirty="0"/>
              <a:t> import </a:t>
            </a:r>
            <a:r>
              <a:rPr lang="en-US" dirty="0" err="1"/>
              <a:t>KNeighborsClassifier</a:t>
            </a:r>
            <a:endParaRPr lang="en-US" dirty="0"/>
          </a:p>
          <a:p>
            <a:endParaRPr lang="en-US" dirty="0"/>
          </a:p>
          <a:p>
            <a:r>
              <a:rPr lang="en-US" dirty="0"/>
              <a:t># --- Load functions ---</a:t>
            </a:r>
          </a:p>
          <a:p>
            <a:r>
              <a:rPr lang="en-US" dirty="0"/>
              <a:t>def </a:t>
            </a:r>
            <a:r>
              <a:rPr lang="en-US" dirty="0" err="1"/>
              <a:t>load_images</a:t>
            </a:r>
            <a:r>
              <a:rPr lang="en-US" dirty="0"/>
              <a:t>(filename):</a:t>
            </a:r>
          </a:p>
          <a:p>
            <a:r>
              <a:rPr lang="en-US" dirty="0"/>
              <a:t>    with </a:t>
            </a:r>
            <a:r>
              <a:rPr lang="en-US" dirty="0" err="1"/>
              <a:t>gzip.open</a:t>
            </a:r>
            <a:r>
              <a:rPr lang="en-US" dirty="0"/>
              <a:t>(filename, '</a:t>
            </a:r>
            <a:r>
              <a:rPr lang="en-US" dirty="0" err="1"/>
              <a:t>rb</a:t>
            </a:r>
            <a:r>
              <a:rPr lang="en-US" dirty="0"/>
              <a:t>') as f:</a:t>
            </a:r>
          </a:p>
          <a:p>
            <a:r>
              <a:rPr lang="en-US" dirty="0"/>
              <a:t>        _, </a:t>
            </a:r>
            <a:r>
              <a:rPr lang="en-US" dirty="0" err="1"/>
              <a:t>n_images</a:t>
            </a:r>
            <a:r>
              <a:rPr lang="en-US" dirty="0"/>
              <a:t>, rows, cols = </a:t>
            </a:r>
            <a:r>
              <a:rPr lang="en-US" dirty="0" err="1"/>
              <a:t>struct.unpack</a:t>
            </a:r>
            <a:r>
              <a:rPr lang="en-US" dirty="0"/>
              <a:t>('&gt;IIII', </a:t>
            </a:r>
            <a:r>
              <a:rPr lang="en-US" dirty="0" err="1"/>
              <a:t>f.read</a:t>
            </a:r>
            <a:r>
              <a:rPr lang="en-US" dirty="0"/>
              <a:t>(16))</a:t>
            </a:r>
          </a:p>
          <a:p>
            <a:r>
              <a:rPr lang="en-US" dirty="0"/>
              <a:t>        data = </a:t>
            </a:r>
            <a:r>
              <a:rPr lang="en-US" dirty="0" err="1"/>
              <a:t>np.frombuffer</a:t>
            </a:r>
            <a:r>
              <a:rPr lang="en-US" dirty="0"/>
              <a:t>(</a:t>
            </a:r>
            <a:r>
              <a:rPr lang="en-US" dirty="0" err="1"/>
              <a:t>f.read</a:t>
            </a:r>
            <a:r>
              <a:rPr lang="en-US" dirty="0"/>
              <a:t>(), </a:t>
            </a:r>
            <a:r>
              <a:rPr lang="en-US" dirty="0" err="1"/>
              <a:t>dtype</a:t>
            </a:r>
            <a:r>
              <a:rPr lang="en-US" dirty="0"/>
              <a:t>=np.uint8)</a:t>
            </a:r>
          </a:p>
          <a:p>
            <a:r>
              <a:rPr lang="en-US" dirty="0"/>
              <a:t>        #updated from </a:t>
            </a:r>
            <a:r>
              <a:rPr lang="en-US" dirty="0" err="1"/>
              <a:t>data.reshape</a:t>
            </a:r>
            <a:r>
              <a:rPr lang="en-US" dirty="0"/>
              <a:t>(</a:t>
            </a:r>
            <a:r>
              <a:rPr lang="en-US" dirty="0" err="1"/>
              <a:t>n_images</a:t>
            </a:r>
            <a:r>
              <a:rPr lang="en-US" dirty="0"/>
              <a:t>, </a:t>
            </a:r>
            <a:r>
              <a:rPr lang="en-US" dirty="0" err="1"/>
              <a:t>rows,cols</a:t>
            </a:r>
            <a:r>
              <a:rPr lang="en-US" dirty="0"/>
              <a:t>) because</a:t>
            </a:r>
          </a:p>
          <a:p>
            <a:r>
              <a:rPr lang="en-US" dirty="0"/>
              <a:t>        #keeping as 1D array is better for K-nearest Neighbors</a:t>
            </a:r>
          </a:p>
          <a:p>
            <a:r>
              <a:rPr lang="en-US" dirty="0"/>
              <a:t>        return </a:t>
            </a:r>
            <a:r>
              <a:rPr lang="en-US" dirty="0" err="1"/>
              <a:t>data.reshape</a:t>
            </a:r>
            <a:r>
              <a:rPr lang="en-US" dirty="0"/>
              <a:t>(</a:t>
            </a:r>
            <a:r>
              <a:rPr lang="en-US" dirty="0" err="1"/>
              <a:t>n_images</a:t>
            </a:r>
            <a:r>
              <a:rPr lang="en-US" dirty="0"/>
              <a:t>, rows*cols)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load_labels</a:t>
            </a:r>
            <a:r>
              <a:rPr lang="en-US" dirty="0"/>
              <a:t>(filename):</a:t>
            </a:r>
          </a:p>
          <a:p>
            <a:r>
              <a:rPr lang="en-US" dirty="0"/>
              <a:t>    with </a:t>
            </a:r>
            <a:r>
              <a:rPr lang="en-US" dirty="0" err="1"/>
              <a:t>gzip.open</a:t>
            </a:r>
            <a:r>
              <a:rPr lang="en-US" dirty="0"/>
              <a:t>(filename, '</a:t>
            </a:r>
            <a:r>
              <a:rPr lang="en-US" dirty="0" err="1"/>
              <a:t>rb</a:t>
            </a:r>
            <a:r>
              <a:rPr lang="en-US" dirty="0"/>
              <a:t>') as f:</a:t>
            </a:r>
          </a:p>
          <a:p>
            <a:r>
              <a:rPr lang="en-US" dirty="0"/>
              <a:t>        magic, </a:t>
            </a:r>
            <a:r>
              <a:rPr lang="en-US" dirty="0" err="1"/>
              <a:t>n_labels</a:t>
            </a:r>
            <a:r>
              <a:rPr lang="en-US" dirty="0"/>
              <a:t> = </a:t>
            </a:r>
            <a:r>
              <a:rPr lang="en-US" dirty="0" err="1"/>
              <a:t>struct.unpack</a:t>
            </a:r>
            <a:r>
              <a:rPr lang="en-US" dirty="0"/>
              <a:t>("&gt;II", </a:t>
            </a:r>
            <a:r>
              <a:rPr lang="en-US" dirty="0" err="1"/>
              <a:t>f.read</a:t>
            </a:r>
            <a:r>
              <a:rPr lang="en-US" dirty="0"/>
              <a:t>(8))</a:t>
            </a:r>
          </a:p>
          <a:p>
            <a:r>
              <a:rPr lang="en-US" dirty="0"/>
              <a:t>        labels = </a:t>
            </a:r>
            <a:r>
              <a:rPr lang="en-US" dirty="0" err="1"/>
              <a:t>np.frombuffer</a:t>
            </a:r>
            <a:r>
              <a:rPr lang="en-US" dirty="0"/>
              <a:t>(</a:t>
            </a:r>
            <a:r>
              <a:rPr lang="en-US" dirty="0" err="1"/>
              <a:t>f.read</a:t>
            </a:r>
            <a:r>
              <a:rPr lang="en-US" dirty="0"/>
              <a:t>(), </a:t>
            </a:r>
            <a:r>
              <a:rPr lang="en-US" dirty="0" err="1"/>
              <a:t>dtype</a:t>
            </a:r>
            <a:r>
              <a:rPr lang="en-US" dirty="0"/>
              <a:t>=np.uint8)</a:t>
            </a:r>
          </a:p>
          <a:p>
            <a:r>
              <a:rPr lang="en-US" dirty="0"/>
              <a:t>    return labels</a:t>
            </a:r>
          </a:p>
          <a:p>
            <a:endParaRPr lang="en-US" dirty="0"/>
          </a:p>
          <a:p>
            <a:r>
              <a:rPr lang="en-US" dirty="0"/>
              <a:t># --- Load MNIST data ---</a:t>
            </a:r>
          </a:p>
          <a:p>
            <a:r>
              <a:rPr lang="en-US" dirty="0" err="1"/>
              <a:t>X_train</a:t>
            </a:r>
            <a:r>
              <a:rPr lang="en-US" dirty="0"/>
              <a:t> = </a:t>
            </a:r>
            <a:r>
              <a:rPr lang="en-US" dirty="0" err="1"/>
              <a:t>load_images</a:t>
            </a:r>
            <a:r>
              <a:rPr lang="en-US" dirty="0"/>
              <a:t>("train-images-idx3-ubyte.gz")</a:t>
            </a:r>
          </a:p>
          <a:p>
            <a:r>
              <a:rPr lang="en-US" dirty="0" err="1"/>
              <a:t>Y_train</a:t>
            </a:r>
            <a:r>
              <a:rPr lang="en-US" dirty="0"/>
              <a:t> = </a:t>
            </a:r>
            <a:r>
              <a:rPr lang="en-US" dirty="0" err="1"/>
              <a:t>load_labels</a:t>
            </a:r>
            <a:r>
              <a:rPr lang="en-US" dirty="0"/>
              <a:t>("train-labels-idx1-ubyte.gz")</a:t>
            </a:r>
          </a:p>
          <a:p>
            <a:endParaRPr lang="en-US" dirty="0"/>
          </a:p>
          <a:p>
            <a:r>
              <a:rPr lang="en-US" dirty="0" err="1"/>
              <a:t>X_test</a:t>
            </a:r>
            <a:r>
              <a:rPr lang="en-US" dirty="0"/>
              <a:t>  = </a:t>
            </a:r>
            <a:r>
              <a:rPr lang="en-US" dirty="0" err="1"/>
              <a:t>load_images</a:t>
            </a:r>
            <a:r>
              <a:rPr lang="en-US" dirty="0"/>
              <a:t>("t10k-images-idx3-ubyte.gz")</a:t>
            </a:r>
          </a:p>
          <a:p>
            <a:r>
              <a:rPr lang="en-US" dirty="0" err="1"/>
              <a:t>Y_test</a:t>
            </a:r>
            <a:r>
              <a:rPr lang="en-US" dirty="0"/>
              <a:t>  = </a:t>
            </a:r>
            <a:r>
              <a:rPr lang="en-US" dirty="0" err="1"/>
              <a:t>load_labels</a:t>
            </a:r>
            <a:r>
              <a:rPr lang="en-US" dirty="0"/>
              <a:t>("t10k-labels-idx1-ubyte.gz")</a:t>
            </a:r>
          </a:p>
          <a:p>
            <a:endParaRPr lang="en-US" dirty="0"/>
          </a:p>
          <a:p>
            <a:r>
              <a:rPr lang="en-US" dirty="0"/>
              <a:t># --- Create and train </a:t>
            </a:r>
            <a:r>
              <a:rPr lang="en-US" dirty="0" err="1"/>
              <a:t>kNN</a:t>
            </a:r>
            <a:r>
              <a:rPr lang="en-US" dirty="0"/>
              <a:t> classifier ---</a:t>
            </a:r>
          </a:p>
          <a:p>
            <a:r>
              <a:rPr lang="en-US" dirty="0"/>
              <a:t># look at the 3 closest neighbors when deciding classification</a:t>
            </a:r>
          </a:p>
          <a:p>
            <a:r>
              <a:rPr lang="en-US" dirty="0" err="1"/>
              <a:t>knn</a:t>
            </a:r>
            <a:r>
              <a:rPr lang="en-US" dirty="0"/>
              <a:t> = </a:t>
            </a:r>
            <a:r>
              <a:rPr lang="en-US" dirty="0" err="1"/>
              <a:t>KNeighborsClassifier</a:t>
            </a:r>
            <a:r>
              <a:rPr lang="en-US" dirty="0"/>
              <a:t>(</a:t>
            </a:r>
            <a:r>
              <a:rPr lang="en-US" dirty="0" err="1"/>
              <a:t>n_neighbors</a:t>
            </a:r>
            <a:r>
              <a:rPr lang="en-US" dirty="0"/>
              <a:t>=3)</a:t>
            </a:r>
          </a:p>
          <a:p>
            <a:r>
              <a:rPr lang="en-US" dirty="0" err="1"/>
              <a:t>knn.fit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# --- Predict on test set ---</a:t>
            </a:r>
          </a:p>
          <a:p>
            <a:r>
              <a:rPr lang="en-US" dirty="0" err="1"/>
              <a:t>y_pred</a:t>
            </a:r>
            <a:r>
              <a:rPr lang="en-US" dirty="0"/>
              <a:t> = </a:t>
            </a:r>
            <a:r>
              <a:rPr lang="en-US" dirty="0" err="1"/>
              <a:t>knn.predict</a:t>
            </a:r>
            <a:r>
              <a:rPr lang="en-US" dirty="0"/>
              <a:t>(</a:t>
            </a:r>
            <a:r>
              <a:rPr lang="en-US" dirty="0" err="1"/>
              <a:t>X_test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# --- Calculate accuracy ---</a:t>
            </a:r>
          </a:p>
          <a:p>
            <a:r>
              <a:rPr lang="en-US" dirty="0"/>
              <a:t>accuracy = (</a:t>
            </a:r>
            <a:r>
              <a:rPr lang="en-US" dirty="0" err="1"/>
              <a:t>y_pred</a:t>
            </a:r>
            <a:r>
              <a:rPr lang="en-US" dirty="0"/>
              <a:t> == </a:t>
            </a:r>
            <a:r>
              <a:rPr lang="en-US" dirty="0" err="1"/>
              <a:t>Y_test</a:t>
            </a:r>
            <a:r>
              <a:rPr lang="en-US" dirty="0"/>
              <a:t>).mean()</a:t>
            </a:r>
          </a:p>
          <a:p>
            <a:r>
              <a:rPr lang="en-US" dirty="0"/>
              <a:t>print("Test accuracy:", accuracy)</a:t>
            </a:r>
          </a:p>
          <a:p>
            <a:endParaRPr lang="en-US" dirty="0"/>
          </a:p>
          <a:p>
            <a:r>
              <a:rPr lang="en-US" dirty="0"/>
              <a:t># --- Optional: check one prediction ---</a:t>
            </a:r>
          </a:p>
          <a:p>
            <a:r>
              <a:rPr lang="en-US" dirty="0"/>
              <a:t>n = 0</a:t>
            </a:r>
          </a:p>
          <a:p>
            <a:r>
              <a:rPr lang="en-US" dirty="0"/>
              <a:t>print(</a:t>
            </a:r>
            <a:r>
              <a:rPr lang="en-US" dirty="0" err="1"/>
              <a:t>f"True</a:t>
            </a:r>
            <a:r>
              <a:rPr lang="en-US" dirty="0"/>
              <a:t> label: {</a:t>
            </a:r>
            <a:r>
              <a:rPr lang="en-US" dirty="0" err="1"/>
              <a:t>Y_test</a:t>
            </a:r>
            <a:r>
              <a:rPr lang="en-US" dirty="0"/>
              <a:t>[n]}, Predicted: {</a:t>
            </a:r>
            <a:r>
              <a:rPr lang="en-US" dirty="0" err="1"/>
              <a:t>y_pred</a:t>
            </a:r>
            <a:r>
              <a:rPr lang="en-US" dirty="0"/>
              <a:t>[n]}")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CABCD-C07B-2091-E642-17B8CDED60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9433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F9BD4-65FD-F8CA-857D-A5E4F3D7D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918B42-063E-5677-1364-C6BFF07E7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9C179B-7EA9-ABDC-A846-446FEB18A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1 - 96.91%</a:t>
            </a:r>
          </a:p>
          <a:p>
            <a:r>
              <a:rPr lang="en-US" dirty="0"/>
              <a:t>2 - 96.27%</a:t>
            </a:r>
          </a:p>
          <a:p>
            <a:r>
              <a:rPr lang="en-US" dirty="0"/>
              <a:t>4 - 96.82%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491E4-D26A-2AB8-478F-2CA3F9EA8D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504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2EE5F-4317-5295-4199-A3F877049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D19486-8EB0-BE22-8FE3-6FD156D17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C84D0B-6FD6-8953-7524-F62923EB2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  <a:latin typeface="Helvetica" pitchFamily="2" charset="0"/>
              </a:rPr>
              <a:t>#version 1 just displays a 28x28 box (scaled up by a factor of 10) where the user will</a:t>
            </a:r>
          </a:p>
          <a:p>
            <a:r>
              <a:rPr lang="en-US" dirty="0">
                <a:effectLst/>
                <a:latin typeface="Helvetica" pitchFamily="2" charset="0"/>
              </a:rPr>
              <a:t>#eventually be able to draw their numbers</a:t>
            </a:r>
          </a:p>
          <a:p>
            <a:r>
              <a:rPr lang="en-US" dirty="0">
                <a:effectLst/>
                <a:latin typeface="Helvetica" pitchFamily="2" charset="0"/>
              </a:rPr>
              <a:t>import </a:t>
            </a:r>
            <a:r>
              <a:rPr lang="en-US" dirty="0" err="1">
                <a:effectLst/>
                <a:latin typeface="Helvetica" pitchFamily="2" charset="0"/>
              </a:rPr>
              <a:t>pygame</a:t>
            </a:r>
            <a:endParaRPr lang="en-US" dirty="0">
              <a:effectLst/>
              <a:latin typeface="Helvetica" pitchFamily="2" charset="0"/>
            </a:endParaRP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dirty="0">
                <a:effectLst/>
                <a:latin typeface="Helvetica" pitchFamily="2" charset="0"/>
              </a:rPr>
              <a:t>size=28</a:t>
            </a:r>
          </a:p>
          <a:p>
            <a:r>
              <a:rPr lang="en-US" dirty="0">
                <a:effectLst/>
                <a:latin typeface="Helvetica" pitchFamily="2" charset="0"/>
              </a:rPr>
              <a:t>def run():</a:t>
            </a:r>
          </a:p>
          <a:p>
            <a:r>
              <a:rPr lang="en-US" dirty="0">
                <a:effectLst/>
                <a:latin typeface="Helvetica" pitchFamily="2" charset="0"/>
              </a:rPr>
              <a:t>    </a:t>
            </a:r>
            <a:r>
              <a:rPr lang="en-US" dirty="0" err="1">
                <a:effectLst/>
                <a:latin typeface="Helvetica" pitchFamily="2" charset="0"/>
              </a:rPr>
              <a:t>pygame.init</a:t>
            </a:r>
            <a:r>
              <a:rPr lang="en-US" dirty="0">
                <a:effectLst/>
                <a:latin typeface="Helvetica" pitchFamily="2" charset="0"/>
              </a:rPr>
              <a:t>()</a:t>
            </a:r>
          </a:p>
          <a:p>
            <a:r>
              <a:rPr lang="en-US" dirty="0">
                <a:effectLst/>
                <a:latin typeface="Helvetica" pitchFamily="2" charset="0"/>
              </a:rPr>
              <a:t>    # Square size instead of a 1x1 pixel, ratio 10x10</a:t>
            </a:r>
          </a:p>
          <a:p>
            <a:r>
              <a:rPr lang="en-US" dirty="0">
                <a:effectLst/>
                <a:latin typeface="Helvetica" pitchFamily="2" charset="0"/>
              </a:rPr>
              <a:t>    # so it's easier to draw</a:t>
            </a:r>
          </a:p>
          <a:p>
            <a:r>
              <a:rPr lang="en-US" dirty="0">
                <a:effectLst/>
                <a:latin typeface="Helvetica" pitchFamily="2" charset="0"/>
              </a:rPr>
              <a:t>    # visually scale whole image up by 10 (does not change what is stored)</a:t>
            </a:r>
          </a:p>
          <a:p>
            <a:r>
              <a:rPr lang="en-US" dirty="0">
                <a:effectLst/>
                <a:latin typeface="Helvetica" pitchFamily="2" charset="0"/>
              </a:rPr>
              <a:t>    SQUARE_SIZE = 10</a:t>
            </a:r>
          </a:p>
          <a:p>
            <a:r>
              <a:rPr lang="en-US" dirty="0">
                <a:effectLst/>
                <a:latin typeface="Helvetica" pitchFamily="2" charset="0"/>
              </a:rPr>
              <a:t>    # Window size</a:t>
            </a:r>
          </a:p>
          <a:p>
            <a:r>
              <a:rPr lang="en-US" dirty="0">
                <a:effectLst/>
                <a:latin typeface="Helvetica" pitchFamily="2" charset="0"/>
              </a:rPr>
              <a:t>    WIDTH, HEIGHT = size*SQUARE_SIZE, size*SQUARE_SIZE</a:t>
            </a:r>
          </a:p>
          <a:p>
            <a:r>
              <a:rPr lang="en-US" dirty="0">
                <a:effectLst/>
                <a:latin typeface="Helvetica" pitchFamily="2" charset="0"/>
              </a:rPr>
              <a:t>    screen = </a:t>
            </a:r>
            <a:r>
              <a:rPr lang="en-US" dirty="0" err="1">
                <a:effectLst/>
                <a:latin typeface="Helvetica" pitchFamily="2" charset="0"/>
              </a:rPr>
              <a:t>pygame.display.set_mode</a:t>
            </a:r>
            <a:r>
              <a:rPr lang="en-US" dirty="0">
                <a:effectLst/>
                <a:latin typeface="Helvetica" pitchFamily="2" charset="0"/>
              </a:rPr>
              <a:t>((WIDTH, HEIGHT))</a:t>
            </a:r>
          </a:p>
          <a:p>
            <a:r>
              <a:rPr lang="en-US" dirty="0">
                <a:effectLst/>
                <a:latin typeface="Helvetica" pitchFamily="2" charset="0"/>
              </a:rPr>
              <a:t>    </a:t>
            </a:r>
            <a:r>
              <a:rPr lang="en-US" dirty="0" err="1">
                <a:effectLst/>
                <a:latin typeface="Helvetica" pitchFamily="2" charset="0"/>
              </a:rPr>
              <a:t>pygame.display.set_caption</a:t>
            </a:r>
            <a:r>
              <a:rPr lang="en-US" dirty="0">
                <a:effectLst/>
                <a:latin typeface="Helvetica" pitchFamily="2" charset="0"/>
              </a:rPr>
              <a:t>("Draw a Digit (c to clear)")</a:t>
            </a:r>
          </a:p>
          <a:p>
            <a:r>
              <a:rPr lang="en-US" dirty="0">
                <a:effectLst/>
                <a:latin typeface="Helvetica" pitchFamily="2" charset="0"/>
              </a:rPr>
              <a:t>     </a:t>
            </a:r>
          </a:p>
          <a:p>
            <a:r>
              <a:rPr lang="en-US" dirty="0">
                <a:effectLst/>
                <a:latin typeface="Helvetica" pitchFamily="2" charset="0"/>
              </a:rPr>
              <a:t>    running = True</a:t>
            </a:r>
          </a:p>
          <a:p>
            <a:r>
              <a:rPr lang="en-US" dirty="0">
                <a:effectLst/>
                <a:latin typeface="Helvetica" pitchFamily="2" charset="0"/>
              </a:rPr>
              <a:t>    while running:</a:t>
            </a:r>
          </a:p>
          <a:p>
            <a:r>
              <a:rPr lang="en-US" dirty="0">
                <a:effectLst/>
                <a:latin typeface="Helvetica" pitchFamily="2" charset="0"/>
              </a:rPr>
              <a:t>        for event in </a:t>
            </a:r>
            <a:r>
              <a:rPr lang="en-US" dirty="0" err="1">
                <a:effectLst/>
                <a:latin typeface="Helvetica" pitchFamily="2" charset="0"/>
              </a:rPr>
              <a:t>pygame.event.get</a:t>
            </a:r>
            <a:r>
              <a:rPr lang="en-US" dirty="0">
                <a:effectLst/>
                <a:latin typeface="Helvetica" pitchFamily="2" charset="0"/>
              </a:rPr>
              <a:t>():</a:t>
            </a:r>
          </a:p>
          <a:p>
            <a:r>
              <a:rPr lang="en-US" dirty="0">
                <a:effectLst/>
                <a:latin typeface="Helvetica" pitchFamily="2" charset="0"/>
              </a:rPr>
              <a:t>            if </a:t>
            </a:r>
            <a:r>
              <a:rPr lang="en-US" dirty="0" err="1">
                <a:effectLst/>
                <a:latin typeface="Helvetica" pitchFamily="2" charset="0"/>
              </a:rPr>
              <a:t>event.type</a:t>
            </a:r>
            <a:r>
              <a:rPr lang="en-US" dirty="0">
                <a:effectLst/>
                <a:latin typeface="Helvetica" pitchFamily="2" charset="0"/>
              </a:rPr>
              <a:t> == </a:t>
            </a:r>
            <a:r>
              <a:rPr lang="en-US" dirty="0" err="1">
                <a:effectLst/>
                <a:latin typeface="Helvetica" pitchFamily="2" charset="0"/>
              </a:rPr>
              <a:t>pygame.QUIT</a:t>
            </a:r>
            <a:r>
              <a:rPr lang="en-US" dirty="0">
                <a:effectLst/>
                <a:latin typeface="Helvetica" pitchFamily="2" charset="0"/>
              </a:rPr>
              <a:t>:  # Window close button</a:t>
            </a:r>
          </a:p>
          <a:p>
            <a:r>
              <a:rPr lang="en-US" dirty="0">
                <a:effectLst/>
                <a:latin typeface="Helvetica" pitchFamily="2" charset="0"/>
              </a:rPr>
              <a:t>                running = False</a:t>
            </a:r>
          </a:p>
          <a:p>
            <a:r>
              <a:rPr lang="en-US" dirty="0">
                <a:effectLst/>
                <a:latin typeface="Helvetica" pitchFamily="2" charset="0"/>
              </a:rPr>
              <a:t>    # Quit </a:t>
            </a:r>
            <a:r>
              <a:rPr lang="en-US" dirty="0" err="1">
                <a:effectLst/>
                <a:latin typeface="Helvetica" pitchFamily="2" charset="0"/>
              </a:rPr>
              <a:t>pygame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dirty="0">
                <a:effectLst/>
                <a:latin typeface="Helvetica" pitchFamily="2" charset="0"/>
              </a:rPr>
              <a:t>    </a:t>
            </a:r>
            <a:r>
              <a:rPr lang="en-US" dirty="0" err="1">
                <a:effectLst/>
                <a:latin typeface="Helvetica" pitchFamily="2" charset="0"/>
              </a:rPr>
              <a:t>pygame.quit</a:t>
            </a:r>
            <a:r>
              <a:rPr lang="en-US" dirty="0">
                <a:effectLst/>
                <a:latin typeface="Helvetica" pitchFamily="2" charset="0"/>
              </a:rPr>
              <a:t>()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dirty="0">
                <a:effectLst/>
                <a:latin typeface="Helvetica" pitchFamily="2" charset="0"/>
              </a:rPr>
              <a:t>run()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2303E-BF29-0C2A-A330-3DC1BCA99F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0561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C91ED-118C-BD41-6510-3B050B26C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ACF0FA-0367-4203-6751-A13400BC7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74B846-2D24-D1C3-C667-1C52A8C34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  <a:latin typeface="Helvetica" pitchFamily="2" charset="0"/>
              </a:rPr>
              <a:t># version2 we are experimenting with adding some white boxes in 3 locations to see how the drawing will eventually work</a:t>
            </a:r>
          </a:p>
          <a:p>
            <a:r>
              <a:rPr lang="en-US" dirty="0">
                <a:effectLst/>
                <a:latin typeface="Helvetica" pitchFamily="2" charset="0"/>
              </a:rPr>
              <a:t>#</a:t>
            </a:r>
          </a:p>
          <a:p>
            <a:r>
              <a:rPr lang="en-US" dirty="0">
                <a:effectLst/>
                <a:latin typeface="Helvetica" pitchFamily="2" charset="0"/>
              </a:rPr>
              <a:t>import </a:t>
            </a:r>
            <a:r>
              <a:rPr lang="en-US" dirty="0" err="1">
                <a:effectLst/>
                <a:latin typeface="Helvetica" pitchFamily="2" charset="0"/>
              </a:rPr>
              <a:t>pygame</a:t>
            </a:r>
            <a:endParaRPr lang="en-US" dirty="0">
              <a:effectLst/>
              <a:latin typeface="Helvetica" pitchFamily="2" charset="0"/>
            </a:endParaRP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dirty="0">
                <a:effectLst/>
                <a:latin typeface="Helvetica" pitchFamily="2" charset="0"/>
              </a:rPr>
              <a:t>size=28</a:t>
            </a:r>
          </a:p>
          <a:p>
            <a:r>
              <a:rPr lang="en-US" dirty="0">
                <a:effectLst/>
                <a:latin typeface="Helvetica" pitchFamily="2" charset="0"/>
              </a:rPr>
              <a:t># Square size instead of a 1x1 pixel, ratio 10x10</a:t>
            </a:r>
          </a:p>
          <a:p>
            <a:r>
              <a:rPr lang="en-US" dirty="0">
                <a:effectLst/>
                <a:latin typeface="Helvetica" pitchFamily="2" charset="0"/>
              </a:rPr>
              <a:t># so it's easier to draw</a:t>
            </a:r>
          </a:p>
          <a:p>
            <a:r>
              <a:rPr lang="en-US" dirty="0">
                <a:effectLst/>
                <a:latin typeface="Helvetica" pitchFamily="2" charset="0"/>
              </a:rPr>
              <a:t># visually scale whole image up by 10 (does not change what is stored)</a:t>
            </a:r>
          </a:p>
          <a:p>
            <a:r>
              <a:rPr lang="en-US" dirty="0">
                <a:effectLst/>
                <a:latin typeface="Helvetica" pitchFamily="2" charset="0"/>
              </a:rPr>
              <a:t># Window size</a:t>
            </a:r>
          </a:p>
          <a:p>
            <a:r>
              <a:rPr lang="en-US" dirty="0">
                <a:effectLst/>
                <a:latin typeface="Helvetica" pitchFamily="2" charset="0"/>
              </a:rPr>
              <a:t>SQUARE_SIZE = 10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dirty="0">
                <a:effectLst/>
                <a:latin typeface="Helvetica" pitchFamily="2" charset="0"/>
              </a:rPr>
              <a:t>def run():</a:t>
            </a:r>
          </a:p>
          <a:p>
            <a:r>
              <a:rPr lang="en-US" dirty="0">
                <a:effectLst/>
                <a:latin typeface="Helvetica" pitchFamily="2" charset="0"/>
              </a:rPr>
              <a:t>    </a:t>
            </a:r>
            <a:r>
              <a:rPr lang="en-US" dirty="0" err="1">
                <a:effectLst/>
                <a:latin typeface="Helvetica" pitchFamily="2" charset="0"/>
              </a:rPr>
              <a:t>pygame.init</a:t>
            </a:r>
            <a:r>
              <a:rPr lang="en-US" dirty="0">
                <a:effectLst/>
                <a:latin typeface="Helvetica" pitchFamily="2" charset="0"/>
              </a:rPr>
              <a:t>()</a:t>
            </a:r>
          </a:p>
          <a:p>
            <a:r>
              <a:rPr lang="en-US" dirty="0">
                <a:effectLst/>
                <a:latin typeface="Helvetica" pitchFamily="2" charset="0"/>
              </a:rPr>
              <a:t>    WIDTH, HEIGHT = size*SQUARE_SIZE, size*SQUARE_SIZE</a:t>
            </a:r>
          </a:p>
          <a:p>
            <a:r>
              <a:rPr lang="en-US" dirty="0">
                <a:effectLst/>
                <a:latin typeface="Helvetica" pitchFamily="2" charset="0"/>
              </a:rPr>
              <a:t>    screen = </a:t>
            </a:r>
            <a:r>
              <a:rPr lang="en-US" dirty="0" err="1">
                <a:effectLst/>
                <a:latin typeface="Helvetica" pitchFamily="2" charset="0"/>
              </a:rPr>
              <a:t>pygame.display.set_mode</a:t>
            </a:r>
            <a:r>
              <a:rPr lang="en-US" dirty="0">
                <a:effectLst/>
                <a:latin typeface="Helvetica" pitchFamily="2" charset="0"/>
              </a:rPr>
              <a:t>((WIDTH, HEIGHT))</a:t>
            </a:r>
          </a:p>
          <a:p>
            <a:r>
              <a:rPr lang="en-US" dirty="0">
                <a:effectLst/>
                <a:latin typeface="Helvetica" pitchFamily="2" charset="0"/>
              </a:rPr>
              <a:t>    </a:t>
            </a:r>
            <a:r>
              <a:rPr lang="en-US" dirty="0" err="1">
                <a:effectLst/>
                <a:latin typeface="Helvetica" pitchFamily="2" charset="0"/>
              </a:rPr>
              <a:t>pygame.display.set_caption</a:t>
            </a:r>
            <a:r>
              <a:rPr lang="en-US" dirty="0">
                <a:effectLst/>
                <a:latin typeface="Helvetica" pitchFamily="2" charset="0"/>
              </a:rPr>
              <a:t>("Draw a Digit (c to clear)")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dirty="0">
                <a:effectLst/>
                <a:latin typeface="Helvetica" pitchFamily="2" charset="0"/>
              </a:rPr>
              <a:t>    #store a 28x28 list of 0s, we will use this in redisplay when</a:t>
            </a:r>
          </a:p>
          <a:p>
            <a:r>
              <a:rPr lang="en-US" dirty="0">
                <a:effectLst/>
                <a:latin typeface="Helvetica" pitchFamily="2" charset="0"/>
              </a:rPr>
              <a:t>    #we clear the board</a:t>
            </a:r>
          </a:p>
          <a:p>
            <a:r>
              <a:rPr lang="en-US" dirty="0">
                <a:effectLst/>
                <a:latin typeface="Helvetica" pitchFamily="2" charset="0"/>
              </a:rPr>
              <a:t>    store = [[0]*size for _ in range(size)]</a:t>
            </a:r>
          </a:p>
          <a:p>
            <a:r>
              <a:rPr lang="en-US" dirty="0">
                <a:effectLst/>
                <a:latin typeface="Helvetica" pitchFamily="2" charset="0"/>
              </a:rPr>
              <a:t>    </a:t>
            </a:r>
          </a:p>
          <a:p>
            <a:r>
              <a:rPr lang="en-US" dirty="0">
                <a:effectLst/>
                <a:latin typeface="Helvetica" pitchFamily="2" charset="0"/>
              </a:rPr>
              <a:t>    store[0][0]=255 #hard code 1 pixel drawn</a:t>
            </a:r>
          </a:p>
          <a:p>
            <a:r>
              <a:rPr lang="en-US" dirty="0">
                <a:effectLst/>
                <a:latin typeface="Helvetica" pitchFamily="2" charset="0"/>
              </a:rPr>
              <a:t>    store[5][15]=255</a:t>
            </a:r>
          </a:p>
          <a:p>
            <a:r>
              <a:rPr lang="en-US" dirty="0">
                <a:effectLst/>
                <a:latin typeface="Helvetica" pitchFamily="2" charset="0"/>
              </a:rPr>
              <a:t>    store[27][27]=255 #hard code 1 pixel drawn</a:t>
            </a:r>
          </a:p>
          <a:p>
            <a:r>
              <a:rPr lang="en-US" dirty="0">
                <a:effectLst/>
                <a:latin typeface="Helvetica" pitchFamily="2" charset="0"/>
              </a:rPr>
              <a:t>    print(store)</a:t>
            </a:r>
          </a:p>
          <a:p>
            <a:r>
              <a:rPr lang="en-US" dirty="0">
                <a:effectLst/>
                <a:latin typeface="Helvetica" pitchFamily="2" charset="0"/>
              </a:rPr>
              <a:t>    </a:t>
            </a:r>
          </a:p>
          <a:p>
            <a:r>
              <a:rPr lang="en-US" dirty="0">
                <a:effectLst/>
                <a:latin typeface="Helvetica" pitchFamily="2" charset="0"/>
              </a:rPr>
              <a:t>    def redraw():</a:t>
            </a:r>
          </a:p>
          <a:p>
            <a:r>
              <a:rPr lang="en-US" dirty="0">
                <a:effectLst/>
                <a:latin typeface="Helvetica" pitchFamily="2" charset="0"/>
              </a:rPr>
              <a:t>        print("calling redraw")</a:t>
            </a:r>
          </a:p>
          <a:p>
            <a:r>
              <a:rPr lang="en-US" dirty="0">
                <a:effectLst/>
                <a:latin typeface="Helvetica" pitchFamily="2" charset="0"/>
              </a:rPr>
              <a:t>        for row in range(0, </a:t>
            </a:r>
            <a:r>
              <a:rPr lang="en-US" dirty="0" err="1">
                <a:effectLst/>
                <a:latin typeface="Helvetica" pitchFamily="2" charset="0"/>
              </a:rPr>
              <a:t>len</a:t>
            </a:r>
            <a:r>
              <a:rPr lang="en-US" dirty="0">
                <a:effectLst/>
                <a:latin typeface="Helvetica" pitchFamily="2" charset="0"/>
              </a:rPr>
              <a:t>(store)):</a:t>
            </a:r>
          </a:p>
          <a:p>
            <a:r>
              <a:rPr lang="en-US" dirty="0">
                <a:effectLst/>
                <a:latin typeface="Helvetica" pitchFamily="2" charset="0"/>
              </a:rPr>
              <a:t>            for col in range(0, </a:t>
            </a:r>
            <a:r>
              <a:rPr lang="en-US" dirty="0" err="1">
                <a:effectLst/>
                <a:latin typeface="Helvetica" pitchFamily="2" charset="0"/>
              </a:rPr>
              <a:t>len</a:t>
            </a:r>
            <a:r>
              <a:rPr lang="en-US" dirty="0">
                <a:effectLst/>
                <a:latin typeface="Helvetica" pitchFamily="2" charset="0"/>
              </a:rPr>
              <a:t>(store[0])):</a:t>
            </a:r>
          </a:p>
          <a:p>
            <a:r>
              <a:rPr lang="en-US" dirty="0">
                <a:effectLst/>
                <a:latin typeface="Helvetica" pitchFamily="2" charset="0"/>
              </a:rPr>
              <a:t>                #draw a square to represent store[row][col]</a:t>
            </a:r>
          </a:p>
          <a:p>
            <a:r>
              <a:rPr lang="en-US" dirty="0">
                <a:effectLst/>
                <a:latin typeface="Helvetica" pitchFamily="2" charset="0"/>
              </a:rPr>
              <a:t>                #Rect need the top left corner (</a:t>
            </a:r>
            <a:r>
              <a:rPr lang="en-US" dirty="0" err="1">
                <a:effectLst/>
                <a:latin typeface="Helvetica" pitchFamily="2" charset="0"/>
              </a:rPr>
              <a:t>x,y</a:t>
            </a:r>
            <a:r>
              <a:rPr lang="en-US" dirty="0">
                <a:effectLst/>
                <a:latin typeface="Helvetica" pitchFamily="2" charset="0"/>
              </a:rPr>
              <a:t>) is (col, row), and width and height</a:t>
            </a:r>
          </a:p>
          <a:p>
            <a:r>
              <a:rPr lang="en-US" dirty="0">
                <a:effectLst/>
                <a:latin typeface="Helvetica" pitchFamily="2" charset="0"/>
              </a:rPr>
              <a:t>                </a:t>
            </a:r>
            <a:r>
              <a:rPr lang="en-US" dirty="0" err="1">
                <a:effectLst/>
                <a:latin typeface="Helvetica" pitchFamily="2" charset="0"/>
              </a:rPr>
              <a:t>rect</a:t>
            </a:r>
            <a:r>
              <a:rPr lang="en-US" dirty="0">
                <a:effectLst/>
                <a:latin typeface="Helvetica" pitchFamily="2" charset="0"/>
              </a:rPr>
              <a:t> = </a:t>
            </a:r>
            <a:r>
              <a:rPr lang="en-US" dirty="0" err="1">
                <a:effectLst/>
                <a:latin typeface="Helvetica" pitchFamily="2" charset="0"/>
              </a:rPr>
              <a:t>pygame.Rect</a:t>
            </a:r>
            <a:r>
              <a:rPr lang="en-US" dirty="0">
                <a:effectLst/>
                <a:latin typeface="Helvetica" pitchFamily="2" charset="0"/>
              </a:rPr>
              <a:t>(col*SQUARE_SIZE,</a:t>
            </a:r>
          </a:p>
          <a:p>
            <a:r>
              <a:rPr lang="en-US" dirty="0">
                <a:effectLst/>
                <a:latin typeface="Helvetica" pitchFamily="2" charset="0"/>
              </a:rPr>
              <a:t>                                   row*SQUARE_SIZE,</a:t>
            </a:r>
          </a:p>
          <a:p>
            <a:r>
              <a:rPr lang="en-US" dirty="0">
                <a:effectLst/>
                <a:latin typeface="Helvetica" pitchFamily="2" charset="0"/>
              </a:rPr>
              <a:t>                                   SQUARE_SIZE, SQUARE_SIZE)</a:t>
            </a:r>
          </a:p>
          <a:p>
            <a:r>
              <a:rPr lang="en-US" dirty="0">
                <a:effectLst/>
                <a:latin typeface="Helvetica" pitchFamily="2" charset="0"/>
              </a:rPr>
              <a:t>                </a:t>
            </a:r>
            <a:r>
              <a:rPr lang="en-US" dirty="0" err="1">
                <a:effectLst/>
                <a:latin typeface="Helvetica" pitchFamily="2" charset="0"/>
              </a:rPr>
              <a:t>pygame.draw.rect</a:t>
            </a:r>
            <a:r>
              <a:rPr lang="en-US" dirty="0">
                <a:effectLst/>
                <a:latin typeface="Helvetica" pitchFamily="2" charset="0"/>
              </a:rPr>
              <a:t>(screen, (store[row][col], store[row][col], store[row][col]),</a:t>
            </a:r>
            <a:r>
              <a:rPr lang="en-US" dirty="0" err="1">
                <a:effectLst/>
                <a:latin typeface="Helvetica" pitchFamily="2" charset="0"/>
              </a:rPr>
              <a:t>rect</a:t>
            </a:r>
            <a:r>
              <a:rPr lang="en-US" dirty="0">
                <a:effectLst/>
                <a:latin typeface="Helvetica" pitchFamily="2" charset="0"/>
              </a:rPr>
              <a:t>)</a:t>
            </a:r>
          </a:p>
          <a:p>
            <a:r>
              <a:rPr lang="en-US" dirty="0">
                <a:effectLst/>
                <a:latin typeface="Helvetica" pitchFamily="2" charset="0"/>
              </a:rPr>
              <a:t>        </a:t>
            </a:r>
            <a:r>
              <a:rPr lang="en-US" dirty="0" err="1">
                <a:effectLst/>
                <a:latin typeface="Helvetica" pitchFamily="2" charset="0"/>
              </a:rPr>
              <a:t>pygame.display.update</a:t>
            </a:r>
            <a:r>
              <a:rPr lang="en-US" dirty="0">
                <a:effectLst/>
                <a:latin typeface="Helvetica" pitchFamily="2" charset="0"/>
              </a:rPr>
              <a:t>()</a:t>
            </a:r>
          </a:p>
          <a:p>
            <a:r>
              <a:rPr lang="en-US" dirty="0">
                <a:effectLst/>
                <a:latin typeface="Helvetica" pitchFamily="2" charset="0"/>
              </a:rPr>
              <a:t>    </a:t>
            </a:r>
          </a:p>
          <a:p>
            <a:r>
              <a:rPr lang="en-US" dirty="0">
                <a:effectLst/>
                <a:latin typeface="Helvetica" pitchFamily="2" charset="0"/>
              </a:rPr>
              <a:t>    redraw()</a:t>
            </a:r>
          </a:p>
          <a:p>
            <a:r>
              <a:rPr lang="en-US" dirty="0">
                <a:effectLst/>
                <a:latin typeface="Helvetica" pitchFamily="2" charset="0"/>
              </a:rPr>
              <a:t>     </a:t>
            </a:r>
          </a:p>
          <a:p>
            <a:r>
              <a:rPr lang="en-US" dirty="0">
                <a:effectLst/>
                <a:latin typeface="Helvetica" pitchFamily="2" charset="0"/>
              </a:rPr>
              <a:t>    running = True</a:t>
            </a:r>
          </a:p>
          <a:p>
            <a:r>
              <a:rPr lang="en-US" dirty="0">
                <a:effectLst/>
                <a:latin typeface="Helvetica" pitchFamily="2" charset="0"/>
              </a:rPr>
              <a:t>    while running:</a:t>
            </a:r>
          </a:p>
          <a:p>
            <a:r>
              <a:rPr lang="en-US" dirty="0">
                <a:effectLst/>
                <a:latin typeface="Helvetica" pitchFamily="2" charset="0"/>
              </a:rPr>
              <a:t>        for event in </a:t>
            </a:r>
            <a:r>
              <a:rPr lang="en-US" dirty="0" err="1">
                <a:effectLst/>
                <a:latin typeface="Helvetica" pitchFamily="2" charset="0"/>
              </a:rPr>
              <a:t>pygame.event.get</a:t>
            </a:r>
            <a:r>
              <a:rPr lang="en-US" dirty="0">
                <a:effectLst/>
                <a:latin typeface="Helvetica" pitchFamily="2" charset="0"/>
              </a:rPr>
              <a:t>():</a:t>
            </a:r>
          </a:p>
          <a:p>
            <a:r>
              <a:rPr lang="en-US" dirty="0">
                <a:effectLst/>
                <a:latin typeface="Helvetica" pitchFamily="2" charset="0"/>
              </a:rPr>
              <a:t>            if </a:t>
            </a:r>
            <a:r>
              <a:rPr lang="en-US" dirty="0" err="1">
                <a:effectLst/>
                <a:latin typeface="Helvetica" pitchFamily="2" charset="0"/>
              </a:rPr>
              <a:t>event.type</a:t>
            </a:r>
            <a:r>
              <a:rPr lang="en-US" dirty="0">
                <a:effectLst/>
                <a:latin typeface="Helvetica" pitchFamily="2" charset="0"/>
              </a:rPr>
              <a:t> == </a:t>
            </a:r>
            <a:r>
              <a:rPr lang="en-US" dirty="0" err="1">
                <a:effectLst/>
                <a:latin typeface="Helvetica" pitchFamily="2" charset="0"/>
              </a:rPr>
              <a:t>pygame.QUIT</a:t>
            </a:r>
            <a:r>
              <a:rPr lang="en-US" dirty="0">
                <a:effectLst/>
                <a:latin typeface="Helvetica" pitchFamily="2" charset="0"/>
              </a:rPr>
              <a:t>:  # Window close button</a:t>
            </a:r>
          </a:p>
          <a:p>
            <a:r>
              <a:rPr lang="en-US" dirty="0">
                <a:effectLst/>
                <a:latin typeface="Helvetica" pitchFamily="2" charset="0"/>
              </a:rPr>
              <a:t>                running = False</a:t>
            </a:r>
          </a:p>
          <a:p>
            <a:r>
              <a:rPr lang="en-US" dirty="0">
                <a:effectLst/>
                <a:latin typeface="Helvetica" pitchFamily="2" charset="0"/>
              </a:rPr>
              <a:t>            </a:t>
            </a:r>
            <a:r>
              <a:rPr lang="en-US" dirty="0" err="1">
                <a:effectLst/>
                <a:latin typeface="Helvetica" pitchFamily="2" charset="0"/>
              </a:rPr>
              <a:t>elif</a:t>
            </a:r>
            <a:r>
              <a:rPr lang="en-US" dirty="0">
                <a:effectLst/>
                <a:latin typeface="Helvetica" pitchFamily="2" charset="0"/>
              </a:rPr>
              <a:t> </a:t>
            </a:r>
            <a:r>
              <a:rPr lang="en-US" dirty="0" err="1">
                <a:effectLst/>
                <a:latin typeface="Helvetica" pitchFamily="2" charset="0"/>
              </a:rPr>
              <a:t>event.type</a:t>
            </a:r>
            <a:r>
              <a:rPr lang="en-US" dirty="0">
                <a:effectLst/>
                <a:latin typeface="Helvetica" pitchFamily="2" charset="0"/>
              </a:rPr>
              <a:t> == </a:t>
            </a:r>
            <a:r>
              <a:rPr lang="en-US" dirty="0" err="1">
                <a:effectLst/>
                <a:latin typeface="Helvetica" pitchFamily="2" charset="0"/>
              </a:rPr>
              <a:t>pygame.MOUSEBUTTONDOWN</a:t>
            </a:r>
            <a:r>
              <a:rPr lang="en-US" dirty="0">
                <a:effectLst/>
                <a:latin typeface="Helvetica" pitchFamily="2" charset="0"/>
              </a:rPr>
              <a:t>:</a:t>
            </a:r>
          </a:p>
          <a:p>
            <a:r>
              <a:rPr lang="en-US" dirty="0">
                <a:effectLst/>
                <a:latin typeface="Helvetica" pitchFamily="2" charset="0"/>
              </a:rPr>
              <a:t>                redraw()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dirty="0">
                <a:effectLst/>
                <a:latin typeface="Helvetica" pitchFamily="2" charset="0"/>
              </a:rPr>
              <a:t>    # Quit </a:t>
            </a:r>
            <a:r>
              <a:rPr lang="en-US" dirty="0" err="1">
                <a:effectLst/>
                <a:latin typeface="Helvetica" pitchFamily="2" charset="0"/>
              </a:rPr>
              <a:t>pygame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dirty="0">
                <a:effectLst/>
                <a:latin typeface="Helvetica" pitchFamily="2" charset="0"/>
              </a:rPr>
              <a:t>    </a:t>
            </a:r>
            <a:r>
              <a:rPr lang="en-US" dirty="0" err="1">
                <a:effectLst/>
                <a:latin typeface="Helvetica" pitchFamily="2" charset="0"/>
              </a:rPr>
              <a:t>pygame.quit</a:t>
            </a:r>
            <a:r>
              <a:rPr lang="en-US" dirty="0">
                <a:effectLst/>
                <a:latin typeface="Helvetica" pitchFamily="2" charset="0"/>
              </a:rPr>
              <a:t>()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dirty="0">
                <a:effectLst/>
                <a:latin typeface="Helvetica" pitchFamily="2" charset="0"/>
              </a:rPr>
              <a:t>run()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06EBD-2195-EB1E-604F-DAB1438CDB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4130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2E72F-9729-3B86-FD11-491EC10D1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F43C76-D89C-AEA1-12AE-F271E2884F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8B3C5-B158-1297-D054-44F37B539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add a white box where the user clicks</a:t>
            </a:r>
          </a:p>
          <a:p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pygame</a:t>
            </a:r>
            <a:endParaRPr lang="en-US" dirty="0"/>
          </a:p>
          <a:p>
            <a:endParaRPr lang="en-US" dirty="0"/>
          </a:p>
          <a:p>
            <a:r>
              <a:rPr lang="en-US" dirty="0"/>
              <a:t>size=28</a:t>
            </a:r>
          </a:p>
          <a:p>
            <a:r>
              <a:rPr lang="en-US" dirty="0"/>
              <a:t># Square size instead of a 1x1 pixel, ratio 10x10</a:t>
            </a:r>
          </a:p>
          <a:p>
            <a:r>
              <a:rPr lang="en-US" dirty="0"/>
              <a:t># so it's easier to draw</a:t>
            </a:r>
          </a:p>
          <a:p>
            <a:r>
              <a:rPr lang="en-US" dirty="0"/>
              <a:t># visually scale whole image up by 10 (does not change what is stored)</a:t>
            </a:r>
          </a:p>
          <a:p>
            <a:r>
              <a:rPr lang="en-US" dirty="0"/>
              <a:t># Window size</a:t>
            </a:r>
          </a:p>
          <a:p>
            <a:r>
              <a:rPr lang="en-US" dirty="0"/>
              <a:t>SQUARE_SIZE = 10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def run():</a:t>
            </a:r>
          </a:p>
          <a:p>
            <a:r>
              <a:rPr lang="en-US" dirty="0"/>
              <a:t>    </a:t>
            </a:r>
            <a:r>
              <a:rPr lang="en-US" dirty="0" err="1"/>
              <a:t>pygame.init</a:t>
            </a:r>
            <a:r>
              <a:rPr lang="en-US" dirty="0"/>
              <a:t>()</a:t>
            </a:r>
          </a:p>
          <a:p>
            <a:r>
              <a:rPr lang="en-US" dirty="0"/>
              <a:t>    WIDTH, HEIGHT = size*SQUARE_SIZE, size*SQUARE_SIZE</a:t>
            </a:r>
          </a:p>
          <a:p>
            <a:r>
              <a:rPr lang="en-US" dirty="0"/>
              <a:t>    screen = </a:t>
            </a:r>
            <a:r>
              <a:rPr lang="en-US" dirty="0" err="1"/>
              <a:t>pygame.display.set_mode</a:t>
            </a:r>
            <a:r>
              <a:rPr lang="en-US" dirty="0"/>
              <a:t>((WIDTH, HEIGHT))</a:t>
            </a:r>
          </a:p>
          <a:p>
            <a:r>
              <a:rPr lang="en-US" dirty="0"/>
              <a:t>    </a:t>
            </a:r>
            <a:r>
              <a:rPr lang="en-US" dirty="0" err="1"/>
              <a:t>pygame.display.set_caption</a:t>
            </a:r>
            <a:r>
              <a:rPr lang="en-US" dirty="0"/>
              <a:t>("Draw a Digit (c to clear)")</a:t>
            </a:r>
          </a:p>
          <a:p>
            <a:endParaRPr lang="en-US" dirty="0"/>
          </a:p>
          <a:p>
            <a:r>
              <a:rPr lang="en-US" dirty="0"/>
              <a:t>    #store a 28x28 list of 0s, we will use this in redisplay when</a:t>
            </a:r>
          </a:p>
          <a:p>
            <a:r>
              <a:rPr lang="en-US" dirty="0"/>
              <a:t>    #we clear the board</a:t>
            </a:r>
          </a:p>
          <a:p>
            <a:r>
              <a:rPr lang="en-US" dirty="0"/>
              <a:t>    store = [[0]*size for _ in range(size)]</a:t>
            </a:r>
          </a:p>
          <a:p>
            <a:endParaRPr lang="en-US" dirty="0"/>
          </a:p>
          <a:p>
            <a:r>
              <a:rPr lang="en-US" dirty="0"/>
              <a:t>    def redraw():</a:t>
            </a:r>
          </a:p>
          <a:p>
            <a:r>
              <a:rPr lang="en-US" dirty="0"/>
              <a:t>        print("calling redraw")</a:t>
            </a:r>
          </a:p>
          <a:p>
            <a:r>
              <a:rPr lang="en-US" dirty="0"/>
              <a:t>        for row in range(0, </a:t>
            </a:r>
            <a:r>
              <a:rPr lang="en-US" dirty="0" err="1"/>
              <a:t>len</a:t>
            </a:r>
            <a:r>
              <a:rPr lang="en-US" dirty="0"/>
              <a:t>(store)):</a:t>
            </a:r>
          </a:p>
          <a:p>
            <a:r>
              <a:rPr lang="en-US" dirty="0"/>
              <a:t>            for col in range(0, </a:t>
            </a:r>
            <a:r>
              <a:rPr lang="en-US" dirty="0" err="1"/>
              <a:t>len</a:t>
            </a:r>
            <a:r>
              <a:rPr lang="en-US" dirty="0"/>
              <a:t>(store[0])):</a:t>
            </a:r>
          </a:p>
          <a:p>
            <a:r>
              <a:rPr lang="en-US" dirty="0"/>
              <a:t>                #draw a square to represent store[row][col]</a:t>
            </a:r>
          </a:p>
          <a:p>
            <a:r>
              <a:rPr lang="en-US" dirty="0"/>
              <a:t>                #Rect need the top left corner (</a:t>
            </a:r>
            <a:r>
              <a:rPr lang="en-US" dirty="0" err="1"/>
              <a:t>x,y</a:t>
            </a:r>
            <a:r>
              <a:rPr lang="en-US" dirty="0"/>
              <a:t>) is (col, row), and width and height</a:t>
            </a:r>
          </a:p>
          <a:p>
            <a:r>
              <a:rPr lang="en-US" dirty="0"/>
              <a:t>                </a:t>
            </a:r>
            <a:r>
              <a:rPr lang="en-US" dirty="0" err="1"/>
              <a:t>rect</a:t>
            </a:r>
            <a:r>
              <a:rPr lang="en-US" dirty="0"/>
              <a:t> = </a:t>
            </a:r>
            <a:r>
              <a:rPr lang="en-US" dirty="0" err="1"/>
              <a:t>pygame.Rect</a:t>
            </a:r>
            <a:r>
              <a:rPr lang="en-US" dirty="0"/>
              <a:t>(col*SQUARE_SIZE,</a:t>
            </a:r>
          </a:p>
          <a:p>
            <a:r>
              <a:rPr lang="en-US" dirty="0"/>
              <a:t>                                   row*SQUARE_SIZE,</a:t>
            </a:r>
          </a:p>
          <a:p>
            <a:r>
              <a:rPr lang="en-US" dirty="0"/>
              <a:t>                                   SQUARE_SIZE, SQUARE_SIZE)</a:t>
            </a:r>
          </a:p>
          <a:p>
            <a:r>
              <a:rPr lang="en-US" dirty="0"/>
              <a:t>                </a:t>
            </a:r>
            <a:r>
              <a:rPr lang="en-US" dirty="0" err="1"/>
              <a:t>pygame.draw.rect</a:t>
            </a:r>
            <a:r>
              <a:rPr lang="en-US" dirty="0"/>
              <a:t>(screen, (store[row][col], store[row][col], store[row][col]),</a:t>
            </a:r>
            <a:r>
              <a:rPr lang="en-US" dirty="0" err="1"/>
              <a:t>rect</a:t>
            </a:r>
            <a:r>
              <a:rPr lang="en-US" dirty="0"/>
              <a:t>)</a:t>
            </a:r>
          </a:p>
          <a:p>
            <a:r>
              <a:rPr lang="en-US" dirty="0"/>
              <a:t>        </a:t>
            </a:r>
            <a:r>
              <a:rPr lang="en-US" dirty="0" err="1"/>
              <a:t>pygame.display.update</a:t>
            </a:r>
            <a:r>
              <a:rPr lang="en-US" dirty="0"/>
              <a:t>()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redraw()</a:t>
            </a:r>
          </a:p>
          <a:p>
            <a:r>
              <a:rPr lang="en-US" dirty="0"/>
              <a:t>     </a:t>
            </a:r>
          </a:p>
          <a:p>
            <a:r>
              <a:rPr lang="en-US" dirty="0"/>
              <a:t>    running = True</a:t>
            </a:r>
          </a:p>
          <a:p>
            <a:r>
              <a:rPr lang="en-US" dirty="0"/>
              <a:t>    while running:</a:t>
            </a:r>
          </a:p>
          <a:p>
            <a:r>
              <a:rPr lang="en-US" dirty="0"/>
              <a:t>        for event in </a:t>
            </a:r>
            <a:r>
              <a:rPr lang="en-US" dirty="0" err="1"/>
              <a:t>pygame.event.get</a:t>
            </a:r>
            <a:r>
              <a:rPr lang="en-US" dirty="0"/>
              <a:t>():</a:t>
            </a:r>
          </a:p>
          <a:p>
            <a:r>
              <a:rPr lang="en-US" dirty="0"/>
              <a:t>            if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pygame.QUIT</a:t>
            </a:r>
            <a:r>
              <a:rPr lang="en-US" dirty="0"/>
              <a:t>:  # Window close button</a:t>
            </a:r>
          </a:p>
          <a:p>
            <a:r>
              <a:rPr lang="en-US" dirty="0"/>
              <a:t>                running = False</a:t>
            </a:r>
          </a:p>
          <a:p>
            <a:r>
              <a:rPr lang="en-US" dirty="0"/>
              <a:t>        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pygame.MOUSEBUTTONDOWN</a:t>
            </a:r>
            <a:r>
              <a:rPr lang="en-US" dirty="0"/>
              <a:t>:</a:t>
            </a:r>
          </a:p>
          <a:p>
            <a:r>
              <a:rPr lang="en-US" dirty="0"/>
              <a:t>                x, y = </a:t>
            </a:r>
            <a:r>
              <a:rPr lang="en-US" dirty="0" err="1"/>
              <a:t>event.pos</a:t>
            </a:r>
            <a:r>
              <a:rPr lang="en-US" dirty="0"/>
              <a:t>  # Get click position</a:t>
            </a:r>
          </a:p>
          <a:p>
            <a:r>
              <a:rPr lang="en-US" dirty="0"/>
              <a:t>                </a:t>
            </a:r>
            <a:r>
              <a:rPr lang="en-US" dirty="0" err="1"/>
              <a:t>x_scaled</a:t>
            </a:r>
            <a:r>
              <a:rPr lang="en-US" dirty="0"/>
              <a:t>, </a:t>
            </a:r>
            <a:r>
              <a:rPr lang="en-US" dirty="0" err="1"/>
              <a:t>y_scaled</a:t>
            </a:r>
            <a:r>
              <a:rPr lang="en-US" dirty="0"/>
              <a:t> = x//SQUARE_SIZE, y//SQUARE_SIZE</a:t>
            </a:r>
          </a:p>
          <a:p>
            <a:r>
              <a:rPr lang="en-US" dirty="0"/>
              <a:t>                store[</a:t>
            </a:r>
            <a:r>
              <a:rPr lang="en-US" dirty="0" err="1"/>
              <a:t>y_scaled</a:t>
            </a:r>
            <a:r>
              <a:rPr lang="en-US" dirty="0"/>
              <a:t>][</a:t>
            </a:r>
            <a:r>
              <a:rPr lang="en-US" dirty="0" err="1"/>
              <a:t>x_scaled</a:t>
            </a:r>
            <a:r>
              <a:rPr lang="en-US" dirty="0"/>
              <a:t>] = 255 #make pixel white</a:t>
            </a:r>
          </a:p>
          <a:p>
            <a:r>
              <a:rPr lang="en-US" dirty="0"/>
              <a:t>                redraw()</a:t>
            </a:r>
          </a:p>
          <a:p>
            <a:endParaRPr lang="en-US" dirty="0"/>
          </a:p>
          <a:p>
            <a:r>
              <a:rPr lang="en-US" dirty="0"/>
              <a:t>    # Quit </a:t>
            </a:r>
            <a:r>
              <a:rPr lang="en-US" dirty="0" err="1"/>
              <a:t>pygame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pygame.quit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run()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64753-7719-D485-F786-D9CD28306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7872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2AAF5-0512-2E9D-CE92-6A991FD20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C693E6-3C25-D149-90C7-967907091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35C0BD-CF4A-1F71-4FEA-051F1A025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pygame</a:t>
            </a:r>
            <a:endParaRPr lang="en-US" dirty="0"/>
          </a:p>
          <a:p>
            <a:endParaRPr lang="en-US" dirty="0"/>
          </a:p>
          <a:p>
            <a:r>
              <a:rPr lang="en-US" dirty="0"/>
              <a:t>size=28</a:t>
            </a:r>
          </a:p>
          <a:p>
            <a:r>
              <a:rPr lang="en-US" dirty="0"/>
              <a:t># Square size instead of a 1x1 pixel, ratio 10x10</a:t>
            </a:r>
          </a:p>
          <a:p>
            <a:r>
              <a:rPr lang="en-US" dirty="0"/>
              <a:t># so it's easier to draw</a:t>
            </a:r>
          </a:p>
          <a:p>
            <a:r>
              <a:rPr lang="en-US" dirty="0"/>
              <a:t># visually scale whole image up by 10 (does not change what is stored)</a:t>
            </a:r>
          </a:p>
          <a:p>
            <a:r>
              <a:rPr lang="en-US" dirty="0"/>
              <a:t># Window size</a:t>
            </a:r>
          </a:p>
          <a:p>
            <a:r>
              <a:rPr lang="en-US" dirty="0"/>
              <a:t>SQUARE_SIZE = 10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def run():</a:t>
            </a:r>
          </a:p>
          <a:p>
            <a:r>
              <a:rPr lang="en-US" dirty="0"/>
              <a:t>    </a:t>
            </a:r>
            <a:r>
              <a:rPr lang="en-US" dirty="0" err="1"/>
              <a:t>pygame.init</a:t>
            </a:r>
            <a:r>
              <a:rPr lang="en-US" dirty="0"/>
              <a:t>()</a:t>
            </a:r>
          </a:p>
          <a:p>
            <a:r>
              <a:rPr lang="en-US" dirty="0"/>
              <a:t>    WIDTH, HEIGHT = size*SQUARE_SIZE, size*SQUARE_SIZE</a:t>
            </a:r>
          </a:p>
          <a:p>
            <a:r>
              <a:rPr lang="en-US" dirty="0"/>
              <a:t>    screen = </a:t>
            </a:r>
            <a:r>
              <a:rPr lang="en-US" dirty="0" err="1"/>
              <a:t>pygame.display.set_mode</a:t>
            </a:r>
            <a:r>
              <a:rPr lang="en-US" dirty="0"/>
              <a:t>((WIDTH, HEIGHT))</a:t>
            </a:r>
          </a:p>
          <a:p>
            <a:r>
              <a:rPr lang="en-US" dirty="0"/>
              <a:t>    </a:t>
            </a:r>
            <a:r>
              <a:rPr lang="en-US" dirty="0" err="1"/>
              <a:t>pygame.display.set_caption</a:t>
            </a:r>
            <a:r>
              <a:rPr lang="en-US" dirty="0"/>
              <a:t>("Draw a Digit (c to clear)")</a:t>
            </a:r>
          </a:p>
          <a:p>
            <a:endParaRPr lang="en-US" dirty="0"/>
          </a:p>
          <a:p>
            <a:r>
              <a:rPr lang="en-US" dirty="0"/>
              <a:t>    #store a 28x28 list of 0s, we will use this in redisplay when</a:t>
            </a:r>
          </a:p>
          <a:p>
            <a:r>
              <a:rPr lang="en-US" dirty="0"/>
              <a:t>    #we clear the board</a:t>
            </a:r>
          </a:p>
          <a:p>
            <a:r>
              <a:rPr lang="en-US" dirty="0"/>
              <a:t>    store = [[0]*size for _ in range(size)]</a:t>
            </a:r>
          </a:p>
          <a:p>
            <a:endParaRPr lang="en-US" dirty="0"/>
          </a:p>
          <a:p>
            <a:r>
              <a:rPr lang="en-US" dirty="0"/>
              <a:t>    def redraw():</a:t>
            </a:r>
          </a:p>
          <a:p>
            <a:r>
              <a:rPr lang="en-US" dirty="0"/>
              <a:t>        print("calling redraw")</a:t>
            </a:r>
          </a:p>
          <a:p>
            <a:r>
              <a:rPr lang="en-US" dirty="0"/>
              <a:t>        for row in range(0, </a:t>
            </a:r>
            <a:r>
              <a:rPr lang="en-US" dirty="0" err="1"/>
              <a:t>len</a:t>
            </a:r>
            <a:r>
              <a:rPr lang="en-US" dirty="0"/>
              <a:t>(store)):</a:t>
            </a:r>
          </a:p>
          <a:p>
            <a:r>
              <a:rPr lang="en-US" dirty="0"/>
              <a:t>            for col in range(0, </a:t>
            </a:r>
            <a:r>
              <a:rPr lang="en-US" dirty="0" err="1"/>
              <a:t>len</a:t>
            </a:r>
            <a:r>
              <a:rPr lang="en-US" dirty="0"/>
              <a:t>(store[0])):</a:t>
            </a:r>
          </a:p>
          <a:p>
            <a:r>
              <a:rPr lang="en-US" dirty="0"/>
              <a:t>                #draw a square to represent store[row][col]</a:t>
            </a:r>
          </a:p>
          <a:p>
            <a:r>
              <a:rPr lang="en-US" dirty="0"/>
              <a:t>                #Rect need the top left corner (</a:t>
            </a:r>
            <a:r>
              <a:rPr lang="en-US" dirty="0" err="1"/>
              <a:t>x,y</a:t>
            </a:r>
            <a:r>
              <a:rPr lang="en-US" dirty="0"/>
              <a:t>) is (col, row), and width and height</a:t>
            </a:r>
          </a:p>
          <a:p>
            <a:r>
              <a:rPr lang="en-US" dirty="0"/>
              <a:t>                </a:t>
            </a:r>
            <a:r>
              <a:rPr lang="en-US" dirty="0" err="1"/>
              <a:t>rect</a:t>
            </a:r>
            <a:r>
              <a:rPr lang="en-US" dirty="0"/>
              <a:t> = </a:t>
            </a:r>
            <a:r>
              <a:rPr lang="en-US" dirty="0" err="1"/>
              <a:t>pygame.Rect</a:t>
            </a:r>
            <a:r>
              <a:rPr lang="en-US" dirty="0"/>
              <a:t>(col*SQUARE_SIZE,</a:t>
            </a:r>
          </a:p>
          <a:p>
            <a:r>
              <a:rPr lang="en-US" dirty="0"/>
              <a:t>                                   row*SQUARE_SIZE,</a:t>
            </a:r>
          </a:p>
          <a:p>
            <a:r>
              <a:rPr lang="en-US" dirty="0"/>
              <a:t>                                   SQUARE_SIZE, SQUARE_SIZE)</a:t>
            </a:r>
          </a:p>
          <a:p>
            <a:r>
              <a:rPr lang="en-US" dirty="0"/>
              <a:t>                </a:t>
            </a:r>
            <a:r>
              <a:rPr lang="en-US" dirty="0" err="1"/>
              <a:t>pygame.draw.rect</a:t>
            </a:r>
            <a:r>
              <a:rPr lang="en-US" dirty="0"/>
              <a:t>(screen, (store[row][col], store[row][col], store[row][col]),</a:t>
            </a:r>
            <a:r>
              <a:rPr lang="en-US" dirty="0" err="1"/>
              <a:t>rect</a:t>
            </a:r>
            <a:r>
              <a:rPr lang="en-US" dirty="0"/>
              <a:t>)</a:t>
            </a:r>
          </a:p>
          <a:p>
            <a:r>
              <a:rPr lang="en-US" dirty="0"/>
              <a:t>        </a:t>
            </a:r>
            <a:r>
              <a:rPr lang="en-US" dirty="0" err="1"/>
              <a:t>pygame.display.update</a:t>
            </a:r>
            <a:r>
              <a:rPr lang="en-US" dirty="0"/>
              <a:t>()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redraw()</a:t>
            </a:r>
          </a:p>
          <a:p>
            <a:r>
              <a:rPr lang="en-US" dirty="0"/>
              <a:t>     </a:t>
            </a:r>
          </a:p>
          <a:p>
            <a:r>
              <a:rPr lang="en-US" dirty="0"/>
              <a:t>    running = True</a:t>
            </a:r>
          </a:p>
          <a:p>
            <a:r>
              <a:rPr lang="en-US" dirty="0"/>
              <a:t>    while running:</a:t>
            </a:r>
          </a:p>
          <a:p>
            <a:r>
              <a:rPr lang="en-US" dirty="0"/>
              <a:t>        for event in </a:t>
            </a:r>
            <a:r>
              <a:rPr lang="en-US" dirty="0" err="1"/>
              <a:t>pygame.event.get</a:t>
            </a:r>
            <a:r>
              <a:rPr lang="en-US" dirty="0"/>
              <a:t>():</a:t>
            </a:r>
          </a:p>
          <a:p>
            <a:r>
              <a:rPr lang="en-US" dirty="0"/>
              <a:t>            if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pygame.QUIT</a:t>
            </a:r>
            <a:r>
              <a:rPr lang="en-US" dirty="0"/>
              <a:t>:  # Window close button</a:t>
            </a:r>
          </a:p>
          <a:p>
            <a:r>
              <a:rPr lang="en-US" dirty="0"/>
              <a:t>                running = False</a:t>
            </a:r>
          </a:p>
          <a:p>
            <a:r>
              <a:rPr lang="en-US" dirty="0"/>
              <a:t>        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pygame.MOUSEBUTTONDOWN</a:t>
            </a:r>
            <a:r>
              <a:rPr lang="en-US" dirty="0"/>
              <a:t> or \</a:t>
            </a:r>
          </a:p>
          <a:p>
            <a:r>
              <a:rPr lang="en-US" dirty="0"/>
              <a:t>                 (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pygame.MOUSEMOTION</a:t>
            </a:r>
            <a:r>
              <a:rPr lang="en-US" dirty="0"/>
              <a:t> and drawing):  # Mouse click</a:t>
            </a:r>
          </a:p>
          <a:p>
            <a:r>
              <a:rPr lang="en-US" dirty="0"/>
              <a:t>                drawing = True</a:t>
            </a:r>
          </a:p>
          <a:p>
            <a:r>
              <a:rPr lang="en-US" dirty="0"/>
              <a:t>                x, y = </a:t>
            </a:r>
            <a:r>
              <a:rPr lang="en-US" dirty="0" err="1"/>
              <a:t>event.pos</a:t>
            </a:r>
            <a:r>
              <a:rPr lang="en-US" dirty="0"/>
              <a:t>  # Get click position</a:t>
            </a:r>
          </a:p>
          <a:p>
            <a:r>
              <a:rPr lang="en-US" dirty="0"/>
              <a:t>                </a:t>
            </a:r>
            <a:r>
              <a:rPr lang="en-US" dirty="0" err="1"/>
              <a:t>x_scaled</a:t>
            </a:r>
            <a:r>
              <a:rPr lang="en-US" dirty="0"/>
              <a:t>, </a:t>
            </a:r>
            <a:r>
              <a:rPr lang="en-US" dirty="0" err="1"/>
              <a:t>y_scaled</a:t>
            </a:r>
            <a:r>
              <a:rPr lang="en-US" dirty="0"/>
              <a:t> = x//SQUARE_SIZE, y//SQUARE_SIZE</a:t>
            </a:r>
          </a:p>
          <a:p>
            <a:r>
              <a:rPr lang="en-US" dirty="0"/>
              <a:t>                store[</a:t>
            </a:r>
            <a:r>
              <a:rPr lang="en-US" dirty="0" err="1"/>
              <a:t>y_scaled</a:t>
            </a:r>
            <a:r>
              <a:rPr lang="en-US" dirty="0"/>
              <a:t>][</a:t>
            </a:r>
            <a:r>
              <a:rPr lang="en-US" dirty="0" err="1"/>
              <a:t>x_scaled</a:t>
            </a:r>
            <a:r>
              <a:rPr lang="en-US" dirty="0"/>
              <a:t>] = 255 #make pixel white</a:t>
            </a:r>
          </a:p>
          <a:p>
            <a:r>
              <a:rPr lang="en-US" dirty="0"/>
              <a:t>                redraw()</a:t>
            </a:r>
          </a:p>
          <a:p>
            <a:r>
              <a:rPr lang="en-US" dirty="0"/>
              <a:t>            else:</a:t>
            </a:r>
          </a:p>
          <a:p>
            <a:r>
              <a:rPr lang="en-US" dirty="0"/>
              <a:t>                drawing = False</a:t>
            </a:r>
          </a:p>
          <a:p>
            <a:endParaRPr lang="en-US" dirty="0"/>
          </a:p>
          <a:p>
            <a:r>
              <a:rPr lang="en-US" dirty="0"/>
              <a:t>    # Quit </a:t>
            </a:r>
            <a:r>
              <a:rPr lang="en-US" dirty="0" err="1"/>
              <a:t>pygame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pygame.quit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run()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0528B-5AC8-0868-105D-C871EC42C7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6898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F9C6E-D16F-41EF-29E8-396823E39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626BA7-CCDE-313A-F7CA-8FF4F8C24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E512B-45C3-FDB7-5FF9-9F7CA6427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This version of the file will display the image of what the user drew after</a:t>
            </a:r>
          </a:p>
          <a:p>
            <a:r>
              <a:rPr lang="en-US" dirty="0"/>
              <a:t>#they stop holding down the mouse</a:t>
            </a:r>
          </a:p>
          <a:p>
            <a:r>
              <a:rPr lang="en-US" dirty="0"/>
              <a:t>import </a:t>
            </a:r>
            <a:r>
              <a:rPr lang="en-US" dirty="0" err="1"/>
              <a:t>pygame</a:t>
            </a:r>
            <a:endParaRPr lang="en-US" dirty="0"/>
          </a:p>
          <a:p>
            <a:endParaRPr lang="en-US" dirty="0"/>
          </a:p>
          <a:p>
            <a:r>
              <a:rPr lang="en-US" dirty="0"/>
              <a:t>size=28</a:t>
            </a:r>
          </a:p>
          <a:p>
            <a:r>
              <a:rPr lang="en-US" dirty="0"/>
              <a:t># Square size instead of a 1x1 pixel, ratio 10x10</a:t>
            </a:r>
          </a:p>
          <a:p>
            <a:r>
              <a:rPr lang="en-US" dirty="0"/>
              <a:t># so it's easier to draw</a:t>
            </a:r>
          </a:p>
          <a:p>
            <a:r>
              <a:rPr lang="en-US" dirty="0"/>
              <a:t># visually scale whole image up by 10 (does not change what is stored)</a:t>
            </a:r>
          </a:p>
          <a:p>
            <a:r>
              <a:rPr lang="en-US" dirty="0"/>
              <a:t># Window size</a:t>
            </a:r>
          </a:p>
          <a:p>
            <a:r>
              <a:rPr lang="en-US" dirty="0"/>
              <a:t>SQUARE_SIZE = 10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def run():</a:t>
            </a:r>
          </a:p>
          <a:p>
            <a:r>
              <a:rPr lang="en-US" dirty="0"/>
              <a:t>    </a:t>
            </a:r>
            <a:r>
              <a:rPr lang="en-US" dirty="0" err="1"/>
              <a:t>pygame.init</a:t>
            </a:r>
            <a:r>
              <a:rPr lang="en-US" dirty="0"/>
              <a:t>()</a:t>
            </a:r>
          </a:p>
          <a:p>
            <a:r>
              <a:rPr lang="en-US" dirty="0"/>
              <a:t>    WIDTH, HEIGHT = size*SQUARE_SIZE, size*SQUARE_SIZE</a:t>
            </a:r>
          </a:p>
          <a:p>
            <a:r>
              <a:rPr lang="en-US" dirty="0"/>
              <a:t>    screen = </a:t>
            </a:r>
            <a:r>
              <a:rPr lang="en-US" dirty="0" err="1"/>
              <a:t>pygame.display.set_mode</a:t>
            </a:r>
            <a:r>
              <a:rPr lang="en-US" dirty="0"/>
              <a:t>((WIDTH, HEIGHT))</a:t>
            </a:r>
          </a:p>
          <a:p>
            <a:r>
              <a:rPr lang="en-US" dirty="0"/>
              <a:t>    </a:t>
            </a:r>
            <a:r>
              <a:rPr lang="en-US" dirty="0" err="1"/>
              <a:t>pygame.display.set_caption</a:t>
            </a:r>
            <a:r>
              <a:rPr lang="en-US" dirty="0"/>
              <a:t>("Draw a Digit (c to clear)")</a:t>
            </a:r>
          </a:p>
          <a:p>
            <a:endParaRPr lang="en-US" dirty="0"/>
          </a:p>
          <a:p>
            <a:r>
              <a:rPr lang="en-US" dirty="0"/>
              <a:t>    #store a 28x28 list of 0s, we will use this in redisplay when</a:t>
            </a:r>
          </a:p>
          <a:p>
            <a:r>
              <a:rPr lang="en-US" dirty="0"/>
              <a:t>    #we clear the board</a:t>
            </a:r>
          </a:p>
          <a:p>
            <a:r>
              <a:rPr lang="en-US" dirty="0"/>
              <a:t>    store = [[0]*size for _ in range(size)]</a:t>
            </a:r>
          </a:p>
          <a:p>
            <a:endParaRPr lang="en-US" dirty="0"/>
          </a:p>
          <a:p>
            <a:r>
              <a:rPr lang="en-US" dirty="0"/>
              <a:t>    def redraw():</a:t>
            </a:r>
          </a:p>
          <a:p>
            <a:r>
              <a:rPr lang="en-US" dirty="0"/>
              <a:t>        #print("calling redraw")</a:t>
            </a:r>
          </a:p>
          <a:p>
            <a:r>
              <a:rPr lang="en-US" dirty="0"/>
              <a:t>        for row in range(0, </a:t>
            </a:r>
            <a:r>
              <a:rPr lang="en-US" dirty="0" err="1"/>
              <a:t>len</a:t>
            </a:r>
            <a:r>
              <a:rPr lang="en-US" dirty="0"/>
              <a:t>(store)):</a:t>
            </a:r>
          </a:p>
          <a:p>
            <a:r>
              <a:rPr lang="en-US" dirty="0"/>
              <a:t>            for col in range(0, </a:t>
            </a:r>
            <a:r>
              <a:rPr lang="en-US" dirty="0" err="1"/>
              <a:t>len</a:t>
            </a:r>
            <a:r>
              <a:rPr lang="en-US" dirty="0"/>
              <a:t>(store[0])):</a:t>
            </a:r>
          </a:p>
          <a:p>
            <a:r>
              <a:rPr lang="en-US" dirty="0"/>
              <a:t>                #draw a square to represent store[row][col]</a:t>
            </a:r>
          </a:p>
          <a:p>
            <a:r>
              <a:rPr lang="en-US" dirty="0"/>
              <a:t>                #Rect need the top left corner (</a:t>
            </a:r>
            <a:r>
              <a:rPr lang="en-US" dirty="0" err="1"/>
              <a:t>x,y</a:t>
            </a:r>
            <a:r>
              <a:rPr lang="en-US" dirty="0"/>
              <a:t>) is (col, row), and width and height</a:t>
            </a:r>
          </a:p>
          <a:p>
            <a:r>
              <a:rPr lang="en-US" dirty="0"/>
              <a:t>                </a:t>
            </a:r>
            <a:r>
              <a:rPr lang="en-US" dirty="0" err="1"/>
              <a:t>rect</a:t>
            </a:r>
            <a:r>
              <a:rPr lang="en-US" dirty="0"/>
              <a:t> = </a:t>
            </a:r>
            <a:r>
              <a:rPr lang="en-US" dirty="0" err="1"/>
              <a:t>pygame.Rect</a:t>
            </a:r>
            <a:r>
              <a:rPr lang="en-US" dirty="0"/>
              <a:t>(col*SQUARE_SIZE,</a:t>
            </a:r>
          </a:p>
          <a:p>
            <a:r>
              <a:rPr lang="en-US" dirty="0"/>
              <a:t>                                   row*SQUARE_SIZE,</a:t>
            </a:r>
          </a:p>
          <a:p>
            <a:r>
              <a:rPr lang="en-US" dirty="0"/>
              <a:t>                                   SQUARE_SIZE, SQUARE_SIZE)</a:t>
            </a:r>
          </a:p>
          <a:p>
            <a:r>
              <a:rPr lang="en-US" dirty="0"/>
              <a:t>                </a:t>
            </a:r>
            <a:r>
              <a:rPr lang="en-US" dirty="0" err="1"/>
              <a:t>pygame.draw.rect</a:t>
            </a:r>
            <a:r>
              <a:rPr lang="en-US" dirty="0"/>
              <a:t>(screen, (store[row][col], store[row][col], store[row][col]),</a:t>
            </a:r>
            <a:r>
              <a:rPr lang="en-US" dirty="0" err="1"/>
              <a:t>rect</a:t>
            </a:r>
            <a:r>
              <a:rPr lang="en-US" dirty="0"/>
              <a:t>)</a:t>
            </a:r>
          </a:p>
          <a:p>
            <a:r>
              <a:rPr lang="en-US" dirty="0"/>
              <a:t>        </a:t>
            </a:r>
            <a:r>
              <a:rPr lang="en-US" dirty="0" err="1"/>
              <a:t>pygame.display.update</a:t>
            </a:r>
            <a:r>
              <a:rPr lang="en-US" dirty="0"/>
              <a:t>()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redraw()</a:t>
            </a:r>
          </a:p>
          <a:p>
            <a:r>
              <a:rPr lang="en-US" dirty="0"/>
              <a:t>     </a:t>
            </a:r>
          </a:p>
          <a:p>
            <a:r>
              <a:rPr lang="en-US" dirty="0"/>
              <a:t>    running = True</a:t>
            </a:r>
          </a:p>
          <a:p>
            <a:r>
              <a:rPr lang="en-US" dirty="0"/>
              <a:t>    drawing = False</a:t>
            </a:r>
          </a:p>
          <a:p>
            <a:r>
              <a:rPr lang="en-US" dirty="0"/>
              <a:t>    while running:</a:t>
            </a:r>
          </a:p>
          <a:p>
            <a:r>
              <a:rPr lang="en-US" dirty="0"/>
              <a:t>        for event in </a:t>
            </a:r>
            <a:r>
              <a:rPr lang="en-US" dirty="0" err="1"/>
              <a:t>pygame.event.get</a:t>
            </a:r>
            <a:r>
              <a:rPr lang="en-US" dirty="0"/>
              <a:t>():</a:t>
            </a:r>
          </a:p>
          <a:p>
            <a:r>
              <a:rPr lang="en-US" dirty="0"/>
              <a:t>            if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pygame.QUIT</a:t>
            </a:r>
            <a:r>
              <a:rPr lang="en-US" dirty="0"/>
              <a:t>:  # Window close button</a:t>
            </a:r>
          </a:p>
          <a:p>
            <a:r>
              <a:rPr lang="en-US" dirty="0"/>
              <a:t>                running = False</a:t>
            </a:r>
          </a:p>
          <a:p>
            <a:r>
              <a:rPr lang="en-US" dirty="0"/>
              <a:t>        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pygame.MOUSEBUTTONDOWN</a:t>
            </a:r>
            <a:r>
              <a:rPr lang="en-US" dirty="0"/>
              <a:t> or \</a:t>
            </a:r>
          </a:p>
          <a:p>
            <a:r>
              <a:rPr lang="en-US" dirty="0"/>
              <a:t>                 (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pygame.MOUSEMOTION</a:t>
            </a:r>
            <a:r>
              <a:rPr lang="en-US" dirty="0"/>
              <a:t> and drawing):  # Mouse click</a:t>
            </a:r>
          </a:p>
          <a:p>
            <a:r>
              <a:rPr lang="en-US" dirty="0"/>
              <a:t>                drawing = True</a:t>
            </a:r>
          </a:p>
          <a:p>
            <a:r>
              <a:rPr lang="en-US" dirty="0"/>
              <a:t>                x, y = </a:t>
            </a:r>
            <a:r>
              <a:rPr lang="en-US" dirty="0" err="1"/>
              <a:t>event.pos</a:t>
            </a:r>
            <a:r>
              <a:rPr lang="en-US" dirty="0"/>
              <a:t>  # Get click position</a:t>
            </a:r>
          </a:p>
          <a:p>
            <a:r>
              <a:rPr lang="en-US" dirty="0"/>
              <a:t>                </a:t>
            </a:r>
            <a:r>
              <a:rPr lang="en-US" dirty="0" err="1"/>
              <a:t>x_scaled</a:t>
            </a:r>
            <a:r>
              <a:rPr lang="en-US" dirty="0"/>
              <a:t>, </a:t>
            </a:r>
            <a:r>
              <a:rPr lang="en-US" dirty="0" err="1"/>
              <a:t>y_scaled</a:t>
            </a:r>
            <a:r>
              <a:rPr lang="en-US" dirty="0"/>
              <a:t> = x//SQUARE_SIZE, y//SQUARE_SIZE</a:t>
            </a:r>
          </a:p>
          <a:p>
            <a:r>
              <a:rPr lang="en-US" dirty="0"/>
              <a:t>                store[</a:t>
            </a:r>
            <a:r>
              <a:rPr lang="en-US" dirty="0" err="1"/>
              <a:t>y_scaled</a:t>
            </a:r>
            <a:r>
              <a:rPr lang="en-US" dirty="0"/>
              <a:t>][</a:t>
            </a:r>
            <a:r>
              <a:rPr lang="en-US" dirty="0" err="1"/>
              <a:t>x_scaled</a:t>
            </a:r>
            <a:r>
              <a:rPr lang="en-US" dirty="0"/>
              <a:t>] = 255 #make pixel white</a:t>
            </a:r>
          </a:p>
          <a:p>
            <a:r>
              <a:rPr lang="en-US" dirty="0"/>
              <a:t>                redraw()</a:t>
            </a:r>
          </a:p>
          <a:p>
            <a:r>
              <a:rPr lang="en-US" dirty="0"/>
              <a:t>        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pygame.MOUSEBUTTONUP</a:t>
            </a:r>
            <a:r>
              <a:rPr lang="en-US" dirty="0"/>
              <a:t>:  # Mouse button released</a:t>
            </a:r>
          </a:p>
          <a:p>
            <a:r>
              <a:rPr lang="en-US" dirty="0"/>
              <a:t>                drawing = False</a:t>
            </a:r>
          </a:p>
          <a:p>
            <a:r>
              <a:rPr lang="en-US" dirty="0"/>
              <a:t>                #print(store)</a:t>
            </a:r>
          </a:p>
          <a:p>
            <a:r>
              <a:rPr lang="en-US" dirty="0"/>
              <a:t>                for r in range(size):</a:t>
            </a:r>
          </a:p>
          <a:p>
            <a:r>
              <a:rPr lang="en-US" dirty="0"/>
              <a:t>                    for c in range(size):</a:t>
            </a:r>
          </a:p>
          <a:p>
            <a:r>
              <a:rPr lang="en-US" dirty="0"/>
              <a:t>                        if store[r][c] &gt; 0:</a:t>
            </a:r>
          </a:p>
          <a:p>
            <a:r>
              <a:rPr lang="en-US" dirty="0"/>
              <a:t>                            print("*", end="")</a:t>
            </a:r>
          </a:p>
          <a:p>
            <a:r>
              <a:rPr lang="en-US" dirty="0"/>
              <a:t>                        else:</a:t>
            </a:r>
          </a:p>
          <a:p>
            <a:r>
              <a:rPr lang="en-US" dirty="0"/>
              <a:t>                            print(" ", end="")</a:t>
            </a:r>
          </a:p>
          <a:p>
            <a:r>
              <a:rPr lang="en-US" dirty="0"/>
              <a:t>                    print()#newline</a:t>
            </a:r>
          </a:p>
          <a:p>
            <a:endParaRPr lang="en-US" dirty="0"/>
          </a:p>
          <a:p>
            <a:r>
              <a:rPr lang="en-US" dirty="0"/>
              <a:t>    # Quit </a:t>
            </a:r>
            <a:r>
              <a:rPr lang="en-US" dirty="0" err="1"/>
              <a:t>pygame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pygame.quit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run()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1AB05-D184-AD8E-B9FB-2103C71B8F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3432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B700C-6363-C81A-E5DA-7C64AD7CC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B752B5-8F33-C674-8F40-010384AB4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25F435-5F1A-DEAF-8D3C-1A67C2CF9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>
                <a:effectLst/>
                <a:latin typeface="Helvetica" pitchFamily="2" charset="0"/>
              </a:rPr>
            </a:br>
            <a:endParaRPr lang="en-US" dirty="0">
              <a:effectLst/>
              <a:latin typeface="Helvetica" pitchFamily="2" charset="0"/>
            </a:endParaRPr>
          </a:p>
          <a:p>
            <a:r>
              <a:rPr lang="en-US" dirty="0"/>
              <a:t>#Give the user a way to erase the drawing and start again if they type ‘c’</a:t>
            </a:r>
          </a:p>
          <a:p>
            <a:r>
              <a:rPr lang="en-US" dirty="0"/>
              <a:t>#Give the user a way to erase the drawing and start again if they type ‘c’</a:t>
            </a:r>
          </a:p>
          <a:p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pygame</a:t>
            </a:r>
            <a:endParaRPr lang="en-US" dirty="0"/>
          </a:p>
          <a:p>
            <a:endParaRPr lang="en-US" dirty="0"/>
          </a:p>
          <a:p>
            <a:r>
              <a:rPr lang="en-US" dirty="0"/>
              <a:t>size=28</a:t>
            </a:r>
          </a:p>
          <a:p>
            <a:r>
              <a:rPr lang="en-US" dirty="0"/>
              <a:t># Square size instead of a 1x1 pixel, ratio 10x10</a:t>
            </a:r>
          </a:p>
          <a:p>
            <a:r>
              <a:rPr lang="en-US" dirty="0"/>
              <a:t># so it's easier to draw</a:t>
            </a:r>
          </a:p>
          <a:p>
            <a:r>
              <a:rPr lang="en-US" dirty="0"/>
              <a:t># visually scale whole image up by 10 (does not change what is stored)</a:t>
            </a:r>
          </a:p>
          <a:p>
            <a:r>
              <a:rPr lang="en-US" dirty="0"/>
              <a:t># Window size</a:t>
            </a:r>
          </a:p>
          <a:p>
            <a:r>
              <a:rPr lang="en-US" dirty="0"/>
              <a:t>SQUARE_SIZE = 10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def run():</a:t>
            </a:r>
          </a:p>
          <a:p>
            <a:r>
              <a:rPr lang="en-US" dirty="0"/>
              <a:t>    </a:t>
            </a:r>
            <a:r>
              <a:rPr lang="en-US" dirty="0" err="1"/>
              <a:t>pygame.init</a:t>
            </a:r>
            <a:r>
              <a:rPr lang="en-US" dirty="0"/>
              <a:t>()</a:t>
            </a:r>
          </a:p>
          <a:p>
            <a:r>
              <a:rPr lang="en-US" dirty="0"/>
              <a:t>    WIDTH, HEIGHT = size*SQUARE_SIZE, size*SQUARE_SIZE</a:t>
            </a:r>
          </a:p>
          <a:p>
            <a:r>
              <a:rPr lang="en-US" dirty="0"/>
              <a:t>    screen = </a:t>
            </a:r>
            <a:r>
              <a:rPr lang="en-US" dirty="0" err="1"/>
              <a:t>pygame.display.set_mode</a:t>
            </a:r>
            <a:r>
              <a:rPr lang="en-US" dirty="0"/>
              <a:t>((WIDTH, HEIGHT))</a:t>
            </a:r>
          </a:p>
          <a:p>
            <a:r>
              <a:rPr lang="en-US" dirty="0"/>
              <a:t>    </a:t>
            </a:r>
            <a:r>
              <a:rPr lang="en-US" dirty="0" err="1"/>
              <a:t>pygame.display.set_caption</a:t>
            </a:r>
            <a:r>
              <a:rPr lang="en-US" dirty="0"/>
              <a:t>("Draw a Digit (c to clear)")</a:t>
            </a:r>
          </a:p>
          <a:p>
            <a:endParaRPr lang="en-US" dirty="0"/>
          </a:p>
          <a:p>
            <a:r>
              <a:rPr lang="en-US" dirty="0"/>
              <a:t>    #store a 28x28 list of 0s, we will use this in redisplay when</a:t>
            </a:r>
          </a:p>
          <a:p>
            <a:r>
              <a:rPr lang="en-US" dirty="0"/>
              <a:t>    #we clear the board</a:t>
            </a:r>
          </a:p>
          <a:p>
            <a:r>
              <a:rPr lang="en-US" dirty="0"/>
              <a:t>    store = [[0]*size for _ in range(size)]</a:t>
            </a:r>
          </a:p>
          <a:p>
            <a:r>
              <a:rPr lang="en-US" dirty="0"/>
              <a:t>    #store[0][0]=255 #hard code 1 pixel drawn</a:t>
            </a:r>
          </a:p>
          <a:p>
            <a:r>
              <a:rPr lang="en-US" dirty="0"/>
              <a:t>    #store[5][15]=255</a:t>
            </a:r>
          </a:p>
          <a:p>
            <a:r>
              <a:rPr lang="en-US" dirty="0"/>
              <a:t>    #store[27][27]=255 #hard code 1 pixel drawn</a:t>
            </a:r>
          </a:p>
          <a:p>
            <a:endParaRPr lang="en-US" dirty="0"/>
          </a:p>
          <a:p>
            <a:r>
              <a:rPr lang="en-US" dirty="0"/>
              <a:t>    def redraw():</a:t>
            </a:r>
          </a:p>
          <a:p>
            <a:r>
              <a:rPr lang="en-US" dirty="0"/>
              <a:t>        #print("calling redraw")</a:t>
            </a:r>
          </a:p>
          <a:p>
            <a:r>
              <a:rPr lang="en-US" dirty="0"/>
              <a:t>        for row in range(0, </a:t>
            </a:r>
            <a:r>
              <a:rPr lang="en-US" dirty="0" err="1"/>
              <a:t>len</a:t>
            </a:r>
            <a:r>
              <a:rPr lang="en-US" dirty="0"/>
              <a:t>(store)):</a:t>
            </a:r>
          </a:p>
          <a:p>
            <a:r>
              <a:rPr lang="en-US" dirty="0"/>
              <a:t>            for col in range(0, </a:t>
            </a:r>
            <a:r>
              <a:rPr lang="en-US" dirty="0" err="1"/>
              <a:t>len</a:t>
            </a:r>
            <a:r>
              <a:rPr lang="en-US" dirty="0"/>
              <a:t>(store[0])):</a:t>
            </a:r>
          </a:p>
          <a:p>
            <a:r>
              <a:rPr lang="en-US" dirty="0"/>
              <a:t>                #draw a square to represent store[row][col]</a:t>
            </a:r>
          </a:p>
          <a:p>
            <a:r>
              <a:rPr lang="en-US" dirty="0"/>
              <a:t>                #Rect need the top left corner (</a:t>
            </a:r>
            <a:r>
              <a:rPr lang="en-US" dirty="0" err="1"/>
              <a:t>x,y</a:t>
            </a:r>
            <a:r>
              <a:rPr lang="en-US" dirty="0"/>
              <a:t>) is (col, row), and width and height</a:t>
            </a:r>
          </a:p>
          <a:p>
            <a:r>
              <a:rPr lang="en-US" dirty="0"/>
              <a:t>                </a:t>
            </a:r>
            <a:r>
              <a:rPr lang="en-US" dirty="0" err="1"/>
              <a:t>rect</a:t>
            </a:r>
            <a:r>
              <a:rPr lang="en-US" dirty="0"/>
              <a:t> = </a:t>
            </a:r>
            <a:r>
              <a:rPr lang="en-US" dirty="0" err="1"/>
              <a:t>pygame.Rect</a:t>
            </a:r>
            <a:r>
              <a:rPr lang="en-US" dirty="0"/>
              <a:t>(col*SQUARE_SIZE,</a:t>
            </a:r>
          </a:p>
          <a:p>
            <a:r>
              <a:rPr lang="en-US" dirty="0"/>
              <a:t>                                   row*SQUARE_SIZE,</a:t>
            </a:r>
          </a:p>
          <a:p>
            <a:r>
              <a:rPr lang="en-US" dirty="0"/>
              <a:t>                                   SQUARE_SIZE, SQUARE_SIZE)</a:t>
            </a:r>
          </a:p>
          <a:p>
            <a:r>
              <a:rPr lang="en-US" dirty="0"/>
              <a:t>                </a:t>
            </a:r>
            <a:r>
              <a:rPr lang="en-US" dirty="0" err="1"/>
              <a:t>pygame.draw.rect</a:t>
            </a:r>
            <a:r>
              <a:rPr lang="en-US" dirty="0"/>
              <a:t>(screen, (store[row][col], store[row][col], store[row][col]),</a:t>
            </a:r>
            <a:r>
              <a:rPr lang="en-US" dirty="0" err="1"/>
              <a:t>rect</a:t>
            </a:r>
            <a:r>
              <a:rPr lang="en-US" dirty="0"/>
              <a:t>)</a:t>
            </a:r>
          </a:p>
          <a:p>
            <a:r>
              <a:rPr lang="en-US" dirty="0"/>
              <a:t>        </a:t>
            </a:r>
            <a:r>
              <a:rPr lang="en-US" dirty="0" err="1"/>
              <a:t>pygame.display.update</a:t>
            </a:r>
            <a:r>
              <a:rPr lang="en-US" dirty="0"/>
              <a:t>()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redraw()</a:t>
            </a:r>
          </a:p>
          <a:p>
            <a:r>
              <a:rPr lang="en-US" dirty="0"/>
              <a:t>     </a:t>
            </a:r>
          </a:p>
          <a:p>
            <a:r>
              <a:rPr lang="en-US" dirty="0"/>
              <a:t>    running = True</a:t>
            </a:r>
          </a:p>
          <a:p>
            <a:r>
              <a:rPr lang="en-US" dirty="0"/>
              <a:t>    drawing = False</a:t>
            </a:r>
          </a:p>
          <a:p>
            <a:r>
              <a:rPr lang="en-US" dirty="0"/>
              <a:t>    while running:</a:t>
            </a:r>
          </a:p>
          <a:p>
            <a:r>
              <a:rPr lang="en-US" dirty="0"/>
              <a:t>        for event in </a:t>
            </a:r>
            <a:r>
              <a:rPr lang="en-US" dirty="0" err="1"/>
              <a:t>pygame.event.get</a:t>
            </a:r>
            <a:r>
              <a:rPr lang="en-US" dirty="0"/>
              <a:t>():</a:t>
            </a:r>
          </a:p>
          <a:p>
            <a:r>
              <a:rPr lang="en-US" dirty="0"/>
              <a:t>            if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pygame.QUIT</a:t>
            </a:r>
            <a:r>
              <a:rPr lang="en-US" dirty="0"/>
              <a:t>:  # Window close button</a:t>
            </a:r>
          </a:p>
          <a:p>
            <a:r>
              <a:rPr lang="en-US" dirty="0"/>
              <a:t>                running = False</a:t>
            </a:r>
          </a:p>
          <a:p>
            <a:r>
              <a:rPr lang="en-US" dirty="0"/>
              <a:t>        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pygame.MOUSEBUTTONDOWN</a:t>
            </a:r>
            <a:r>
              <a:rPr lang="en-US" dirty="0"/>
              <a:t> or \</a:t>
            </a:r>
          </a:p>
          <a:p>
            <a:r>
              <a:rPr lang="en-US" dirty="0"/>
              <a:t>                 (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pygame.MOUSEMOTION</a:t>
            </a:r>
            <a:r>
              <a:rPr lang="en-US" dirty="0"/>
              <a:t> and drawing):  # Mouse click</a:t>
            </a:r>
          </a:p>
          <a:p>
            <a:r>
              <a:rPr lang="en-US" dirty="0"/>
              <a:t>                drawing = True</a:t>
            </a:r>
          </a:p>
          <a:p>
            <a:r>
              <a:rPr lang="en-US" dirty="0"/>
              <a:t>                x, y = </a:t>
            </a:r>
            <a:r>
              <a:rPr lang="en-US" dirty="0" err="1"/>
              <a:t>event.pos</a:t>
            </a:r>
            <a:r>
              <a:rPr lang="en-US" dirty="0"/>
              <a:t>  # Get click position</a:t>
            </a:r>
          </a:p>
          <a:p>
            <a:r>
              <a:rPr lang="en-US" dirty="0"/>
              <a:t>                </a:t>
            </a:r>
            <a:r>
              <a:rPr lang="en-US" dirty="0" err="1"/>
              <a:t>x_scaled</a:t>
            </a:r>
            <a:r>
              <a:rPr lang="en-US" dirty="0"/>
              <a:t>, </a:t>
            </a:r>
            <a:r>
              <a:rPr lang="en-US" dirty="0" err="1"/>
              <a:t>y_scaled</a:t>
            </a:r>
            <a:r>
              <a:rPr lang="en-US" dirty="0"/>
              <a:t> = x//SQUARE_SIZE, y//SQUARE_SIZE</a:t>
            </a:r>
          </a:p>
          <a:p>
            <a:r>
              <a:rPr lang="en-US" dirty="0"/>
              <a:t>                store[</a:t>
            </a:r>
            <a:r>
              <a:rPr lang="en-US" dirty="0" err="1"/>
              <a:t>y_scaled</a:t>
            </a:r>
            <a:r>
              <a:rPr lang="en-US" dirty="0"/>
              <a:t>][</a:t>
            </a:r>
            <a:r>
              <a:rPr lang="en-US" dirty="0" err="1"/>
              <a:t>x_scaled</a:t>
            </a:r>
            <a:r>
              <a:rPr lang="en-US" dirty="0"/>
              <a:t>] = 255 #make pixel white</a:t>
            </a:r>
          </a:p>
          <a:p>
            <a:r>
              <a:rPr lang="en-US" dirty="0"/>
              <a:t>                redraw()</a:t>
            </a:r>
          </a:p>
          <a:p>
            <a:r>
              <a:rPr lang="en-US" dirty="0"/>
              <a:t>        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pygame.MOUSEBUTTONUP</a:t>
            </a:r>
            <a:r>
              <a:rPr lang="en-US" dirty="0"/>
              <a:t>:  # Mouse button released</a:t>
            </a:r>
          </a:p>
          <a:p>
            <a:r>
              <a:rPr lang="en-US" dirty="0"/>
              <a:t>                drawing = False</a:t>
            </a:r>
          </a:p>
          <a:p>
            <a:r>
              <a:rPr lang="en-US" dirty="0"/>
              <a:t>                #print(store)</a:t>
            </a:r>
          </a:p>
          <a:p>
            <a:r>
              <a:rPr lang="en-US" dirty="0"/>
              <a:t>                for r in range(size):</a:t>
            </a:r>
          </a:p>
          <a:p>
            <a:r>
              <a:rPr lang="en-US" dirty="0"/>
              <a:t>                    for c in range(size):</a:t>
            </a:r>
          </a:p>
          <a:p>
            <a:r>
              <a:rPr lang="en-US" dirty="0"/>
              <a:t>                        if store[r][c] &gt; 0:</a:t>
            </a:r>
          </a:p>
          <a:p>
            <a:r>
              <a:rPr lang="en-US" dirty="0"/>
              <a:t>                            print("*", end="")</a:t>
            </a:r>
          </a:p>
          <a:p>
            <a:r>
              <a:rPr lang="en-US" dirty="0"/>
              <a:t>                        else:</a:t>
            </a:r>
          </a:p>
          <a:p>
            <a:r>
              <a:rPr lang="en-US" dirty="0"/>
              <a:t>                            print(" ", end="")</a:t>
            </a:r>
          </a:p>
          <a:p>
            <a:r>
              <a:rPr lang="en-US" dirty="0"/>
              <a:t>                    print()#newline</a:t>
            </a:r>
          </a:p>
          <a:p>
            <a:r>
              <a:rPr lang="en-US" dirty="0"/>
              <a:t>        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pygame.KEYDOWN</a:t>
            </a:r>
            <a:r>
              <a:rPr lang="en-US" dirty="0"/>
              <a:t>: #if c is typed, clear screen</a:t>
            </a:r>
          </a:p>
          <a:p>
            <a:r>
              <a:rPr lang="en-US" dirty="0"/>
              <a:t>                if </a:t>
            </a:r>
            <a:r>
              <a:rPr lang="en-US" dirty="0" err="1"/>
              <a:t>event.key</a:t>
            </a:r>
            <a:r>
              <a:rPr lang="en-US" dirty="0"/>
              <a:t> == </a:t>
            </a:r>
            <a:r>
              <a:rPr lang="en-US" dirty="0" err="1"/>
              <a:t>pygame.K_c</a:t>
            </a:r>
            <a:r>
              <a:rPr lang="en-US" dirty="0"/>
              <a:t>:</a:t>
            </a:r>
          </a:p>
          <a:p>
            <a:r>
              <a:rPr lang="en-US" dirty="0"/>
              <a:t>                    store = [[0]*size for _ in range(size)]</a:t>
            </a:r>
          </a:p>
          <a:p>
            <a:r>
              <a:rPr lang="en-US" dirty="0"/>
              <a:t>                    redraw()</a:t>
            </a:r>
          </a:p>
          <a:p>
            <a:endParaRPr lang="en-US" dirty="0"/>
          </a:p>
          <a:p>
            <a:r>
              <a:rPr lang="en-US" dirty="0"/>
              <a:t>    # Quit </a:t>
            </a:r>
            <a:r>
              <a:rPr lang="en-US" dirty="0" err="1"/>
              <a:t>pygame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pygame.quit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run()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BE56D-5177-1B0B-D256-DFF8C6BA1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3402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0076E-70B8-0AC4-4020-4FD8E1039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4C2DBD-5BF8-B695-734D-9FAFAF36B5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56B137-9477-1221-2D8C-996A1880B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update the code so that all the magic happens when you call the run function.</a:t>
            </a:r>
          </a:p>
          <a:p>
            <a:r>
              <a:rPr lang="en-US" dirty="0"/>
              <a:t># the run function expects you to pass in a K-Nearest Neighbor model</a:t>
            </a:r>
          </a:p>
          <a:p>
            <a:r>
              <a:rPr lang="en-US" dirty="0"/>
              <a:t># that has already been trained. </a:t>
            </a:r>
          </a:p>
          <a:p>
            <a:r>
              <a:rPr lang="en-US" dirty="0"/>
              <a:t># flatten the 28x28 into a 1D array and call predict</a:t>
            </a:r>
          </a:p>
          <a:p>
            <a:r>
              <a:rPr lang="en-US" dirty="0"/>
              <a:t># </a:t>
            </a:r>
            <a:r>
              <a:rPr lang="en-US" dirty="0" err="1"/>
              <a:t>knn.predict</a:t>
            </a:r>
            <a:r>
              <a:rPr lang="en-US" dirty="0"/>
              <a:t>([</a:t>
            </a:r>
            <a:r>
              <a:rPr lang="en-US" dirty="0" err="1"/>
              <a:t>numpy_array</a:t>
            </a:r>
            <a:r>
              <a:rPr lang="en-US" dirty="0"/>
              <a:t>])</a:t>
            </a:r>
          </a:p>
          <a:p>
            <a:r>
              <a:rPr lang="en-US" dirty="0"/>
              <a:t>import </a:t>
            </a:r>
            <a:r>
              <a:rPr lang="en-US" dirty="0" err="1"/>
              <a:t>pygame</a:t>
            </a:r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endParaRPr lang="en-US" dirty="0"/>
          </a:p>
          <a:p>
            <a:r>
              <a:rPr lang="en-US" dirty="0"/>
              <a:t>size=28</a:t>
            </a:r>
          </a:p>
          <a:p>
            <a:r>
              <a:rPr lang="en-US" dirty="0"/>
              <a:t># Square size instead of a 1x1 pixel, ratio 10x10</a:t>
            </a:r>
          </a:p>
          <a:p>
            <a:r>
              <a:rPr lang="en-US" dirty="0"/>
              <a:t># so it's easier to draw</a:t>
            </a:r>
          </a:p>
          <a:p>
            <a:r>
              <a:rPr lang="en-US" dirty="0"/>
              <a:t># visually scale whole image up by 10 (does not change what is stored)</a:t>
            </a:r>
          </a:p>
          <a:p>
            <a:r>
              <a:rPr lang="en-US" dirty="0"/>
              <a:t># Window size</a:t>
            </a:r>
          </a:p>
          <a:p>
            <a:r>
              <a:rPr lang="en-US" dirty="0"/>
              <a:t>SQUARE_SIZE = 10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def run(</a:t>
            </a:r>
            <a:r>
              <a:rPr lang="en-US" dirty="0" err="1"/>
              <a:t>knn</a:t>
            </a:r>
            <a:r>
              <a:rPr lang="en-US" dirty="0"/>
              <a:t>):</a:t>
            </a:r>
          </a:p>
          <a:p>
            <a:r>
              <a:rPr lang="en-US" dirty="0"/>
              <a:t>    </a:t>
            </a:r>
            <a:r>
              <a:rPr lang="en-US" dirty="0" err="1"/>
              <a:t>pygame.init</a:t>
            </a:r>
            <a:r>
              <a:rPr lang="en-US" dirty="0"/>
              <a:t>()</a:t>
            </a:r>
          </a:p>
          <a:p>
            <a:r>
              <a:rPr lang="en-US" dirty="0"/>
              <a:t>    WIDTH, HEIGHT = size*SQUARE_SIZE, size*SQUARE_SIZE</a:t>
            </a:r>
          </a:p>
          <a:p>
            <a:r>
              <a:rPr lang="en-US" dirty="0"/>
              <a:t>    screen = </a:t>
            </a:r>
            <a:r>
              <a:rPr lang="en-US" dirty="0" err="1"/>
              <a:t>pygame.display.set_mode</a:t>
            </a:r>
            <a:r>
              <a:rPr lang="en-US" dirty="0"/>
              <a:t>((WIDTH, HEIGHT))</a:t>
            </a:r>
          </a:p>
          <a:p>
            <a:r>
              <a:rPr lang="en-US" dirty="0"/>
              <a:t>    </a:t>
            </a:r>
            <a:r>
              <a:rPr lang="en-US" dirty="0" err="1"/>
              <a:t>pygame.display.set_caption</a:t>
            </a:r>
            <a:r>
              <a:rPr lang="en-US" dirty="0"/>
              <a:t>("Draw a Digit (c to clear)")</a:t>
            </a:r>
          </a:p>
          <a:p>
            <a:endParaRPr lang="en-US" dirty="0"/>
          </a:p>
          <a:p>
            <a:r>
              <a:rPr lang="en-US" dirty="0"/>
              <a:t>    #store a 28x28 list of 0s, we will use this in redisplay when</a:t>
            </a:r>
          </a:p>
          <a:p>
            <a:r>
              <a:rPr lang="en-US" dirty="0"/>
              <a:t>    #we clear the board</a:t>
            </a:r>
          </a:p>
          <a:p>
            <a:r>
              <a:rPr lang="en-US" dirty="0"/>
              <a:t>    store = [[0]*size for _ in range(size)]</a:t>
            </a:r>
          </a:p>
          <a:p>
            <a:r>
              <a:rPr lang="en-US" dirty="0"/>
              <a:t>    #store[0][0]=255 #hard code 1 pixel drawn</a:t>
            </a:r>
          </a:p>
          <a:p>
            <a:r>
              <a:rPr lang="en-US" dirty="0"/>
              <a:t>    #store[5][15]=255</a:t>
            </a:r>
          </a:p>
          <a:p>
            <a:r>
              <a:rPr lang="en-US" dirty="0"/>
              <a:t>    #store[27][27]=255 #hard code 1 pixel drawn</a:t>
            </a:r>
          </a:p>
          <a:p>
            <a:endParaRPr lang="en-US" dirty="0"/>
          </a:p>
          <a:p>
            <a:r>
              <a:rPr lang="en-US" dirty="0"/>
              <a:t>    def redraw():</a:t>
            </a:r>
          </a:p>
          <a:p>
            <a:r>
              <a:rPr lang="en-US" dirty="0"/>
              <a:t>        #print("calling redraw")</a:t>
            </a:r>
          </a:p>
          <a:p>
            <a:r>
              <a:rPr lang="en-US" dirty="0"/>
              <a:t>        for row in range(0, </a:t>
            </a:r>
            <a:r>
              <a:rPr lang="en-US" dirty="0" err="1"/>
              <a:t>len</a:t>
            </a:r>
            <a:r>
              <a:rPr lang="en-US" dirty="0"/>
              <a:t>(store)):</a:t>
            </a:r>
          </a:p>
          <a:p>
            <a:r>
              <a:rPr lang="en-US" dirty="0"/>
              <a:t>            for col in range(0, </a:t>
            </a:r>
            <a:r>
              <a:rPr lang="en-US" dirty="0" err="1"/>
              <a:t>len</a:t>
            </a:r>
            <a:r>
              <a:rPr lang="en-US" dirty="0"/>
              <a:t>(store[0])):</a:t>
            </a:r>
          </a:p>
          <a:p>
            <a:r>
              <a:rPr lang="en-US" dirty="0"/>
              <a:t>                #draw a square to represent store[row][col]</a:t>
            </a:r>
          </a:p>
          <a:p>
            <a:r>
              <a:rPr lang="en-US" dirty="0"/>
              <a:t>                #Rect need the top left corner (</a:t>
            </a:r>
            <a:r>
              <a:rPr lang="en-US" dirty="0" err="1"/>
              <a:t>x,y</a:t>
            </a:r>
            <a:r>
              <a:rPr lang="en-US" dirty="0"/>
              <a:t>) is (col, row), and width and height</a:t>
            </a:r>
          </a:p>
          <a:p>
            <a:r>
              <a:rPr lang="en-US" dirty="0"/>
              <a:t>                </a:t>
            </a:r>
            <a:r>
              <a:rPr lang="en-US" dirty="0" err="1"/>
              <a:t>rect</a:t>
            </a:r>
            <a:r>
              <a:rPr lang="en-US" dirty="0"/>
              <a:t> = </a:t>
            </a:r>
            <a:r>
              <a:rPr lang="en-US" dirty="0" err="1"/>
              <a:t>pygame.Rect</a:t>
            </a:r>
            <a:r>
              <a:rPr lang="en-US" dirty="0"/>
              <a:t>(col*SQUARE_SIZE,</a:t>
            </a:r>
          </a:p>
          <a:p>
            <a:r>
              <a:rPr lang="en-US" dirty="0"/>
              <a:t>                                   row*SQUARE_SIZE,</a:t>
            </a:r>
          </a:p>
          <a:p>
            <a:r>
              <a:rPr lang="en-US" dirty="0"/>
              <a:t>                                   SQUARE_SIZE, SQUARE_SIZE)</a:t>
            </a:r>
          </a:p>
          <a:p>
            <a:r>
              <a:rPr lang="en-US" dirty="0"/>
              <a:t>                </a:t>
            </a:r>
            <a:r>
              <a:rPr lang="en-US" dirty="0" err="1"/>
              <a:t>pygame.draw.rect</a:t>
            </a:r>
            <a:r>
              <a:rPr lang="en-US" dirty="0"/>
              <a:t>(screen, (store[row][col], store[row][col], store[row][col]),</a:t>
            </a:r>
            <a:r>
              <a:rPr lang="en-US" dirty="0" err="1"/>
              <a:t>rect</a:t>
            </a:r>
            <a:r>
              <a:rPr lang="en-US" dirty="0"/>
              <a:t>)</a:t>
            </a:r>
          </a:p>
          <a:p>
            <a:r>
              <a:rPr lang="en-US" dirty="0"/>
              <a:t>        </a:t>
            </a:r>
            <a:r>
              <a:rPr lang="en-US" dirty="0" err="1"/>
              <a:t>pygame.display.update</a:t>
            </a:r>
            <a:r>
              <a:rPr lang="en-US" dirty="0"/>
              <a:t>()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redraw()</a:t>
            </a:r>
          </a:p>
          <a:p>
            <a:r>
              <a:rPr lang="en-US" dirty="0"/>
              <a:t>     </a:t>
            </a:r>
          </a:p>
          <a:p>
            <a:r>
              <a:rPr lang="en-US" dirty="0"/>
              <a:t>    running = True</a:t>
            </a:r>
          </a:p>
          <a:p>
            <a:r>
              <a:rPr lang="en-US" dirty="0"/>
              <a:t>    drawing = False</a:t>
            </a:r>
          </a:p>
          <a:p>
            <a:r>
              <a:rPr lang="en-US" dirty="0"/>
              <a:t>    while running:</a:t>
            </a:r>
          </a:p>
          <a:p>
            <a:r>
              <a:rPr lang="en-US" dirty="0"/>
              <a:t>        for event in </a:t>
            </a:r>
            <a:r>
              <a:rPr lang="en-US" dirty="0" err="1"/>
              <a:t>pygame.event.get</a:t>
            </a:r>
            <a:r>
              <a:rPr lang="en-US" dirty="0"/>
              <a:t>():</a:t>
            </a:r>
          </a:p>
          <a:p>
            <a:r>
              <a:rPr lang="en-US" dirty="0"/>
              <a:t>            if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pygame.QUIT</a:t>
            </a:r>
            <a:r>
              <a:rPr lang="en-US" dirty="0"/>
              <a:t>:  # Window close button</a:t>
            </a:r>
          </a:p>
          <a:p>
            <a:r>
              <a:rPr lang="en-US" dirty="0"/>
              <a:t>                running = False</a:t>
            </a:r>
          </a:p>
          <a:p>
            <a:r>
              <a:rPr lang="en-US" dirty="0"/>
              <a:t>        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pygame.MOUSEBUTTONDOWN</a:t>
            </a:r>
            <a:r>
              <a:rPr lang="en-US" dirty="0"/>
              <a:t> or \</a:t>
            </a:r>
          </a:p>
          <a:p>
            <a:r>
              <a:rPr lang="en-US" dirty="0"/>
              <a:t>                 (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pygame.MOUSEMOTION</a:t>
            </a:r>
            <a:r>
              <a:rPr lang="en-US" dirty="0"/>
              <a:t> and drawing):  # Mouse click</a:t>
            </a:r>
          </a:p>
          <a:p>
            <a:r>
              <a:rPr lang="en-US" dirty="0"/>
              <a:t>                drawing = True</a:t>
            </a:r>
          </a:p>
          <a:p>
            <a:r>
              <a:rPr lang="en-US" dirty="0"/>
              <a:t>                x, y = </a:t>
            </a:r>
            <a:r>
              <a:rPr lang="en-US" dirty="0" err="1"/>
              <a:t>event.pos</a:t>
            </a:r>
            <a:r>
              <a:rPr lang="en-US" dirty="0"/>
              <a:t>  # Get click position</a:t>
            </a:r>
          </a:p>
          <a:p>
            <a:r>
              <a:rPr lang="en-US" dirty="0"/>
              <a:t>                </a:t>
            </a:r>
            <a:r>
              <a:rPr lang="en-US" dirty="0" err="1"/>
              <a:t>x_scaled</a:t>
            </a:r>
            <a:r>
              <a:rPr lang="en-US" dirty="0"/>
              <a:t>, </a:t>
            </a:r>
            <a:r>
              <a:rPr lang="en-US" dirty="0" err="1"/>
              <a:t>y_scaled</a:t>
            </a:r>
            <a:r>
              <a:rPr lang="en-US" dirty="0"/>
              <a:t> = x//SQUARE_SIZE, y//SQUARE_SIZE</a:t>
            </a:r>
          </a:p>
          <a:p>
            <a:r>
              <a:rPr lang="en-US" dirty="0"/>
              <a:t>                store[</a:t>
            </a:r>
            <a:r>
              <a:rPr lang="en-US" dirty="0" err="1"/>
              <a:t>y_scaled</a:t>
            </a:r>
            <a:r>
              <a:rPr lang="en-US" dirty="0"/>
              <a:t>][</a:t>
            </a:r>
            <a:r>
              <a:rPr lang="en-US" dirty="0" err="1"/>
              <a:t>x_scaled</a:t>
            </a:r>
            <a:r>
              <a:rPr lang="en-US" dirty="0"/>
              <a:t>] = 255 #make pixel white</a:t>
            </a:r>
          </a:p>
          <a:p>
            <a:r>
              <a:rPr lang="en-US" dirty="0"/>
              <a:t>                redraw()</a:t>
            </a:r>
          </a:p>
          <a:p>
            <a:r>
              <a:rPr lang="en-US" dirty="0"/>
              <a:t>        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pygame.MOUSEBUTTONUP</a:t>
            </a:r>
            <a:r>
              <a:rPr lang="en-US" dirty="0"/>
              <a:t>:  # Mouse button released</a:t>
            </a:r>
          </a:p>
          <a:p>
            <a:r>
              <a:rPr lang="en-US" dirty="0"/>
              <a:t>                drawing = False</a:t>
            </a:r>
          </a:p>
          <a:p>
            <a:r>
              <a:rPr lang="en-US" dirty="0"/>
              <a:t>                #print(store)</a:t>
            </a:r>
          </a:p>
          <a:p>
            <a:r>
              <a:rPr lang="en-US" dirty="0"/>
              <a:t>                for r in range(size):</a:t>
            </a:r>
          </a:p>
          <a:p>
            <a:r>
              <a:rPr lang="en-US" dirty="0"/>
              <a:t>                    for c in range(size):</a:t>
            </a:r>
          </a:p>
          <a:p>
            <a:r>
              <a:rPr lang="en-US" dirty="0"/>
              <a:t>                        if store[r][c] &gt; 0:</a:t>
            </a:r>
          </a:p>
          <a:p>
            <a:r>
              <a:rPr lang="en-US" dirty="0"/>
              <a:t>                            print("*", end="")</a:t>
            </a:r>
          </a:p>
          <a:p>
            <a:r>
              <a:rPr lang="en-US" dirty="0"/>
              <a:t>                        else:</a:t>
            </a:r>
          </a:p>
          <a:p>
            <a:r>
              <a:rPr lang="en-US" dirty="0"/>
              <a:t>                            print(" ", end="")</a:t>
            </a:r>
          </a:p>
          <a:p>
            <a:r>
              <a:rPr lang="en-US" dirty="0"/>
              <a:t>                    print()#newline</a:t>
            </a:r>
          </a:p>
          <a:p>
            <a:r>
              <a:rPr lang="en-US" dirty="0"/>
              <a:t>                #flatten so 28x28 =&gt; 1D array</a:t>
            </a:r>
          </a:p>
          <a:p>
            <a:r>
              <a:rPr lang="en-US" dirty="0"/>
              <a:t>                flat = []</a:t>
            </a:r>
          </a:p>
          <a:p>
            <a:r>
              <a:rPr lang="en-US" dirty="0"/>
              <a:t>                for row in store:</a:t>
            </a:r>
          </a:p>
          <a:p>
            <a:r>
              <a:rPr lang="en-US" dirty="0"/>
              <a:t>                    flat += row</a:t>
            </a:r>
          </a:p>
          <a:p>
            <a:r>
              <a:rPr lang="en-US" dirty="0"/>
              <a:t>                </a:t>
            </a:r>
            <a:r>
              <a:rPr lang="en-US" dirty="0" err="1"/>
              <a:t>numpy_array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(flat)</a:t>
            </a:r>
          </a:p>
          <a:p>
            <a:r>
              <a:rPr lang="en-US" dirty="0"/>
              <a:t>                print(</a:t>
            </a:r>
            <a:r>
              <a:rPr lang="en-US" dirty="0" err="1"/>
              <a:t>knn.predict</a:t>
            </a:r>
            <a:r>
              <a:rPr lang="en-US" dirty="0"/>
              <a:t>([</a:t>
            </a:r>
            <a:r>
              <a:rPr lang="en-US" dirty="0" err="1"/>
              <a:t>numpy_array</a:t>
            </a:r>
            <a:r>
              <a:rPr lang="en-US" dirty="0"/>
              <a:t>]))</a:t>
            </a:r>
          </a:p>
          <a:p>
            <a:r>
              <a:rPr lang="en-US" dirty="0"/>
              <a:t>                </a:t>
            </a:r>
          </a:p>
          <a:p>
            <a:r>
              <a:rPr lang="en-US" dirty="0"/>
              <a:t>        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pygame.KEYDOWN</a:t>
            </a:r>
            <a:r>
              <a:rPr lang="en-US" dirty="0"/>
              <a:t>: #if c is typed, clear screen</a:t>
            </a:r>
          </a:p>
          <a:p>
            <a:r>
              <a:rPr lang="en-US" dirty="0"/>
              <a:t>                if </a:t>
            </a:r>
            <a:r>
              <a:rPr lang="en-US" dirty="0" err="1"/>
              <a:t>event.key</a:t>
            </a:r>
            <a:r>
              <a:rPr lang="en-US" dirty="0"/>
              <a:t> == </a:t>
            </a:r>
            <a:r>
              <a:rPr lang="en-US" dirty="0" err="1"/>
              <a:t>pygame.K_c</a:t>
            </a:r>
            <a:r>
              <a:rPr lang="en-US" dirty="0"/>
              <a:t>:</a:t>
            </a:r>
          </a:p>
          <a:p>
            <a:r>
              <a:rPr lang="en-US" dirty="0"/>
              <a:t>                    store = [[0]*size for _ in range(size)]</a:t>
            </a:r>
          </a:p>
          <a:p>
            <a:r>
              <a:rPr lang="en-US" dirty="0"/>
              <a:t>                    redraw()</a:t>
            </a:r>
          </a:p>
          <a:p>
            <a:endParaRPr lang="en-US" dirty="0"/>
          </a:p>
          <a:p>
            <a:r>
              <a:rPr lang="en-US" dirty="0"/>
              <a:t>    # Quit </a:t>
            </a:r>
            <a:r>
              <a:rPr lang="en-US" dirty="0" err="1"/>
              <a:t>pygame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pygame.quit</a:t>
            </a:r>
            <a:r>
              <a:rPr lang="en-US" dirty="0"/>
              <a:t>()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70487-0F5E-B61E-7A6B-386EF7DA20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8579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4364C-3210-ECAE-AFAD-CBC0F9D11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48CD4C-68F2-E16A-773D-919B38D23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3A395A-EAD2-ACD1-7673-C81F4420D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  <a:latin typeface="Helvetica" pitchFamily="2" charset="0"/>
              </a:rPr>
              <a:t>import </a:t>
            </a:r>
            <a:r>
              <a:rPr lang="en-US" dirty="0" err="1">
                <a:effectLst/>
                <a:latin typeface="Helvetica" pitchFamily="2" charset="0"/>
              </a:rPr>
              <a:t>numpy</a:t>
            </a:r>
            <a:r>
              <a:rPr lang="en-US" dirty="0">
                <a:effectLst/>
                <a:latin typeface="Helvetica" pitchFamily="2" charset="0"/>
              </a:rPr>
              <a:t> as np</a:t>
            </a:r>
          </a:p>
          <a:p>
            <a:r>
              <a:rPr lang="en-US" dirty="0">
                <a:effectLst/>
                <a:latin typeface="Helvetica" pitchFamily="2" charset="0"/>
              </a:rPr>
              <a:t>import </a:t>
            </a:r>
            <a:r>
              <a:rPr lang="en-US" dirty="0" err="1">
                <a:effectLst/>
                <a:latin typeface="Helvetica" pitchFamily="2" charset="0"/>
              </a:rPr>
              <a:t>gzip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dirty="0">
                <a:effectLst/>
                <a:latin typeface="Helvetica" pitchFamily="2" charset="0"/>
              </a:rPr>
              <a:t>import struct</a:t>
            </a:r>
          </a:p>
          <a:p>
            <a:r>
              <a:rPr lang="en-US" dirty="0">
                <a:effectLst/>
                <a:latin typeface="Helvetica" pitchFamily="2" charset="0"/>
              </a:rPr>
              <a:t>from </a:t>
            </a:r>
            <a:r>
              <a:rPr lang="en-US" dirty="0" err="1">
                <a:effectLst/>
                <a:latin typeface="Helvetica" pitchFamily="2" charset="0"/>
              </a:rPr>
              <a:t>sklearn.neighbors</a:t>
            </a:r>
            <a:r>
              <a:rPr lang="en-US" dirty="0">
                <a:effectLst/>
                <a:latin typeface="Helvetica" pitchFamily="2" charset="0"/>
              </a:rPr>
              <a:t> import </a:t>
            </a:r>
            <a:r>
              <a:rPr lang="en-US" dirty="0" err="1">
                <a:effectLst/>
                <a:latin typeface="Helvetica" pitchFamily="2" charset="0"/>
              </a:rPr>
              <a:t>KNeighborsClassifier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dirty="0">
                <a:effectLst/>
                <a:latin typeface="Helvetica" pitchFamily="2" charset="0"/>
              </a:rPr>
              <a:t>import pygameDraw_v7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dirty="0">
                <a:effectLst/>
                <a:latin typeface="Helvetica" pitchFamily="2" charset="0"/>
              </a:rPr>
              <a:t># --- Load functions ---</a:t>
            </a:r>
          </a:p>
          <a:p>
            <a:r>
              <a:rPr lang="en-US" dirty="0">
                <a:effectLst/>
                <a:latin typeface="Helvetica" pitchFamily="2" charset="0"/>
              </a:rPr>
              <a:t>def </a:t>
            </a:r>
            <a:r>
              <a:rPr lang="en-US" dirty="0" err="1">
                <a:effectLst/>
                <a:latin typeface="Helvetica" pitchFamily="2" charset="0"/>
              </a:rPr>
              <a:t>load_images</a:t>
            </a:r>
            <a:r>
              <a:rPr lang="en-US" dirty="0">
                <a:effectLst/>
                <a:latin typeface="Helvetica" pitchFamily="2" charset="0"/>
              </a:rPr>
              <a:t>(filename):</a:t>
            </a:r>
          </a:p>
          <a:p>
            <a:r>
              <a:rPr lang="en-US" dirty="0">
                <a:effectLst/>
                <a:latin typeface="Helvetica" pitchFamily="2" charset="0"/>
              </a:rPr>
              <a:t>    with </a:t>
            </a:r>
            <a:r>
              <a:rPr lang="en-US" dirty="0" err="1">
                <a:effectLst/>
                <a:latin typeface="Helvetica" pitchFamily="2" charset="0"/>
              </a:rPr>
              <a:t>gzip.open</a:t>
            </a:r>
            <a:r>
              <a:rPr lang="en-US" dirty="0">
                <a:effectLst/>
                <a:latin typeface="Helvetica" pitchFamily="2" charset="0"/>
              </a:rPr>
              <a:t>(filename, '</a:t>
            </a:r>
            <a:r>
              <a:rPr lang="en-US" dirty="0" err="1">
                <a:effectLst/>
                <a:latin typeface="Helvetica" pitchFamily="2" charset="0"/>
              </a:rPr>
              <a:t>rb</a:t>
            </a:r>
            <a:r>
              <a:rPr lang="en-US" dirty="0">
                <a:effectLst/>
                <a:latin typeface="Helvetica" pitchFamily="2" charset="0"/>
              </a:rPr>
              <a:t>') as f:</a:t>
            </a:r>
          </a:p>
          <a:p>
            <a:r>
              <a:rPr lang="en-US" dirty="0">
                <a:effectLst/>
                <a:latin typeface="Helvetica" pitchFamily="2" charset="0"/>
              </a:rPr>
              <a:t>        _, </a:t>
            </a:r>
            <a:r>
              <a:rPr lang="en-US" dirty="0" err="1">
                <a:effectLst/>
                <a:latin typeface="Helvetica" pitchFamily="2" charset="0"/>
              </a:rPr>
              <a:t>n_images</a:t>
            </a:r>
            <a:r>
              <a:rPr lang="en-US" dirty="0">
                <a:effectLst/>
                <a:latin typeface="Helvetica" pitchFamily="2" charset="0"/>
              </a:rPr>
              <a:t>, rows, cols = </a:t>
            </a:r>
            <a:r>
              <a:rPr lang="en-US" dirty="0" err="1">
                <a:effectLst/>
                <a:latin typeface="Helvetica" pitchFamily="2" charset="0"/>
              </a:rPr>
              <a:t>struct.unpack</a:t>
            </a:r>
            <a:r>
              <a:rPr lang="en-US" dirty="0">
                <a:effectLst/>
                <a:latin typeface="Helvetica" pitchFamily="2" charset="0"/>
              </a:rPr>
              <a:t>('&gt;IIII', </a:t>
            </a:r>
            <a:r>
              <a:rPr lang="en-US" dirty="0" err="1">
                <a:effectLst/>
                <a:latin typeface="Helvetica" pitchFamily="2" charset="0"/>
              </a:rPr>
              <a:t>f.read</a:t>
            </a:r>
            <a:r>
              <a:rPr lang="en-US" dirty="0">
                <a:effectLst/>
                <a:latin typeface="Helvetica" pitchFamily="2" charset="0"/>
              </a:rPr>
              <a:t>(16))</a:t>
            </a:r>
          </a:p>
          <a:p>
            <a:r>
              <a:rPr lang="en-US" dirty="0">
                <a:effectLst/>
                <a:latin typeface="Helvetica" pitchFamily="2" charset="0"/>
              </a:rPr>
              <a:t>        data = </a:t>
            </a:r>
            <a:r>
              <a:rPr lang="en-US" dirty="0" err="1">
                <a:effectLst/>
                <a:latin typeface="Helvetica" pitchFamily="2" charset="0"/>
              </a:rPr>
              <a:t>np.frombuffer</a:t>
            </a:r>
            <a:r>
              <a:rPr lang="en-US" dirty="0">
                <a:effectLst/>
                <a:latin typeface="Helvetica" pitchFamily="2" charset="0"/>
              </a:rPr>
              <a:t>(</a:t>
            </a:r>
            <a:r>
              <a:rPr lang="en-US" dirty="0" err="1">
                <a:effectLst/>
                <a:latin typeface="Helvetica" pitchFamily="2" charset="0"/>
              </a:rPr>
              <a:t>f.read</a:t>
            </a:r>
            <a:r>
              <a:rPr lang="en-US" dirty="0">
                <a:effectLst/>
                <a:latin typeface="Helvetica" pitchFamily="2" charset="0"/>
              </a:rPr>
              <a:t>(), </a:t>
            </a:r>
            <a:r>
              <a:rPr lang="en-US" dirty="0" err="1">
                <a:effectLst/>
                <a:latin typeface="Helvetica" pitchFamily="2" charset="0"/>
              </a:rPr>
              <a:t>dtype</a:t>
            </a:r>
            <a:r>
              <a:rPr lang="en-US" dirty="0">
                <a:effectLst/>
                <a:latin typeface="Helvetica" pitchFamily="2" charset="0"/>
              </a:rPr>
              <a:t>=np.uint8)</a:t>
            </a:r>
          </a:p>
          <a:p>
            <a:r>
              <a:rPr lang="en-US" dirty="0">
                <a:effectLst/>
                <a:latin typeface="Helvetica" pitchFamily="2" charset="0"/>
              </a:rPr>
              <a:t>        #updated from </a:t>
            </a:r>
            <a:r>
              <a:rPr lang="en-US" dirty="0" err="1">
                <a:effectLst/>
                <a:latin typeface="Helvetica" pitchFamily="2" charset="0"/>
              </a:rPr>
              <a:t>data.reshape</a:t>
            </a:r>
            <a:r>
              <a:rPr lang="en-US" dirty="0">
                <a:effectLst/>
                <a:latin typeface="Helvetica" pitchFamily="2" charset="0"/>
              </a:rPr>
              <a:t>(</a:t>
            </a:r>
            <a:r>
              <a:rPr lang="en-US" dirty="0" err="1">
                <a:effectLst/>
                <a:latin typeface="Helvetica" pitchFamily="2" charset="0"/>
              </a:rPr>
              <a:t>n_images</a:t>
            </a:r>
            <a:r>
              <a:rPr lang="en-US" dirty="0">
                <a:effectLst/>
                <a:latin typeface="Helvetica" pitchFamily="2" charset="0"/>
              </a:rPr>
              <a:t>, </a:t>
            </a:r>
            <a:r>
              <a:rPr lang="en-US" dirty="0" err="1">
                <a:effectLst/>
                <a:latin typeface="Helvetica" pitchFamily="2" charset="0"/>
              </a:rPr>
              <a:t>rows,cols</a:t>
            </a:r>
            <a:r>
              <a:rPr lang="en-US" dirty="0">
                <a:effectLst/>
                <a:latin typeface="Helvetica" pitchFamily="2" charset="0"/>
              </a:rPr>
              <a:t>) because</a:t>
            </a:r>
          </a:p>
          <a:p>
            <a:r>
              <a:rPr lang="en-US" dirty="0">
                <a:effectLst/>
                <a:latin typeface="Helvetica" pitchFamily="2" charset="0"/>
              </a:rPr>
              <a:t>        #keeping as 1D array is better for K-nearest Neighbors</a:t>
            </a:r>
          </a:p>
          <a:p>
            <a:r>
              <a:rPr lang="en-US" dirty="0">
                <a:effectLst/>
                <a:latin typeface="Helvetica" pitchFamily="2" charset="0"/>
              </a:rPr>
              <a:t>        return </a:t>
            </a:r>
            <a:r>
              <a:rPr lang="en-US" dirty="0" err="1">
                <a:effectLst/>
                <a:latin typeface="Helvetica" pitchFamily="2" charset="0"/>
              </a:rPr>
              <a:t>data.reshape</a:t>
            </a:r>
            <a:r>
              <a:rPr lang="en-US" dirty="0">
                <a:effectLst/>
                <a:latin typeface="Helvetica" pitchFamily="2" charset="0"/>
              </a:rPr>
              <a:t>(</a:t>
            </a:r>
            <a:r>
              <a:rPr lang="en-US" dirty="0" err="1">
                <a:effectLst/>
                <a:latin typeface="Helvetica" pitchFamily="2" charset="0"/>
              </a:rPr>
              <a:t>n_images</a:t>
            </a:r>
            <a:r>
              <a:rPr lang="en-US" dirty="0">
                <a:effectLst/>
                <a:latin typeface="Helvetica" pitchFamily="2" charset="0"/>
              </a:rPr>
              <a:t>, rows*cols)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dirty="0">
                <a:effectLst/>
                <a:latin typeface="Helvetica" pitchFamily="2" charset="0"/>
              </a:rPr>
              <a:t>def </a:t>
            </a:r>
            <a:r>
              <a:rPr lang="en-US" dirty="0" err="1">
                <a:effectLst/>
                <a:latin typeface="Helvetica" pitchFamily="2" charset="0"/>
              </a:rPr>
              <a:t>load_labels</a:t>
            </a:r>
            <a:r>
              <a:rPr lang="en-US" dirty="0">
                <a:effectLst/>
                <a:latin typeface="Helvetica" pitchFamily="2" charset="0"/>
              </a:rPr>
              <a:t>(filename):</a:t>
            </a:r>
          </a:p>
          <a:p>
            <a:r>
              <a:rPr lang="en-US" dirty="0">
                <a:effectLst/>
                <a:latin typeface="Helvetica" pitchFamily="2" charset="0"/>
              </a:rPr>
              <a:t>    with </a:t>
            </a:r>
            <a:r>
              <a:rPr lang="en-US" dirty="0" err="1">
                <a:effectLst/>
                <a:latin typeface="Helvetica" pitchFamily="2" charset="0"/>
              </a:rPr>
              <a:t>gzip.open</a:t>
            </a:r>
            <a:r>
              <a:rPr lang="en-US" dirty="0">
                <a:effectLst/>
                <a:latin typeface="Helvetica" pitchFamily="2" charset="0"/>
              </a:rPr>
              <a:t>(filename, '</a:t>
            </a:r>
            <a:r>
              <a:rPr lang="en-US" dirty="0" err="1">
                <a:effectLst/>
                <a:latin typeface="Helvetica" pitchFamily="2" charset="0"/>
              </a:rPr>
              <a:t>rb</a:t>
            </a:r>
            <a:r>
              <a:rPr lang="en-US" dirty="0">
                <a:effectLst/>
                <a:latin typeface="Helvetica" pitchFamily="2" charset="0"/>
              </a:rPr>
              <a:t>') as f:</a:t>
            </a:r>
          </a:p>
          <a:p>
            <a:r>
              <a:rPr lang="en-US" dirty="0">
                <a:effectLst/>
                <a:latin typeface="Helvetica" pitchFamily="2" charset="0"/>
              </a:rPr>
              <a:t>        magic, </a:t>
            </a:r>
            <a:r>
              <a:rPr lang="en-US" dirty="0" err="1">
                <a:effectLst/>
                <a:latin typeface="Helvetica" pitchFamily="2" charset="0"/>
              </a:rPr>
              <a:t>n_labels</a:t>
            </a:r>
            <a:r>
              <a:rPr lang="en-US" dirty="0">
                <a:effectLst/>
                <a:latin typeface="Helvetica" pitchFamily="2" charset="0"/>
              </a:rPr>
              <a:t> = </a:t>
            </a:r>
            <a:r>
              <a:rPr lang="en-US" dirty="0" err="1">
                <a:effectLst/>
                <a:latin typeface="Helvetica" pitchFamily="2" charset="0"/>
              </a:rPr>
              <a:t>struct.unpack</a:t>
            </a:r>
            <a:r>
              <a:rPr lang="en-US" dirty="0">
                <a:effectLst/>
                <a:latin typeface="Helvetica" pitchFamily="2" charset="0"/>
              </a:rPr>
              <a:t>("&gt;II", </a:t>
            </a:r>
            <a:r>
              <a:rPr lang="en-US" dirty="0" err="1">
                <a:effectLst/>
                <a:latin typeface="Helvetica" pitchFamily="2" charset="0"/>
              </a:rPr>
              <a:t>f.read</a:t>
            </a:r>
            <a:r>
              <a:rPr lang="en-US" dirty="0">
                <a:effectLst/>
                <a:latin typeface="Helvetica" pitchFamily="2" charset="0"/>
              </a:rPr>
              <a:t>(8))</a:t>
            </a:r>
          </a:p>
          <a:p>
            <a:r>
              <a:rPr lang="en-US" dirty="0">
                <a:effectLst/>
                <a:latin typeface="Helvetica" pitchFamily="2" charset="0"/>
              </a:rPr>
              <a:t>        labels = </a:t>
            </a:r>
            <a:r>
              <a:rPr lang="en-US" dirty="0" err="1">
                <a:effectLst/>
                <a:latin typeface="Helvetica" pitchFamily="2" charset="0"/>
              </a:rPr>
              <a:t>np.frombuffer</a:t>
            </a:r>
            <a:r>
              <a:rPr lang="en-US" dirty="0">
                <a:effectLst/>
                <a:latin typeface="Helvetica" pitchFamily="2" charset="0"/>
              </a:rPr>
              <a:t>(</a:t>
            </a:r>
            <a:r>
              <a:rPr lang="en-US" dirty="0" err="1">
                <a:effectLst/>
                <a:latin typeface="Helvetica" pitchFamily="2" charset="0"/>
              </a:rPr>
              <a:t>f.read</a:t>
            </a:r>
            <a:r>
              <a:rPr lang="en-US" dirty="0">
                <a:effectLst/>
                <a:latin typeface="Helvetica" pitchFamily="2" charset="0"/>
              </a:rPr>
              <a:t>(), </a:t>
            </a:r>
            <a:r>
              <a:rPr lang="en-US" dirty="0" err="1">
                <a:effectLst/>
                <a:latin typeface="Helvetica" pitchFamily="2" charset="0"/>
              </a:rPr>
              <a:t>dtype</a:t>
            </a:r>
            <a:r>
              <a:rPr lang="en-US" dirty="0">
                <a:effectLst/>
                <a:latin typeface="Helvetica" pitchFamily="2" charset="0"/>
              </a:rPr>
              <a:t>=np.uint8)</a:t>
            </a:r>
          </a:p>
          <a:p>
            <a:r>
              <a:rPr lang="en-US" dirty="0">
                <a:effectLst/>
                <a:latin typeface="Helvetica" pitchFamily="2" charset="0"/>
              </a:rPr>
              <a:t>    return labels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dirty="0">
                <a:effectLst/>
                <a:latin typeface="Helvetica" pitchFamily="2" charset="0"/>
              </a:rPr>
              <a:t># --- Load MNIST data ---</a:t>
            </a:r>
          </a:p>
          <a:p>
            <a:r>
              <a:rPr lang="en-US" dirty="0" err="1">
                <a:effectLst/>
                <a:latin typeface="Helvetica" pitchFamily="2" charset="0"/>
              </a:rPr>
              <a:t>X_train</a:t>
            </a:r>
            <a:r>
              <a:rPr lang="en-US" dirty="0">
                <a:effectLst/>
                <a:latin typeface="Helvetica" pitchFamily="2" charset="0"/>
              </a:rPr>
              <a:t> = </a:t>
            </a:r>
            <a:r>
              <a:rPr lang="en-US" dirty="0" err="1">
                <a:effectLst/>
                <a:latin typeface="Helvetica" pitchFamily="2" charset="0"/>
              </a:rPr>
              <a:t>load_images</a:t>
            </a:r>
            <a:r>
              <a:rPr lang="en-US" dirty="0">
                <a:effectLst/>
                <a:latin typeface="Helvetica" pitchFamily="2" charset="0"/>
              </a:rPr>
              <a:t>("train-images-idx3-ubyte.gz")</a:t>
            </a:r>
          </a:p>
          <a:p>
            <a:r>
              <a:rPr lang="en-US" dirty="0" err="1">
                <a:effectLst/>
                <a:latin typeface="Helvetica" pitchFamily="2" charset="0"/>
              </a:rPr>
              <a:t>Y_train</a:t>
            </a:r>
            <a:r>
              <a:rPr lang="en-US" dirty="0">
                <a:effectLst/>
                <a:latin typeface="Helvetica" pitchFamily="2" charset="0"/>
              </a:rPr>
              <a:t> = </a:t>
            </a:r>
            <a:r>
              <a:rPr lang="en-US" dirty="0" err="1">
                <a:effectLst/>
                <a:latin typeface="Helvetica" pitchFamily="2" charset="0"/>
              </a:rPr>
              <a:t>load_labels</a:t>
            </a:r>
            <a:r>
              <a:rPr lang="en-US" dirty="0">
                <a:effectLst/>
                <a:latin typeface="Helvetica" pitchFamily="2" charset="0"/>
              </a:rPr>
              <a:t>("train-labels-idx1-ubyte.gz")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dirty="0" err="1">
                <a:effectLst/>
                <a:latin typeface="Helvetica" pitchFamily="2" charset="0"/>
              </a:rPr>
              <a:t>X_test</a:t>
            </a:r>
            <a:r>
              <a:rPr lang="en-US" dirty="0">
                <a:effectLst/>
                <a:latin typeface="Helvetica" pitchFamily="2" charset="0"/>
              </a:rPr>
              <a:t>  = </a:t>
            </a:r>
            <a:r>
              <a:rPr lang="en-US" dirty="0" err="1">
                <a:effectLst/>
                <a:latin typeface="Helvetica" pitchFamily="2" charset="0"/>
              </a:rPr>
              <a:t>load_images</a:t>
            </a:r>
            <a:r>
              <a:rPr lang="en-US" dirty="0">
                <a:effectLst/>
                <a:latin typeface="Helvetica" pitchFamily="2" charset="0"/>
              </a:rPr>
              <a:t>("t10k-images-idx3-ubyte.gz")</a:t>
            </a:r>
          </a:p>
          <a:p>
            <a:r>
              <a:rPr lang="en-US" dirty="0" err="1">
                <a:effectLst/>
                <a:latin typeface="Helvetica" pitchFamily="2" charset="0"/>
              </a:rPr>
              <a:t>Y_test</a:t>
            </a:r>
            <a:r>
              <a:rPr lang="en-US" dirty="0">
                <a:effectLst/>
                <a:latin typeface="Helvetica" pitchFamily="2" charset="0"/>
              </a:rPr>
              <a:t>  = </a:t>
            </a:r>
            <a:r>
              <a:rPr lang="en-US" dirty="0" err="1">
                <a:effectLst/>
                <a:latin typeface="Helvetica" pitchFamily="2" charset="0"/>
              </a:rPr>
              <a:t>load_labels</a:t>
            </a:r>
            <a:r>
              <a:rPr lang="en-US" dirty="0">
                <a:effectLst/>
                <a:latin typeface="Helvetica" pitchFamily="2" charset="0"/>
              </a:rPr>
              <a:t>("t10k-labels-idx1-ubyte.gz")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dirty="0">
                <a:effectLst/>
                <a:latin typeface="Helvetica" pitchFamily="2" charset="0"/>
              </a:rPr>
              <a:t># --- Create and train </a:t>
            </a:r>
            <a:r>
              <a:rPr lang="en-US" dirty="0" err="1">
                <a:effectLst/>
                <a:latin typeface="Helvetica" pitchFamily="2" charset="0"/>
              </a:rPr>
              <a:t>kNN</a:t>
            </a:r>
            <a:r>
              <a:rPr lang="en-US" dirty="0">
                <a:effectLst/>
                <a:latin typeface="Helvetica" pitchFamily="2" charset="0"/>
              </a:rPr>
              <a:t> classifier ---</a:t>
            </a:r>
          </a:p>
          <a:p>
            <a:r>
              <a:rPr lang="en-US" dirty="0">
                <a:effectLst/>
                <a:latin typeface="Helvetica" pitchFamily="2" charset="0"/>
              </a:rPr>
              <a:t># look at the 3 closest neighbors when deciding classification</a:t>
            </a:r>
          </a:p>
          <a:p>
            <a:r>
              <a:rPr lang="en-US" dirty="0" err="1">
                <a:effectLst/>
                <a:latin typeface="Helvetica" pitchFamily="2" charset="0"/>
              </a:rPr>
              <a:t>knn</a:t>
            </a:r>
            <a:r>
              <a:rPr lang="en-US" dirty="0">
                <a:effectLst/>
                <a:latin typeface="Helvetica" pitchFamily="2" charset="0"/>
              </a:rPr>
              <a:t> = </a:t>
            </a:r>
            <a:r>
              <a:rPr lang="en-US" dirty="0" err="1">
                <a:effectLst/>
                <a:latin typeface="Helvetica" pitchFamily="2" charset="0"/>
              </a:rPr>
              <a:t>KNeighborsClassifier</a:t>
            </a:r>
            <a:r>
              <a:rPr lang="en-US" dirty="0">
                <a:effectLst/>
                <a:latin typeface="Helvetica" pitchFamily="2" charset="0"/>
              </a:rPr>
              <a:t>(</a:t>
            </a:r>
            <a:r>
              <a:rPr lang="en-US" dirty="0" err="1">
                <a:effectLst/>
                <a:latin typeface="Helvetica" pitchFamily="2" charset="0"/>
              </a:rPr>
              <a:t>n_neighbors</a:t>
            </a:r>
            <a:r>
              <a:rPr lang="en-US" dirty="0">
                <a:effectLst/>
                <a:latin typeface="Helvetica" pitchFamily="2" charset="0"/>
              </a:rPr>
              <a:t>=3)</a:t>
            </a:r>
          </a:p>
          <a:p>
            <a:r>
              <a:rPr lang="en-US" dirty="0" err="1">
                <a:effectLst/>
                <a:latin typeface="Helvetica" pitchFamily="2" charset="0"/>
              </a:rPr>
              <a:t>knn.fit</a:t>
            </a:r>
            <a:r>
              <a:rPr lang="en-US" dirty="0">
                <a:effectLst/>
                <a:latin typeface="Helvetica" pitchFamily="2" charset="0"/>
              </a:rPr>
              <a:t>(</a:t>
            </a:r>
            <a:r>
              <a:rPr lang="en-US" dirty="0" err="1">
                <a:effectLst/>
                <a:latin typeface="Helvetica" pitchFamily="2" charset="0"/>
              </a:rPr>
              <a:t>X_train</a:t>
            </a:r>
            <a:r>
              <a:rPr lang="en-US" dirty="0">
                <a:effectLst/>
                <a:latin typeface="Helvetica" pitchFamily="2" charset="0"/>
              </a:rPr>
              <a:t>, </a:t>
            </a:r>
            <a:r>
              <a:rPr lang="en-US" dirty="0" err="1">
                <a:effectLst/>
                <a:latin typeface="Helvetica" pitchFamily="2" charset="0"/>
              </a:rPr>
              <a:t>Y_train</a:t>
            </a:r>
            <a:r>
              <a:rPr lang="en-US" dirty="0">
                <a:effectLst/>
                <a:latin typeface="Helvetica" pitchFamily="2" charset="0"/>
              </a:rPr>
              <a:t>)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dirty="0">
                <a:effectLst/>
                <a:latin typeface="Helvetica" pitchFamily="2" charset="0"/>
              </a:rPr>
              <a:t># --- Predict on test set ---</a:t>
            </a:r>
          </a:p>
          <a:p>
            <a:r>
              <a:rPr lang="en-US" dirty="0" err="1">
                <a:effectLst/>
                <a:latin typeface="Helvetica" pitchFamily="2" charset="0"/>
              </a:rPr>
              <a:t>y_pred</a:t>
            </a:r>
            <a:r>
              <a:rPr lang="en-US" dirty="0">
                <a:effectLst/>
                <a:latin typeface="Helvetica" pitchFamily="2" charset="0"/>
              </a:rPr>
              <a:t> = </a:t>
            </a:r>
            <a:r>
              <a:rPr lang="en-US" dirty="0" err="1">
                <a:effectLst/>
                <a:latin typeface="Helvetica" pitchFamily="2" charset="0"/>
              </a:rPr>
              <a:t>knn.predict</a:t>
            </a:r>
            <a:r>
              <a:rPr lang="en-US" dirty="0">
                <a:effectLst/>
                <a:latin typeface="Helvetica" pitchFamily="2" charset="0"/>
              </a:rPr>
              <a:t>(</a:t>
            </a:r>
            <a:r>
              <a:rPr lang="en-US" dirty="0" err="1">
                <a:effectLst/>
                <a:latin typeface="Helvetica" pitchFamily="2" charset="0"/>
              </a:rPr>
              <a:t>X_test</a:t>
            </a:r>
            <a:r>
              <a:rPr lang="en-US" dirty="0">
                <a:effectLst/>
                <a:latin typeface="Helvetica" pitchFamily="2" charset="0"/>
              </a:rPr>
              <a:t>)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dirty="0">
                <a:effectLst/>
                <a:latin typeface="Helvetica" pitchFamily="2" charset="0"/>
              </a:rPr>
              <a:t># --- Calculate accuracy ---</a:t>
            </a:r>
          </a:p>
          <a:p>
            <a:r>
              <a:rPr lang="en-US" dirty="0">
                <a:effectLst/>
                <a:latin typeface="Helvetica" pitchFamily="2" charset="0"/>
              </a:rPr>
              <a:t>accuracy = (</a:t>
            </a:r>
            <a:r>
              <a:rPr lang="en-US" dirty="0" err="1">
                <a:effectLst/>
                <a:latin typeface="Helvetica" pitchFamily="2" charset="0"/>
              </a:rPr>
              <a:t>y_pred</a:t>
            </a:r>
            <a:r>
              <a:rPr lang="en-US" dirty="0">
                <a:effectLst/>
                <a:latin typeface="Helvetica" pitchFamily="2" charset="0"/>
              </a:rPr>
              <a:t> == </a:t>
            </a:r>
            <a:r>
              <a:rPr lang="en-US" dirty="0" err="1">
                <a:effectLst/>
                <a:latin typeface="Helvetica" pitchFamily="2" charset="0"/>
              </a:rPr>
              <a:t>Y_test</a:t>
            </a:r>
            <a:r>
              <a:rPr lang="en-US" dirty="0">
                <a:effectLst/>
                <a:latin typeface="Helvetica" pitchFamily="2" charset="0"/>
              </a:rPr>
              <a:t>).mean()</a:t>
            </a:r>
          </a:p>
          <a:p>
            <a:r>
              <a:rPr lang="en-US" dirty="0">
                <a:effectLst/>
                <a:latin typeface="Helvetica" pitchFamily="2" charset="0"/>
              </a:rPr>
              <a:t>print("Test accuracy:", accuracy)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dirty="0">
                <a:effectLst/>
                <a:latin typeface="Helvetica" pitchFamily="2" charset="0"/>
              </a:rPr>
              <a:t>pygameDraw_v7.run(</a:t>
            </a:r>
            <a:r>
              <a:rPr lang="en-US" dirty="0" err="1">
                <a:effectLst/>
                <a:latin typeface="Helvetica" pitchFamily="2" charset="0"/>
              </a:rPr>
              <a:t>knn</a:t>
            </a:r>
            <a:r>
              <a:rPr lang="en-US" dirty="0">
                <a:effectLst/>
                <a:latin typeface="Helvetica" pitchFamily="2" charset="0"/>
              </a:rPr>
              <a:t>)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endParaRPr lang="en-US" dirty="0">
              <a:effectLst/>
              <a:latin typeface="Helvetica" pitchFamily="2" charset="0"/>
            </a:endParaRPr>
          </a:p>
          <a:p>
            <a:endParaRPr lang="en-US" dirty="0">
              <a:effectLst/>
              <a:latin typeface="Helvetica" pitchFamily="2" charset="0"/>
            </a:endParaRPr>
          </a:p>
          <a:p>
            <a:endParaRPr lang="en-US" dirty="0">
              <a:effectLst/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CD717-2987-2344-8EEC-FCC46BACD6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8342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97893-0AB0-4B9B-7E21-2AD2433D3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1B21A-3A3C-AAC2-DB1E-37F2720C60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791BA0-F25E-9334-4442-1CB66261C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F03CC-933B-497E-0845-1E6B7F6B47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659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dirty="0"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dirty="0"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1/26/2026</a:t>
            </a:fld>
            <a:endParaRPr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1/26/2026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1/26/2026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1/26/2026</a:t>
            </a:fld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1/26/2026</a:t>
            </a:fld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1/26/2026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1/26/2026</a:t>
            </a:fld>
            <a:endParaRPr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1/26/2026</a:t>
            </a:fld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1/26/2026</a:t>
            </a:fld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1/26/2026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1/26/2026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1/26/2026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neighbors.KNeighborsClassifier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neighbors.KNeighborsClassifier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6212" y="700616"/>
            <a:ext cx="10439400" cy="1898651"/>
          </a:xfrm>
        </p:spPr>
        <p:txBody>
          <a:bodyPr>
            <a:normAutofit/>
          </a:bodyPr>
          <a:lstStyle/>
          <a:p>
            <a:r>
              <a:rPr lang="en-US" dirty="0"/>
              <a:t>MNIST Digit Classification </a:t>
            </a:r>
            <a:br>
              <a:rPr lang="en-US" dirty="0"/>
            </a:br>
            <a:r>
              <a:rPr lang="en-US" dirty="0"/>
              <a:t>with K-nearest Neighbors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CS455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rgbClr val="029999"/>
                </a:solidFill>
              </a:rPr>
              <a:t>MNIST Database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00362" y="1498600"/>
            <a:ext cx="10360501" cy="4462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MNIST</a:t>
            </a:r>
            <a:r>
              <a:rPr lang="en-US" dirty="0"/>
              <a:t> - </a:t>
            </a:r>
            <a:r>
              <a:rPr lang="en-US" b="0" i="0" u="none" strike="noStrike" dirty="0">
                <a:effectLst/>
                <a:latin typeface="Google Sans"/>
              </a:rPr>
              <a:t>Modified National Institute of Standards and Technology  contains 60,000 training images  and 10,000 testing images with a single digit 0-9 in various handwriting.  Image recognition and classifying these digits correctly is like the Hello World problem of Machine Learning.</a:t>
            </a:r>
            <a:endParaRPr lang="en-US" dirty="0"/>
          </a:p>
        </p:txBody>
      </p:sp>
      <p:pic>
        <p:nvPicPr>
          <p:cNvPr id="5" name="Picture 4" descr="A grid of numbers with white squares&#10;&#10;AI-generated content may be incorrect.">
            <a:extLst>
              <a:ext uri="{FF2B5EF4-FFF2-40B4-BE49-F238E27FC236}">
                <a16:creationId xmlns:a16="http://schemas.microsoft.com/office/drawing/2014/main" id="{03820CE6-A788-60EB-A977-133F08BDEA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812" y="3539596"/>
            <a:ext cx="5219700" cy="303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D7C2A-8537-E4C8-028C-5A92772F3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FF93FF5-A021-ADFA-AE5C-2500F32B1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rgbClr val="029999"/>
                </a:solidFill>
              </a:rPr>
              <a:t>MNIST Database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5E27B40-AB56-4C94-686F-413603C29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0362" y="1498600"/>
            <a:ext cx="10360501" cy="4462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Canvas has 4 compressed files:</a:t>
            </a:r>
          </a:p>
          <a:p>
            <a:pPr marL="0" indent="0">
              <a:buNone/>
            </a:pPr>
            <a:endParaRPr lang="en-US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t10k-images-idx3-ubyte.gz – 10,000 testing images of digits</a:t>
            </a:r>
            <a:br>
              <a:rPr lang="en-US" dirty="0">
                <a:solidFill>
                  <a:srgbClr val="FFC000"/>
                </a:solidFill>
              </a:rPr>
            </a:br>
            <a:r>
              <a:rPr lang="en-US" dirty="0">
                <a:solidFill>
                  <a:srgbClr val="FFC000"/>
                </a:solidFill>
              </a:rPr>
              <a:t>t10k-labels-idx1-ubyte.gz – 10,000 labels for the testing images</a:t>
            </a:r>
            <a:br>
              <a:rPr lang="en-US" dirty="0">
                <a:solidFill>
                  <a:srgbClr val="FFC000"/>
                </a:solidFill>
              </a:rPr>
            </a:b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train-images-idx3-ubyte.gz – 60,000 training images of digits</a:t>
            </a:r>
            <a:br>
              <a:rPr lang="en-US" dirty="0">
                <a:solidFill>
                  <a:srgbClr val="FFC000"/>
                </a:solidFill>
              </a:rPr>
            </a:br>
            <a:r>
              <a:rPr lang="en-US" dirty="0">
                <a:solidFill>
                  <a:srgbClr val="FFC000"/>
                </a:solidFill>
              </a:rPr>
              <a:t>train-labels-idx1-ubyte.gz – 60,000 labels for the training images</a:t>
            </a:r>
            <a:br>
              <a:rPr lang="en-US" dirty="0">
                <a:solidFill>
                  <a:srgbClr val="FFC000"/>
                </a:solidFill>
              </a:rPr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grid of numbers with white squares&#10;&#10;AI-generated content may be incorrect.">
            <a:extLst>
              <a:ext uri="{FF2B5EF4-FFF2-40B4-BE49-F238E27FC236}">
                <a16:creationId xmlns:a16="http://schemas.microsoft.com/office/drawing/2014/main" id="{18EADCBB-3C1B-F3A9-2BF7-00F07A1370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812" y="4868924"/>
            <a:ext cx="2933700" cy="170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24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298E7-2120-761C-CBB9-9EFF59D99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F9FB584-E187-9F8C-CF92-1140261AB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12" y="-230983"/>
            <a:ext cx="10360501" cy="12239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29999"/>
                </a:solidFill>
              </a:rPr>
              <a:t>Reading the Data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D5702E1-44EA-F854-DEA8-7797B3868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011" y="992980"/>
            <a:ext cx="3916399" cy="4459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code reads in the 10,000 Test images picks one and displays it.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 reverse black and white colors:</a:t>
            </a:r>
          </a:p>
          <a:p>
            <a:pPr marL="0" indent="0">
              <a:buNone/>
            </a:pPr>
            <a:r>
              <a:rPr lang="en-US" sz="2000" dirty="0" err="1"/>
              <a:t>plt.imshow</a:t>
            </a:r>
            <a:r>
              <a:rPr lang="en-US" sz="2000" dirty="0"/>
              <a:t>(digit, </a:t>
            </a:r>
            <a:r>
              <a:rPr lang="en-US" sz="2000" dirty="0" err="1"/>
              <a:t>cmap</a:t>
            </a:r>
            <a:r>
              <a:rPr lang="en-US" sz="2000" dirty="0"/>
              <a:t>="</a:t>
            </a:r>
            <a:r>
              <a:rPr lang="en-US" sz="2000" dirty="0" err="1"/>
              <a:t>gray_r</a:t>
            </a:r>
            <a:r>
              <a:rPr lang="en-US" sz="2000" dirty="0"/>
              <a:t>")</a:t>
            </a:r>
          </a:p>
        </p:txBody>
      </p:sp>
      <p:sp>
        <p:nvSpPr>
          <p:cNvPr id="2" name="Action Button: Custom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ABA7475-498B-8FB7-60EA-DFE67D11EC39}"/>
              </a:ext>
            </a:extLst>
          </p:cNvPr>
          <p:cNvSpPr/>
          <p:nvPr/>
        </p:nvSpPr>
        <p:spPr>
          <a:xfrm>
            <a:off x="4905411" y="1371600"/>
            <a:ext cx="7273360" cy="5105401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000" dirty="0"/>
              <a:t>import </a:t>
            </a:r>
            <a:r>
              <a:rPr lang="en-US" sz="2000" dirty="0" err="1"/>
              <a:t>numpy</a:t>
            </a:r>
            <a:r>
              <a:rPr lang="en-US" sz="2000" dirty="0"/>
              <a:t> as np</a:t>
            </a:r>
          </a:p>
          <a:p>
            <a:r>
              <a:rPr lang="en-US" sz="2000" dirty="0"/>
              <a:t>import </a:t>
            </a:r>
            <a:r>
              <a:rPr lang="en-US" sz="2000" dirty="0" err="1"/>
              <a:t>gzip</a:t>
            </a:r>
            <a:endParaRPr lang="en-US" sz="2000" dirty="0"/>
          </a:p>
          <a:p>
            <a:r>
              <a:rPr lang="en-US" sz="2000" dirty="0"/>
              <a:t>import struct</a:t>
            </a:r>
          </a:p>
          <a:p>
            <a:r>
              <a:rPr lang="en-US" sz="2000" dirty="0"/>
              <a:t>import </a:t>
            </a:r>
            <a:r>
              <a:rPr lang="en-US" sz="2000" dirty="0" err="1"/>
              <a:t>matplotlib.pyplot</a:t>
            </a:r>
            <a:r>
              <a:rPr lang="en-US" sz="2000" dirty="0"/>
              <a:t> as </a:t>
            </a:r>
            <a:r>
              <a:rPr lang="en-US" sz="2000" dirty="0" err="1"/>
              <a:t>plt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def </a:t>
            </a:r>
            <a:r>
              <a:rPr lang="en-US" sz="2000" dirty="0" err="1"/>
              <a:t>load_images</a:t>
            </a:r>
            <a:r>
              <a:rPr lang="en-US" sz="2000" dirty="0"/>
              <a:t>(filename):</a:t>
            </a:r>
          </a:p>
          <a:p>
            <a:r>
              <a:rPr lang="en-US" sz="2000" dirty="0"/>
              <a:t>    with </a:t>
            </a:r>
            <a:r>
              <a:rPr lang="en-US" sz="2000" dirty="0" err="1"/>
              <a:t>gzip.open</a:t>
            </a:r>
            <a:r>
              <a:rPr lang="en-US" sz="2000" dirty="0"/>
              <a:t>(filename, '</a:t>
            </a:r>
            <a:r>
              <a:rPr lang="en-US" sz="2000" dirty="0" err="1"/>
              <a:t>rb</a:t>
            </a:r>
            <a:r>
              <a:rPr lang="en-US" sz="2000" dirty="0"/>
              <a:t>') as f:</a:t>
            </a:r>
          </a:p>
          <a:p>
            <a:r>
              <a:rPr lang="en-US" sz="2000" dirty="0"/>
              <a:t>        _, </a:t>
            </a:r>
            <a:r>
              <a:rPr lang="en-US" sz="2000" dirty="0" err="1"/>
              <a:t>n_images</a:t>
            </a:r>
            <a:r>
              <a:rPr lang="en-US" sz="2000" dirty="0"/>
              <a:t>, rows, cols = </a:t>
            </a:r>
            <a:r>
              <a:rPr lang="en-US" sz="2000" dirty="0" err="1"/>
              <a:t>struct.unpack</a:t>
            </a:r>
            <a:r>
              <a:rPr lang="en-US" sz="2000" dirty="0"/>
              <a:t>('&gt;IIII', </a:t>
            </a:r>
            <a:r>
              <a:rPr lang="en-US" sz="2000" dirty="0" err="1"/>
              <a:t>f.read</a:t>
            </a:r>
            <a:r>
              <a:rPr lang="en-US" sz="2000" dirty="0"/>
              <a:t>(16))</a:t>
            </a:r>
          </a:p>
          <a:p>
            <a:r>
              <a:rPr lang="en-US" sz="2000" dirty="0"/>
              <a:t>        data = </a:t>
            </a:r>
            <a:r>
              <a:rPr lang="en-US" sz="2000" dirty="0" err="1"/>
              <a:t>np.frombuffer</a:t>
            </a:r>
            <a:r>
              <a:rPr lang="en-US" sz="2000" dirty="0"/>
              <a:t>(</a:t>
            </a:r>
            <a:r>
              <a:rPr lang="en-US" sz="2000" dirty="0" err="1"/>
              <a:t>f.read</a:t>
            </a:r>
            <a:r>
              <a:rPr lang="en-US" sz="2000" dirty="0"/>
              <a:t>(), </a:t>
            </a:r>
            <a:r>
              <a:rPr lang="en-US" sz="2000" dirty="0" err="1"/>
              <a:t>dtype</a:t>
            </a:r>
            <a:r>
              <a:rPr lang="en-US" sz="2000" dirty="0"/>
              <a:t>=np.uint8)</a:t>
            </a:r>
          </a:p>
          <a:p>
            <a:r>
              <a:rPr lang="en-US" sz="2000" dirty="0"/>
              <a:t>        return </a:t>
            </a:r>
            <a:r>
              <a:rPr lang="en-US" sz="2000" dirty="0" err="1"/>
              <a:t>data.reshape</a:t>
            </a:r>
            <a:r>
              <a:rPr lang="en-US" sz="2000" dirty="0"/>
              <a:t>(</a:t>
            </a:r>
            <a:r>
              <a:rPr lang="en-US" sz="2000" dirty="0" err="1"/>
              <a:t>n_images</a:t>
            </a:r>
            <a:r>
              <a:rPr lang="en-US" sz="2000" dirty="0"/>
              <a:t>, rows, cols)</a:t>
            </a:r>
          </a:p>
          <a:p>
            <a:endParaRPr lang="en-US" sz="2000" dirty="0"/>
          </a:p>
          <a:p>
            <a:r>
              <a:rPr lang="en-US" sz="2000" dirty="0"/>
              <a:t>images = </a:t>
            </a:r>
            <a:r>
              <a:rPr lang="en-US" sz="2000" dirty="0" err="1"/>
              <a:t>load_images</a:t>
            </a:r>
            <a:r>
              <a:rPr lang="en-US" sz="2000" dirty="0"/>
              <a:t>("t10k-images-idx3-ubyte.gz")</a:t>
            </a:r>
          </a:p>
          <a:p>
            <a:r>
              <a:rPr lang="en-US" sz="2000" dirty="0"/>
              <a:t>digit = images[0]</a:t>
            </a:r>
          </a:p>
          <a:p>
            <a:r>
              <a:rPr lang="en-US" sz="2000" dirty="0" err="1"/>
              <a:t>plt.imshow</a:t>
            </a:r>
            <a:r>
              <a:rPr lang="en-US" sz="2000" dirty="0"/>
              <a:t>(digit, </a:t>
            </a:r>
            <a:r>
              <a:rPr lang="en-US" sz="2000" dirty="0" err="1"/>
              <a:t>cmap</a:t>
            </a:r>
            <a:r>
              <a:rPr lang="en-US" sz="2000" dirty="0"/>
              <a:t>="gray")</a:t>
            </a:r>
          </a:p>
          <a:p>
            <a:r>
              <a:rPr lang="en-US" sz="2000" dirty="0" err="1"/>
              <a:t>plt.axis</a:t>
            </a:r>
            <a:r>
              <a:rPr lang="en-US" sz="2000" dirty="0"/>
              <a:t>("off")</a:t>
            </a:r>
          </a:p>
          <a:p>
            <a:r>
              <a:rPr lang="en-US" sz="2000" dirty="0" err="1"/>
              <a:t>plt.show</a:t>
            </a:r>
            <a:r>
              <a:rPr lang="en-US" sz="2000" dirty="0"/>
              <a:t>()</a:t>
            </a:r>
          </a:p>
          <a:p>
            <a:endParaRPr lang="en-US" sz="2000" dirty="0"/>
          </a:p>
          <a:p>
            <a:endParaRPr lang="en-US" sz="2800" dirty="0"/>
          </a:p>
        </p:txBody>
      </p:sp>
      <p:pic>
        <p:nvPicPr>
          <p:cNvPr id="4" name="Picture 3" descr="A number seven on a black background&#10;&#10;AI-generated content may be incorrect.">
            <a:extLst>
              <a:ext uri="{FF2B5EF4-FFF2-40B4-BE49-F238E27FC236}">
                <a16:creationId xmlns:a16="http://schemas.microsoft.com/office/drawing/2014/main" id="{080E6859-BD77-799F-BF7D-49481F40AD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0612" y="1371600"/>
            <a:ext cx="1991658" cy="1980979"/>
          </a:xfrm>
          <a:prstGeom prst="rect">
            <a:avLst/>
          </a:prstGeom>
        </p:spPr>
      </p:pic>
      <p:pic>
        <p:nvPicPr>
          <p:cNvPr id="7" name="Picture 6" descr="A black and white pixelated number&#10;&#10;AI-generated content may be incorrect.">
            <a:extLst>
              <a:ext uri="{FF2B5EF4-FFF2-40B4-BE49-F238E27FC236}">
                <a16:creationId xmlns:a16="http://schemas.microsoft.com/office/drawing/2014/main" id="{123F1ADA-6E46-64B9-5948-7859758627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612" y="4326639"/>
            <a:ext cx="2209800" cy="234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504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EAA7A-7C4F-7D0C-BB6D-2E460B707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>
                <a:solidFill>
                  <a:srgbClr val="FFC000"/>
                </a:solidFill>
              </a:rPr>
              <a:t>Update the code to look at a few other digits?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dirty="0"/>
              <a:t>Are the number randomized or all are the 7s together and all the 8s together….</a:t>
            </a: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39186C63-837D-7609-C6DF-795CEDB8B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12" y="-230983"/>
            <a:ext cx="10360501" cy="12239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29999"/>
                </a:solidFill>
              </a:rPr>
              <a:t>To Do</a:t>
            </a:r>
          </a:p>
        </p:txBody>
      </p:sp>
    </p:spTree>
    <p:extLst>
      <p:ext uri="{BB962C8B-B14F-4D97-AF65-F5344CB8AC3E}">
        <p14:creationId xmlns:p14="http://schemas.microsoft.com/office/powerpoint/2010/main" val="1803067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EE5C0-90EF-7320-67B0-7D05BB17A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C42E804-1AE8-70EC-C219-060C116FA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12" y="-230983"/>
            <a:ext cx="10360501" cy="12239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29999"/>
                </a:solidFill>
              </a:rPr>
              <a:t>Matching Labels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EBE345C-F9CB-4A8F-8CDB-B1EA2B95A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011" y="992980"/>
            <a:ext cx="3916399" cy="4459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matching labels are stored in a different file. 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We can see the 1</a:t>
            </a:r>
            <a:r>
              <a:rPr lang="en-US" sz="2000" baseline="30000" dirty="0"/>
              <a:t>st</a:t>
            </a:r>
            <a:r>
              <a:rPr lang="en-US" sz="2000" dirty="0"/>
              <a:t> image is a 7.  Let’s make sure the label matches.</a:t>
            </a:r>
          </a:p>
        </p:txBody>
      </p:sp>
      <p:sp>
        <p:nvSpPr>
          <p:cNvPr id="2" name="Action Button: Custom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9E8187B8-60F8-2187-38FB-018CB0F0FB1D}"/>
              </a:ext>
            </a:extLst>
          </p:cNvPr>
          <p:cNvSpPr/>
          <p:nvPr/>
        </p:nvSpPr>
        <p:spPr>
          <a:xfrm>
            <a:off x="5103811" y="1371601"/>
            <a:ext cx="7074959" cy="4080932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000" dirty="0"/>
              <a:t>def </a:t>
            </a:r>
            <a:r>
              <a:rPr lang="en-US" sz="2000" dirty="0" err="1"/>
              <a:t>load_labels</a:t>
            </a:r>
            <a:r>
              <a:rPr lang="en-US" sz="2000" dirty="0"/>
              <a:t>(filename):</a:t>
            </a:r>
          </a:p>
          <a:p>
            <a:r>
              <a:rPr lang="en-US" sz="2000" dirty="0"/>
              <a:t>    with </a:t>
            </a:r>
            <a:r>
              <a:rPr lang="en-US" sz="2000" dirty="0" err="1"/>
              <a:t>gzip.open</a:t>
            </a:r>
            <a:r>
              <a:rPr lang="en-US" sz="2000" dirty="0"/>
              <a:t>(filename, '</a:t>
            </a:r>
            <a:r>
              <a:rPr lang="en-US" sz="2000" dirty="0" err="1"/>
              <a:t>rb</a:t>
            </a:r>
            <a:r>
              <a:rPr lang="en-US" sz="2000" dirty="0"/>
              <a:t>') as f:</a:t>
            </a:r>
          </a:p>
          <a:p>
            <a:r>
              <a:rPr lang="en-US" sz="2000" dirty="0"/>
              <a:t>        # header: magic + number</a:t>
            </a:r>
          </a:p>
          <a:p>
            <a:r>
              <a:rPr lang="en-US" sz="2000" dirty="0"/>
              <a:t>        magic, </a:t>
            </a:r>
            <a:r>
              <a:rPr lang="en-US" sz="2000" dirty="0" err="1"/>
              <a:t>n_labels</a:t>
            </a:r>
            <a:r>
              <a:rPr lang="en-US" sz="2000" dirty="0"/>
              <a:t> = </a:t>
            </a:r>
            <a:r>
              <a:rPr lang="en-US" sz="2000" dirty="0" err="1"/>
              <a:t>struct.unpack</a:t>
            </a:r>
            <a:r>
              <a:rPr lang="en-US" sz="2000" dirty="0"/>
              <a:t>("&gt;II", </a:t>
            </a:r>
            <a:r>
              <a:rPr lang="en-US" sz="2000" dirty="0" err="1"/>
              <a:t>f.read</a:t>
            </a:r>
            <a:r>
              <a:rPr lang="en-US" sz="2000" dirty="0"/>
              <a:t>(8))</a:t>
            </a:r>
          </a:p>
          <a:p>
            <a:r>
              <a:rPr lang="en-US" sz="2000" dirty="0"/>
              <a:t>        labels = </a:t>
            </a:r>
            <a:r>
              <a:rPr lang="en-US" sz="2000" dirty="0" err="1"/>
              <a:t>np.frombuffer</a:t>
            </a:r>
            <a:r>
              <a:rPr lang="en-US" sz="2000" dirty="0"/>
              <a:t>(</a:t>
            </a:r>
            <a:r>
              <a:rPr lang="en-US" sz="2000" dirty="0" err="1"/>
              <a:t>f.read</a:t>
            </a:r>
            <a:r>
              <a:rPr lang="en-US" sz="2000" dirty="0"/>
              <a:t>(), </a:t>
            </a:r>
            <a:r>
              <a:rPr lang="en-US" sz="2000" dirty="0" err="1"/>
              <a:t>dtype</a:t>
            </a:r>
            <a:r>
              <a:rPr lang="en-US" sz="2000" dirty="0"/>
              <a:t>=np.uint8)</a:t>
            </a:r>
          </a:p>
          <a:p>
            <a:r>
              <a:rPr lang="en-US" sz="2000" dirty="0"/>
              <a:t>    return labels</a:t>
            </a:r>
          </a:p>
          <a:p>
            <a:endParaRPr lang="en-US" sz="2000" dirty="0"/>
          </a:p>
          <a:p>
            <a:r>
              <a:rPr lang="en-US" sz="2000" dirty="0" err="1"/>
              <a:t>Y_test_all</a:t>
            </a:r>
            <a:r>
              <a:rPr lang="en-US" sz="2000" dirty="0"/>
              <a:t> = </a:t>
            </a:r>
            <a:r>
              <a:rPr lang="en-US" sz="2000" dirty="0" err="1"/>
              <a:t>load_labels</a:t>
            </a:r>
            <a:r>
              <a:rPr lang="en-US" sz="2000" dirty="0"/>
              <a:t>("t10k-labels-idx1-ubyte.gz")</a:t>
            </a:r>
          </a:p>
          <a:p>
            <a:endParaRPr lang="en-US" sz="2000" dirty="0"/>
          </a:p>
          <a:p>
            <a:r>
              <a:rPr lang="en-US" sz="2000" dirty="0"/>
              <a:t># Pick one digit</a:t>
            </a:r>
          </a:p>
          <a:p>
            <a:r>
              <a:rPr lang="en-US" sz="2000" dirty="0"/>
              <a:t>n=0</a:t>
            </a:r>
          </a:p>
          <a:p>
            <a:r>
              <a:rPr lang="en-US" sz="2000" dirty="0"/>
              <a:t>digit = images[n]</a:t>
            </a:r>
          </a:p>
          <a:p>
            <a:r>
              <a:rPr lang="en-US" sz="2000" dirty="0"/>
              <a:t>print(</a:t>
            </a:r>
            <a:r>
              <a:rPr lang="en-US" sz="2000" dirty="0" err="1"/>
              <a:t>f"The</a:t>
            </a:r>
            <a:r>
              <a:rPr lang="en-US" sz="2000" dirty="0"/>
              <a:t> label for this digit is: {</a:t>
            </a:r>
            <a:r>
              <a:rPr lang="en-US" sz="2000" dirty="0" err="1"/>
              <a:t>Y_test_all</a:t>
            </a:r>
            <a:r>
              <a:rPr lang="en-US" sz="2000" dirty="0"/>
              <a:t>[n]}")</a:t>
            </a:r>
          </a:p>
          <a:p>
            <a:endParaRPr lang="en-US" sz="2800" dirty="0"/>
          </a:p>
        </p:txBody>
      </p:sp>
      <p:pic>
        <p:nvPicPr>
          <p:cNvPr id="4" name="Picture 3" descr="A number seven on a black background&#10;&#10;AI-generated content may be incorrect.">
            <a:extLst>
              <a:ext uri="{FF2B5EF4-FFF2-40B4-BE49-F238E27FC236}">
                <a16:creationId xmlns:a16="http://schemas.microsoft.com/office/drawing/2014/main" id="{C2D7B6F2-D7BB-3F01-FCAE-DCB4A57530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013" y="-30480"/>
            <a:ext cx="1991658" cy="19809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890BA3-D239-C64F-699B-18A66DD21C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471"/>
          <a:stretch/>
        </p:blipFill>
        <p:spPr>
          <a:xfrm>
            <a:off x="581517" y="5708387"/>
            <a:ext cx="6756400" cy="31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741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32CB5-6019-7244-DD47-6A4265484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1263D-E86C-A537-354E-7C8381270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612" y="1524000"/>
            <a:ext cx="10360501" cy="446227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4800" dirty="0"/>
              <a:t>Right now, we are only reading the 10,000 test images and labels.  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dirty="0"/>
              <a:t>Update the code to also read in the 60,000 training data images and labels.</a:t>
            </a:r>
          </a:p>
          <a:p>
            <a:pPr marL="0" indent="0">
              <a:buNone/>
            </a:pPr>
            <a:r>
              <a:rPr lang="en-US" sz="4800" dirty="0">
                <a:solidFill>
                  <a:srgbClr val="FFC000"/>
                </a:solidFill>
              </a:rPr>
              <a:t>train-images-idx3-ubyte.gz</a:t>
            </a:r>
          </a:p>
          <a:p>
            <a:pPr marL="0" indent="0">
              <a:buNone/>
            </a:pPr>
            <a:r>
              <a:rPr lang="en-US" sz="4800" dirty="0">
                <a:solidFill>
                  <a:srgbClr val="FFC000"/>
                </a:solidFill>
              </a:rPr>
              <a:t>train-labels-idx1-ubyte.gz</a:t>
            </a: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C55B598A-BFE3-9726-1133-A70685ACA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12" y="-230983"/>
            <a:ext cx="10360501" cy="12239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29999"/>
                </a:solidFill>
              </a:rPr>
              <a:t>To Do</a:t>
            </a:r>
          </a:p>
        </p:txBody>
      </p:sp>
    </p:spTree>
    <p:extLst>
      <p:ext uri="{BB962C8B-B14F-4D97-AF65-F5344CB8AC3E}">
        <p14:creationId xmlns:p14="http://schemas.microsoft.com/office/powerpoint/2010/main" val="584684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5D05-DED7-054C-8FF7-FE20072D4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4775E-3BF7-2AE9-436A-D04E52332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612" y="1026847"/>
            <a:ext cx="10360501" cy="4462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Let’s say we have data points for 2 features and labels(classification).   </a:t>
            </a:r>
            <a:r>
              <a:rPr lang="en-US" sz="3200" dirty="0">
                <a:solidFill>
                  <a:srgbClr val="FFC000"/>
                </a:solidFill>
              </a:rPr>
              <a:t>Linear classification </a:t>
            </a:r>
            <a:r>
              <a:rPr lang="en-US" sz="3200" dirty="0"/>
              <a:t>will look for the best line to spit the data.  If I give you a new data point, you can tell me if it’s in the </a:t>
            </a:r>
            <a:r>
              <a:rPr lang="en-US" sz="3200" dirty="0">
                <a:solidFill>
                  <a:srgbClr val="0070C0"/>
                </a:solidFill>
              </a:rPr>
              <a:t>Blue Class </a:t>
            </a:r>
            <a:r>
              <a:rPr lang="en-US" sz="3200" dirty="0"/>
              <a:t>or the </a:t>
            </a:r>
            <a:r>
              <a:rPr lang="en-US" sz="3200" dirty="0">
                <a:solidFill>
                  <a:srgbClr val="FF0000"/>
                </a:solidFill>
              </a:rPr>
              <a:t>Red Class</a:t>
            </a: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985F0266-7BB8-D2E5-50DB-69DA51428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12" y="-230983"/>
            <a:ext cx="10360501" cy="12239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29999"/>
                </a:solidFill>
              </a:rPr>
              <a:t>Linear Classification</a:t>
            </a:r>
          </a:p>
        </p:txBody>
      </p:sp>
      <p:pic>
        <p:nvPicPr>
          <p:cNvPr id="5" name="Picture 4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431958A2-A35D-79FC-7331-1CABE0DEE7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074" y="3124200"/>
            <a:ext cx="4540249" cy="3473254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836F6635-CEC0-B1C8-D9FF-043E937AB226}"/>
              </a:ext>
            </a:extLst>
          </p:cNvPr>
          <p:cNvSpPr/>
          <p:nvPr/>
        </p:nvSpPr>
        <p:spPr>
          <a:xfrm>
            <a:off x="9752012" y="4267200"/>
            <a:ext cx="152400" cy="1524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rgbClr val="FFFF00"/>
              </a:solidFill>
            </a:endParaRPr>
          </a:p>
        </p:txBody>
      </p:sp>
      <p:sp>
        <p:nvSpPr>
          <p:cNvPr id="6" name="Rectangular Callout 5">
            <a:extLst>
              <a:ext uri="{FF2B5EF4-FFF2-40B4-BE49-F238E27FC236}">
                <a16:creationId xmlns:a16="http://schemas.microsoft.com/office/drawing/2014/main" id="{95C2319A-B24C-9C80-EB39-45FECA234C1C}"/>
              </a:ext>
            </a:extLst>
          </p:cNvPr>
          <p:cNvSpPr/>
          <p:nvPr/>
        </p:nvSpPr>
        <p:spPr>
          <a:xfrm>
            <a:off x="3884612" y="3429000"/>
            <a:ext cx="2514600" cy="914400"/>
          </a:xfrm>
          <a:prstGeom prst="wedgeRectCallout">
            <a:avLst>
              <a:gd name="adj1" fmla="val 179468"/>
              <a:gd name="adj2" fmla="val 4951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Which class is this new point?</a:t>
            </a:r>
          </a:p>
        </p:txBody>
      </p:sp>
    </p:spTree>
    <p:extLst>
      <p:ext uri="{BB962C8B-B14F-4D97-AF65-F5344CB8AC3E}">
        <p14:creationId xmlns:p14="http://schemas.microsoft.com/office/powerpoint/2010/main" val="406944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B59D2-C76F-5ECF-86F9-29B093DD9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994DD-38B5-489A-FA0E-E661909E2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161" y="1005691"/>
            <a:ext cx="10360501" cy="4462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K-nearest neighbors algorithm does not need a decision line.  Instead, it uses the K-Nearest Neighbors classifications to decide on the new point’s classification. (K is number of neighbors you consider, ex 1, 2, 3)</a:t>
            </a:r>
          </a:p>
          <a:p>
            <a:pPr marL="0" indent="0">
              <a:buNone/>
            </a:pPr>
            <a:endParaRPr lang="en-US" sz="32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rgbClr val="FFC000"/>
              </a:solidFill>
            </a:endParaRP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1B760753-DBBB-EB79-2E3C-79308D559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12" y="-218272"/>
            <a:ext cx="10360501" cy="12239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29999"/>
                </a:solidFill>
              </a:rPr>
              <a:t>K-nearest Neighbors</a:t>
            </a:r>
          </a:p>
        </p:txBody>
      </p:sp>
      <p:pic>
        <p:nvPicPr>
          <p:cNvPr id="9" name="Picture 8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251470E5-B083-609C-FEEB-B835E1898B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341" y="2438400"/>
            <a:ext cx="4947511" cy="391160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65ECCFC0-BA70-E6A1-0657-1BA9BC298003}"/>
              </a:ext>
            </a:extLst>
          </p:cNvPr>
          <p:cNvSpPr/>
          <p:nvPr/>
        </p:nvSpPr>
        <p:spPr>
          <a:xfrm>
            <a:off x="8990012" y="3429000"/>
            <a:ext cx="152400" cy="1524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rgbClr val="FFFF00"/>
              </a:solidFill>
            </a:endParaRPr>
          </a:p>
        </p:txBody>
      </p:sp>
      <p:sp>
        <p:nvSpPr>
          <p:cNvPr id="11" name="Rectangular Callout 10">
            <a:extLst>
              <a:ext uri="{FF2B5EF4-FFF2-40B4-BE49-F238E27FC236}">
                <a16:creationId xmlns:a16="http://schemas.microsoft.com/office/drawing/2014/main" id="{26D6FC3D-F444-1CB3-DF93-F191DD3D8BB7}"/>
              </a:ext>
            </a:extLst>
          </p:cNvPr>
          <p:cNvSpPr/>
          <p:nvPr/>
        </p:nvSpPr>
        <p:spPr>
          <a:xfrm>
            <a:off x="3552824" y="4267200"/>
            <a:ext cx="2514600" cy="914400"/>
          </a:xfrm>
          <a:prstGeom prst="wedgeRectCallout">
            <a:avLst>
              <a:gd name="adj1" fmla="val 165999"/>
              <a:gd name="adj2" fmla="val -1190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Which class is this new point?</a:t>
            </a:r>
          </a:p>
        </p:txBody>
      </p:sp>
    </p:spTree>
    <p:extLst>
      <p:ext uri="{BB962C8B-B14F-4D97-AF65-F5344CB8AC3E}">
        <p14:creationId xmlns:p14="http://schemas.microsoft.com/office/powerpoint/2010/main" val="3516170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319C7-A1C4-F0BA-752F-3FF10503B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57FA3-EF1B-B89B-297D-8FB1954EB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161" y="1005691"/>
            <a:ext cx="10360501" cy="4462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There are several ways to decide on the nearest neighbors. For example….</a:t>
            </a:r>
          </a:p>
          <a:p>
            <a:pPr marL="0" indent="0">
              <a:buNone/>
            </a:pPr>
            <a:endParaRPr lang="en-US" sz="3200" dirty="0"/>
          </a:p>
          <a:p>
            <a:pPr marL="514350" indent="-514350">
              <a:buAutoNum type="arabicParenR"/>
            </a:pPr>
            <a:r>
              <a:rPr lang="en-US" sz="3200" dirty="0"/>
              <a:t>Euclidean distance</a:t>
            </a:r>
          </a:p>
          <a:p>
            <a:pPr marL="514350" indent="-514350">
              <a:buAutoNum type="arabicParenR"/>
            </a:pPr>
            <a:endParaRPr lang="en-US" sz="3200" dirty="0"/>
          </a:p>
          <a:p>
            <a:pPr marL="514350" indent="-514350">
              <a:buAutoNum type="arabicParenR"/>
            </a:pPr>
            <a:r>
              <a:rPr lang="en-US" sz="3200" dirty="0"/>
              <a:t>Manhattan distance</a:t>
            </a:r>
          </a:p>
          <a:p>
            <a:pPr marL="514350" indent="-514350">
              <a:buAutoNum type="arabicParenR"/>
            </a:pPr>
            <a:endParaRPr lang="en-US" sz="3200" dirty="0"/>
          </a:p>
          <a:p>
            <a:pPr marL="514350" indent="-514350">
              <a:buAutoNum type="arabicParenR"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514350" indent="-514350">
              <a:buAutoNum type="arabicParenR"/>
            </a:pPr>
            <a:endParaRPr lang="en-US" sz="3200" dirty="0"/>
          </a:p>
          <a:p>
            <a:pPr marL="0" indent="0">
              <a:buNone/>
            </a:pPr>
            <a:endParaRPr lang="en-US" sz="32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rgbClr val="FFC000"/>
              </a:solidFill>
            </a:endParaRP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7555BBB8-D2C3-2E8A-4A04-0EA806F3C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12" y="-218272"/>
            <a:ext cx="10360501" cy="1223963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solidFill>
                  <a:srgbClr val="029999"/>
                </a:solidFill>
              </a:rPr>
              <a:t>How to Determine Nearest Neighbors</a:t>
            </a:r>
          </a:p>
        </p:txBody>
      </p:sp>
      <p:pic>
        <p:nvPicPr>
          <p:cNvPr id="9" name="Picture 8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8920809D-7567-F292-F0BA-949782E645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812" y="2590800"/>
            <a:ext cx="4947511" cy="3911600"/>
          </a:xfrm>
          <a:prstGeom prst="rect">
            <a:avLst/>
          </a:prstGeom>
        </p:spPr>
      </p:pic>
      <p:pic>
        <p:nvPicPr>
          <p:cNvPr id="5" name="Picture 4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C449FDFA-C947-06E1-A168-30F11EC99C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551" y="3289300"/>
            <a:ext cx="4165600" cy="584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5A75FF-F84F-C71C-E861-E43674BB35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282" y="4555067"/>
            <a:ext cx="49022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089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7A339-7D15-AD95-0C7A-C4A45951C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7FBFB-E8C5-AAC8-DCF0-233041150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612" y="992980"/>
            <a:ext cx="10360501" cy="4462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If your neighbors have different classes, pick the majority.</a:t>
            </a:r>
            <a:endParaRPr lang="en-US" sz="32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3200" dirty="0"/>
              <a:t>Looking at the 3-nearest neighbors of our yellow point, 2 neighbors are red and 1 is blue.  </a:t>
            </a:r>
            <a:br>
              <a:rPr lang="en-US" sz="3200" dirty="0">
                <a:solidFill>
                  <a:srgbClr val="FFC000"/>
                </a:solidFill>
              </a:rPr>
            </a:br>
            <a:r>
              <a:rPr lang="en-US" sz="3200" dirty="0">
                <a:solidFill>
                  <a:srgbClr val="FFC000"/>
                </a:solidFill>
              </a:rPr>
              <a:t>So, we classify this as a red point.</a:t>
            </a:r>
          </a:p>
          <a:p>
            <a:pPr marL="0" indent="0">
              <a:buNone/>
            </a:pPr>
            <a:endParaRPr lang="en-US" sz="32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3200" dirty="0"/>
              <a:t>It’s a good idea to pick an odd</a:t>
            </a:r>
            <a:br>
              <a:rPr lang="en-US" sz="3200" dirty="0"/>
            </a:br>
            <a:r>
              <a:rPr lang="en-US" sz="3200" dirty="0"/>
              <a:t>number for k to avoid ties.</a:t>
            </a: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9B2EC6F9-6630-6B71-8436-D8031B3A1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12" y="-230983"/>
            <a:ext cx="10360501" cy="12239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29999"/>
                </a:solidFill>
              </a:rPr>
              <a:t>Majority Classification</a:t>
            </a:r>
          </a:p>
        </p:txBody>
      </p:sp>
      <p:pic>
        <p:nvPicPr>
          <p:cNvPr id="2" name="Picture 1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282C63A4-64C3-B9A4-DC2F-4EA7CA50F4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341" y="2438400"/>
            <a:ext cx="4947511" cy="39116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80DF1E3-A8DB-666E-EC8D-0AE14F4CDF65}"/>
              </a:ext>
            </a:extLst>
          </p:cNvPr>
          <p:cNvSpPr/>
          <p:nvPr/>
        </p:nvSpPr>
        <p:spPr>
          <a:xfrm>
            <a:off x="8151812" y="4876800"/>
            <a:ext cx="152400" cy="1524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256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17130-2B93-B61E-AF81-D3EAB20B3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C6112-D379-2956-E701-D0B4300F6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12" y="1197864"/>
            <a:ext cx="10360501" cy="4462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The MNIST data images are 28x28, 784 pixels total.</a:t>
            </a:r>
          </a:p>
          <a:p>
            <a:pPr marL="0" indent="0">
              <a:buNone/>
            </a:pPr>
            <a:r>
              <a:rPr lang="en-US" sz="3200" dirty="0"/>
              <a:t>Each pixel can be treated as a feature.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It’s easy for humans to visualize 2 D graphs (2 features), and 3 D graphs (3 features), but visualizing a 784 D graph is not so easy.  There is no way to create a scatter plot for that.  </a:t>
            </a:r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4800" dirty="0"/>
              <a:t> </a:t>
            </a:r>
            <a:endParaRPr lang="en-US" sz="4800" dirty="0">
              <a:solidFill>
                <a:srgbClr val="FFC000"/>
              </a:solidFill>
            </a:endParaRP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5C136AB1-9CD7-5DB4-5ECB-928A01FB6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12" y="-230983"/>
            <a:ext cx="10360501" cy="12239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29999"/>
                </a:solidFill>
              </a:rPr>
              <a:t>MNIST - K Nearest Neighbors</a:t>
            </a:r>
          </a:p>
        </p:txBody>
      </p:sp>
    </p:spTree>
    <p:extLst>
      <p:ext uri="{BB962C8B-B14F-4D97-AF65-F5344CB8AC3E}">
        <p14:creationId xmlns:p14="http://schemas.microsoft.com/office/powerpoint/2010/main" val="2406064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F4FCB-E49C-EAF6-3A61-EB31F5ED9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71F7A-2CBF-77BF-22E3-1CFC593B3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26" y="6460732"/>
            <a:ext cx="9677400" cy="68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hlinkClick r:id="rId3"/>
              </a:rPr>
              <a:t>https://scikit-learn.org/stable/modules/generated/sklearn.neighbors.KNeighborsClassifier.html</a:t>
            </a:r>
            <a:endParaRPr lang="en-US" sz="1400" dirty="0"/>
          </a:p>
          <a:p>
            <a:pPr marL="0" indent="0">
              <a:buNone/>
            </a:pPr>
            <a:endParaRPr lang="en-US" sz="1400" dirty="0">
              <a:solidFill>
                <a:srgbClr val="FFC000"/>
              </a:solidFill>
            </a:endParaRP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6387FDF2-6BC6-B9A9-C5E5-995035554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12" y="-230983"/>
            <a:ext cx="10360501" cy="12239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29999"/>
                </a:solidFill>
              </a:rPr>
              <a:t>Scikit-Learn </a:t>
            </a:r>
            <a:r>
              <a:rPr lang="en-US" sz="5400" dirty="0" err="1">
                <a:solidFill>
                  <a:srgbClr val="029999"/>
                </a:solidFill>
              </a:rPr>
              <a:t>KNeighborsClassifier</a:t>
            </a:r>
            <a:endParaRPr lang="en-US" sz="5400" dirty="0">
              <a:solidFill>
                <a:srgbClr val="029999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F1B1CCF-72F7-A93E-73C4-2D2C51308A5C}"/>
              </a:ext>
            </a:extLst>
          </p:cNvPr>
          <p:cNvSpPr txBox="1">
            <a:spLocks/>
          </p:cNvSpPr>
          <p:nvPr/>
        </p:nvSpPr>
        <p:spPr>
          <a:xfrm>
            <a:off x="1065212" y="955318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3200" dirty="0"/>
              <a:t>The Scikit-Learn Module has a </a:t>
            </a:r>
            <a:r>
              <a:rPr lang="en-US" sz="3200" dirty="0" err="1"/>
              <a:t>KNeighborsClassifier</a:t>
            </a:r>
            <a:r>
              <a:rPr lang="en-US" sz="3200" dirty="0"/>
              <a:t> class that can assist in K-nearest Neighbor Classification.</a:t>
            </a:r>
            <a:endParaRPr lang="en-US" sz="3200" dirty="0">
              <a:solidFill>
                <a:srgbClr val="FFC000"/>
              </a:solidFill>
            </a:endParaRPr>
          </a:p>
          <a:p>
            <a:pPr marL="0" indent="0">
              <a:buFont typeface="Arial" pitchFamily="34" charset="0"/>
              <a:buNone/>
            </a:pPr>
            <a:r>
              <a:rPr lang="en-US" sz="3200" dirty="0"/>
              <a:t>We can use it on our Blue Red example to classify a new point.  </a:t>
            </a:r>
          </a:p>
          <a:p>
            <a:pPr marL="0" indent="0">
              <a:buFont typeface="Arial" pitchFamily="34" charset="0"/>
              <a:buNone/>
            </a:pPr>
            <a:endParaRPr lang="en-US" sz="4800" dirty="0">
              <a:solidFill>
                <a:srgbClr val="FFC000"/>
              </a:solidFill>
            </a:endParaRPr>
          </a:p>
        </p:txBody>
      </p:sp>
      <p:pic>
        <p:nvPicPr>
          <p:cNvPr id="6" name="Picture 5" descr="Blue letters on a white background&#10;&#10;AI-generated content may be incorrect.">
            <a:extLst>
              <a:ext uri="{FF2B5EF4-FFF2-40B4-BE49-F238E27FC236}">
                <a16:creationId xmlns:a16="http://schemas.microsoft.com/office/drawing/2014/main" id="{680726B5-C17E-8236-4668-3FD19D6B22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812" y="4680990"/>
            <a:ext cx="3060700" cy="736600"/>
          </a:xfrm>
          <a:prstGeom prst="rect">
            <a:avLst/>
          </a:prstGeom>
        </p:spPr>
      </p:pic>
      <p:pic>
        <p:nvPicPr>
          <p:cNvPr id="8" name="Picture 7" descr="A graph with colored dots&#10;&#10;AI-generated content may be incorrect.">
            <a:extLst>
              <a:ext uri="{FF2B5EF4-FFF2-40B4-BE49-F238E27FC236}">
                <a16:creationId xmlns:a16="http://schemas.microsoft.com/office/drawing/2014/main" id="{8FF206EB-D53B-C9DE-EEC7-4BBA17D1AD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6775" y="2743200"/>
            <a:ext cx="4972050" cy="384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203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4E855-C970-88C3-7474-A16BE65B9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50241-8C89-1C90-7B06-27DCA84AF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26" y="6460732"/>
            <a:ext cx="9677400" cy="68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hlinkClick r:id="rId3"/>
              </a:rPr>
              <a:t>https://scikit-learn.org/stable/modules/generated/sklearn.neighbors.KNeighborsClassifier.html</a:t>
            </a:r>
            <a:endParaRPr lang="en-US" sz="1400" dirty="0"/>
          </a:p>
          <a:p>
            <a:pPr marL="0" indent="0">
              <a:buNone/>
            </a:pPr>
            <a:endParaRPr lang="en-US" sz="1400" dirty="0">
              <a:solidFill>
                <a:srgbClr val="FFC000"/>
              </a:solidFill>
            </a:endParaRP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3878C1E1-6B99-340F-A908-FCF4B156B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12" y="-230983"/>
            <a:ext cx="10360501" cy="12239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29999"/>
                </a:solidFill>
              </a:rPr>
              <a:t>Scikit-Learn </a:t>
            </a:r>
            <a:r>
              <a:rPr lang="en-US" sz="5400" dirty="0" err="1">
                <a:solidFill>
                  <a:srgbClr val="029999"/>
                </a:solidFill>
              </a:rPr>
              <a:t>KNeighborsClassifier</a:t>
            </a:r>
            <a:endParaRPr lang="en-US" sz="5400" dirty="0">
              <a:solidFill>
                <a:srgbClr val="029999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B7BBD7E-0883-4F69-36FD-A9805B6972A4}"/>
              </a:ext>
            </a:extLst>
          </p:cNvPr>
          <p:cNvSpPr txBox="1">
            <a:spLocks/>
          </p:cNvSpPr>
          <p:nvPr/>
        </p:nvSpPr>
        <p:spPr>
          <a:xfrm>
            <a:off x="914161" y="1864161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 fontScale="85000" lnSpcReduction="20000"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3200" dirty="0"/>
              <a:t>#training data must be 2D array</a:t>
            </a:r>
          </a:p>
          <a:p>
            <a:pPr marL="0" indent="0">
              <a:buFont typeface="Arial" pitchFamily="34" charset="0"/>
              <a:buNone/>
            </a:pPr>
            <a:r>
              <a:rPr lang="en-US" sz="3200" dirty="0" err="1"/>
              <a:t>X_train</a:t>
            </a:r>
            <a:r>
              <a:rPr lang="en-US" sz="3200" dirty="0"/>
              <a:t> = [[</a:t>
            </a:r>
            <a:r>
              <a:rPr lang="en-US" sz="3200" dirty="0" err="1"/>
              <a:t>x_blue</a:t>
            </a:r>
            <a:r>
              <a:rPr lang="en-US" sz="3200" dirty="0"/>
              <a:t>[</a:t>
            </a:r>
            <a:r>
              <a:rPr lang="en-US" sz="3200" dirty="0" err="1"/>
              <a:t>i</a:t>
            </a:r>
            <a:r>
              <a:rPr lang="en-US" sz="3200" dirty="0"/>
              <a:t>], </a:t>
            </a:r>
            <a:r>
              <a:rPr lang="en-US" sz="3200" dirty="0" err="1"/>
              <a:t>y_blue</a:t>
            </a:r>
            <a:r>
              <a:rPr lang="en-US" sz="3200" dirty="0"/>
              <a:t>[</a:t>
            </a:r>
            <a:r>
              <a:rPr lang="en-US" sz="3200" dirty="0" err="1"/>
              <a:t>i</a:t>
            </a:r>
            <a:r>
              <a:rPr lang="en-US" sz="3200" dirty="0"/>
              <a:t>]] for </a:t>
            </a:r>
            <a:r>
              <a:rPr lang="en-US" sz="3200" dirty="0" err="1"/>
              <a:t>i</a:t>
            </a:r>
            <a:r>
              <a:rPr lang="en-US" sz="3200" dirty="0"/>
              <a:t> in range(</a:t>
            </a:r>
            <a:r>
              <a:rPr lang="en-US" sz="3200" dirty="0" err="1"/>
              <a:t>len</a:t>
            </a:r>
            <a:r>
              <a:rPr lang="en-US" sz="3200" dirty="0"/>
              <a:t>(</a:t>
            </a:r>
            <a:r>
              <a:rPr lang="en-US" sz="3200" dirty="0" err="1"/>
              <a:t>x_blue</a:t>
            </a:r>
            <a:r>
              <a:rPr lang="en-US" sz="3200" dirty="0"/>
              <a:t>))] + \</a:t>
            </a:r>
          </a:p>
          <a:p>
            <a:pPr marL="0" indent="0">
              <a:buFont typeface="Arial" pitchFamily="34" charset="0"/>
              <a:buNone/>
            </a:pPr>
            <a:r>
              <a:rPr lang="en-US" sz="3200" dirty="0"/>
              <a:t>          [[</a:t>
            </a:r>
            <a:r>
              <a:rPr lang="en-US" sz="3200" dirty="0" err="1"/>
              <a:t>x_red</a:t>
            </a:r>
            <a:r>
              <a:rPr lang="en-US" sz="3200" dirty="0"/>
              <a:t>[</a:t>
            </a:r>
            <a:r>
              <a:rPr lang="en-US" sz="3200" dirty="0" err="1"/>
              <a:t>i</a:t>
            </a:r>
            <a:r>
              <a:rPr lang="en-US" sz="3200" dirty="0"/>
              <a:t>], </a:t>
            </a:r>
            <a:r>
              <a:rPr lang="en-US" sz="3200" dirty="0" err="1"/>
              <a:t>y_red</a:t>
            </a:r>
            <a:r>
              <a:rPr lang="en-US" sz="3200" dirty="0"/>
              <a:t>[</a:t>
            </a:r>
            <a:r>
              <a:rPr lang="en-US" sz="3200" dirty="0" err="1"/>
              <a:t>i</a:t>
            </a:r>
            <a:r>
              <a:rPr lang="en-US" sz="3200" dirty="0"/>
              <a:t>]] for </a:t>
            </a:r>
            <a:r>
              <a:rPr lang="en-US" sz="3200" dirty="0" err="1"/>
              <a:t>i</a:t>
            </a:r>
            <a:r>
              <a:rPr lang="en-US" sz="3200" dirty="0"/>
              <a:t> in range(</a:t>
            </a:r>
            <a:r>
              <a:rPr lang="en-US" sz="3200" dirty="0" err="1"/>
              <a:t>len</a:t>
            </a:r>
            <a:r>
              <a:rPr lang="en-US" sz="3200" dirty="0"/>
              <a:t>(</a:t>
            </a:r>
            <a:r>
              <a:rPr lang="en-US" sz="3200" dirty="0" err="1"/>
              <a:t>x_red</a:t>
            </a:r>
            <a:r>
              <a:rPr lang="en-US" sz="3200" dirty="0"/>
              <a:t>))]</a:t>
            </a:r>
          </a:p>
          <a:p>
            <a:pPr marL="0" indent="0">
              <a:buFont typeface="Arial" pitchFamily="34" charset="0"/>
              <a:buNone/>
            </a:pPr>
            <a:r>
              <a:rPr lang="en-US" sz="3200" dirty="0" err="1"/>
              <a:t>y_train</a:t>
            </a:r>
            <a:r>
              <a:rPr lang="en-US" sz="3200" dirty="0"/>
              <a:t> = ['blue']*</a:t>
            </a:r>
            <a:r>
              <a:rPr lang="en-US" sz="3200" dirty="0" err="1"/>
              <a:t>len</a:t>
            </a:r>
            <a:r>
              <a:rPr lang="en-US" sz="3200" dirty="0"/>
              <a:t>(</a:t>
            </a:r>
            <a:r>
              <a:rPr lang="en-US" sz="3200" dirty="0" err="1"/>
              <a:t>x_blue</a:t>
            </a:r>
            <a:r>
              <a:rPr lang="en-US" sz="3200" dirty="0"/>
              <a:t>) + ['red']*</a:t>
            </a:r>
            <a:r>
              <a:rPr lang="en-US" sz="3200" dirty="0" err="1"/>
              <a:t>len</a:t>
            </a:r>
            <a:r>
              <a:rPr lang="en-US" sz="3200" dirty="0"/>
              <a:t>(</a:t>
            </a:r>
            <a:r>
              <a:rPr lang="en-US" sz="3200" dirty="0" err="1"/>
              <a:t>x_red</a:t>
            </a:r>
            <a:r>
              <a:rPr lang="en-US" sz="3200" dirty="0"/>
              <a:t>)</a:t>
            </a:r>
          </a:p>
          <a:p>
            <a:pPr marL="0" indent="0">
              <a:buFont typeface="Arial" pitchFamily="34" charset="0"/>
              <a:buNone/>
            </a:pPr>
            <a:endParaRPr lang="en-US" sz="3200" dirty="0"/>
          </a:p>
          <a:p>
            <a:pPr marL="0" indent="0">
              <a:buFont typeface="Arial" pitchFamily="34" charset="0"/>
              <a:buNone/>
            </a:pPr>
            <a:r>
              <a:rPr lang="en-US" sz="3200" dirty="0"/>
              <a:t># --- Create and train </a:t>
            </a:r>
            <a:r>
              <a:rPr lang="en-US" sz="3200" dirty="0" err="1"/>
              <a:t>kNN</a:t>
            </a:r>
            <a:r>
              <a:rPr lang="en-US" sz="3200" dirty="0"/>
              <a:t> classifier ---</a:t>
            </a:r>
          </a:p>
          <a:p>
            <a:pPr marL="0" indent="0">
              <a:buFont typeface="Arial" pitchFamily="34" charset="0"/>
              <a:buNone/>
            </a:pPr>
            <a:r>
              <a:rPr lang="en-US" sz="3200" dirty="0" err="1">
                <a:solidFill>
                  <a:srgbClr val="F7A01A"/>
                </a:solidFill>
              </a:rPr>
              <a:t>knn</a:t>
            </a:r>
            <a:r>
              <a:rPr lang="en-US" sz="3200" dirty="0">
                <a:solidFill>
                  <a:srgbClr val="F7A01A"/>
                </a:solidFill>
              </a:rPr>
              <a:t> = </a:t>
            </a:r>
            <a:r>
              <a:rPr lang="en-US" sz="3200" dirty="0" err="1">
                <a:solidFill>
                  <a:srgbClr val="F7A01A"/>
                </a:solidFill>
              </a:rPr>
              <a:t>KNeighborsClassifier</a:t>
            </a:r>
            <a:r>
              <a:rPr lang="en-US" sz="3200" dirty="0">
                <a:solidFill>
                  <a:srgbClr val="F7A01A"/>
                </a:solidFill>
              </a:rPr>
              <a:t>(</a:t>
            </a:r>
            <a:r>
              <a:rPr lang="en-US" sz="3200" dirty="0" err="1">
                <a:solidFill>
                  <a:srgbClr val="F7A01A"/>
                </a:solidFill>
              </a:rPr>
              <a:t>n_neighbors</a:t>
            </a:r>
            <a:r>
              <a:rPr lang="en-US" sz="3200" dirty="0">
                <a:solidFill>
                  <a:srgbClr val="F7A01A"/>
                </a:solidFill>
              </a:rPr>
              <a:t>=3)</a:t>
            </a:r>
          </a:p>
          <a:p>
            <a:pPr marL="0" indent="0">
              <a:buFont typeface="Arial" pitchFamily="34" charset="0"/>
              <a:buNone/>
            </a:pPr>
            <a:r>
              <a:rPr lang="en-US" sz="3200" dirty="0" err="1">
                <a:solidFill>
                  <a:srgbClr val="F7A01A"/>
                </a:solidFill>
              </a:rPr>
              <a:t>knn.fit</a:t>
            </a:r>
            <a:r>
              <a:rPr lang="en-US" sz="3200" dirty="0">
                <a:solidFill>
                  <a:srgbClr val="F7A01A"/>
                </a:solidFill>
              </a:rPr>
              <a:t>(</a:t>
            </a:r>
            <a:r>
              <a:rPr lang="en-US" sz="3200" dirty="0" err="1">
                <a:solidFill>
                  <a:srgbClr val="F7A01A"/>
                </a:solidFill>
              </a:rPr>
              <a:t>X_train</a:t>
            </a:r>
            <a:r>
              <a:rPr lang="en-US" sz="3200" dirty="0">
                <a:solidFill>
                  <a:srgbClr val="F7A01A"/>
                </a:solidFill>
              </a:rPr>
              <a:t>, </a:t>
            </a:r>
            <a:r>
              <a:rPr lang="en-US" sz="3200" dirty="0" err="1">
                <a:solidFill>
                  <a:srgbClr val="F7A01A"/>
                </a:solidFill>
              </a:rPr>
              <a:t>y_train</a:t>
            </a:r>
            <a:r>
              <a:rPr lang="en-US" sz="3200" dirty="0">
                <a:solidFill>
                  <a:srgbClr val="F7A01A"/>
                </a:solidFill>
              </a:rPr>
              <a:t>)</a:t>
            </a:r>
          </a:p>
          <a:p>
            <a:pPr marL="0" indent="0">
              <a:buFont typeface="Arial" pitchFamily="34" charset="0"/>
              <a:buNone/>
            </a:pPr>
            <a:r>
              <a:rPr lang="en-US" sz="3200" dirty="0"/>
              <a:t>print("Classification of new point is: ", </a:t>
            </a:r>
            <a:r>
              <a:rPr lang="en-US" sz="3200" dirty="0" err="1">
                <a:solidFill>
                  <a:srgbClr val="F7A01A"/>
                </a:solidFill>
              </a:rPr>
              <a:t>knn.predict</a:t>
            </a:r>
            <a:r>
              <a:rPr lang="en-US" sz="3200" dirty="0">
                <a:solidFill>
                  <a:srgbClr val="F7A01A"/>
                </a:solidFill>
              </a:rPr>
              <a:t>([[</a:t>
            </a:r>
            <a:r>
              <a:rPr lang="en-US" sz="3200" dirty="0" err="1">
                <a:solidFill>
                  <a:srgbClr val="F7A01A"/>
                </a:solidFill>
              </a:rPr>
              <a:t>x,y</a:t>
            </a:r>
            <a:r>
              <a:rPr lang="en-US" sz="3200" dirty="0">
                <a:solidFill>
                  <a:srgbClr val="F7A01A"/>
                </a:solidFill>
              </a:rPr>
              <a:t>]]) </a:t>
            </a:r>
            <a:r>
              <a:rPr lang="en-US" sz="3200" dirty="0"/>
              <a:t>)</a:t>
            </a:r>
          </a:p>
          <a:p>
            <a:pPr marL="0" indent="0">
              <a:buFont typeface="Arial" pitchFamily="34" charset="0"/>
              <a:buNone/>
            </a:pPr>
            <a:endParaRPr lang="en-US" sz="4800" dirty="0">
              <a:solidFill>
                <a:srgbClr val="FFC000"/>
              </a:solidFill>
            </a:endParaRPr>
          </a:p>
        </p:txBody>
      </p:sp>
      <p:pic>
        <p:nvPicPr>
          <p:cNvPr id="8" name="Picture 7" descr="A graph with colored dots&#10;&#10;AI-generated content may be incorrect.">
            <a:extLst>
              <a:ext uri="{FF2B5EF4-FFF2-40B4-BE49-F238E27FC236}">
                <a16:creationId xmlns:a16="http://schemas.microsoft.com/office/drawing/2014/main" id="{CC371EE4-FCF2-CEC5-0992-78E71A16C5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0749" y="3048000"/>
            <a:ext cx="3478076" cy="2689477"/>
          </a:xfrm>
          <a:prstGeom prst="rect">
            <a:avLst/>
          </a:prstGeom>
        </p:spPr>
      </p:pic>
      <p:pic>
        <p:nvPicPr>
          <p:cNvPr id="7" name="Picture 6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35BFC9AE-D9B3-259A-1E82-1272B8462E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212" y="1120523"/>
            <a:ext cx="6082920" cy="101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192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F6F89-6CBF-F0ED-44A0-DE6E99D0A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8E7C9-5DAB-9D2B-4238-7FCA1E84A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612" y="1524000"/>
            <a:ext cx="10360501" cy="4462272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4800" dirty="0"/>
              <a:t>from </a:t>
            </a:r>
            <a:r>
              <a:rPr lang="en-US" sz="4800" dirty="0" err="1"/>
              <a:t>sklearn.neighbors</a:t>
            </a:r>
            <a:r>
              <a:rPr lang="en-US" sz="4800" dirty="0"/>
              <a:t> import </a:t>
            </a:r>
            <a:r>
              <a:rPr lang="en-US" sz="4800" dirty="0" err="1"/>
              <a:t>KNeighborsClassifier</a:t>
            </a:r>
            <a:endParaRPr lang="en-US" sz="4800" dirty="0"/>
          </a:p>
          <a:p>
            <a:pPr marL="0" indent="0">
              <a:buNone/>
            </a:pPr>
            <a:r>
              <a:rPr lang="en-US" sz="4800" dirty="0"/>
              <a:t># --- Create and train </a:t>
            </a:r>
            <a:r>
              <a:rPr lang="en-US" sz="4800" dirty="0" err="1"/>
              <a:t>kNN</a:t>
            </a:r>
            <a:r>
              <a:rPr lang="en-US" sz="4800" dirty="0"/>
              <a:t> classifier ---</a:t>
            </a:r>
          </a:p>
          <a:p>
            <a:pPr marL="0" indent="0">
              <a:buNone/>
            </a:pPr>
            <a:r>
              <a:rPr lang="en-US" sz="4800" dirty="0" err="1"/>
              <a:t>knn</a:t>
            </a:r>
            <a:r>
              <a:rPr lang="en-US" sz="4800" dirty="0"/>
              <a:t> = </a:t>
            </a:r>
            <a:r>
              <a:rPr lang="en-US" sz="4800" dirty="0" err="1"/>
              <a:t>KNeighborsClassifier</a:t>
            </a:r>
            <a:r>
              <a:rPr lang="en-US" sz="4800" dirty="0"/>
              <a:t>(</a:t>
            </a:r>
            <a:r>
              <a:rPr lang="en-US" sz="4800" dirty="0" err="1"/>
              <a:t>n_neighbors</a:t>
            </a:r>
            <a:r>
              <a:rPr lang="en-US" sz="4800" dirty="0"/>
              <a:t>=3)</a:t>
            </a:r>
          </a:p>
          <a:p>
            <a:pPr marL="0" indent="0">
              <a:buNone/>
            </a:pPr>
            <a:r>
              <a:rPr lang="en-US" sz="4800" dirty="0" err="1"/>
              <a:t>knn.fit</a:t>
            </a:r>
            <a:r>
              <a:rPr lang="en-US" sz="4800" dirty="0"/>
              <a:t>(</a:t>
            </a:r>
            <a:r>
              <a:rPr lang="en-US" sz="4800" dirty="0" err="1"/>
              <a:t>X_train_flat</a:t>
            </a:r>
            <a:r>
              <a:rPr lang="en-US" sz="4800" dirty="0"/>
              <a:t>, </a:t>
            </a:r>
            <a:r>
              <a:rPr lang="en-US" sz="4800" dirty="0" err="1"/>
              <a:t>Y_train</a:t>
            </a:r>
            <a:r>
              <a:rPr lang="en-US" sz="4800" dirty="0"/>
              <a:t>)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dirty="0"/>
              <a:t># --- Predict on test set ---</a:t>
            </a:r>
          </a:p>
          <a:p>
            <a:pPr marL="0" indent="0">
              <a:buNone/>
            </a:pPr>
            <a:r>
              <a:rPr lang="en-US" sz="4800" dirty="0" err="1"/>
              <a:t>y_pred</a:t>
            </a:r>
            <a:r>
              <a:rPr lang="en-US" sz="4800" dirty="0"/>
              <a:t> = </a:t>
            </a:r>
            <a:r>
              <a:rPr lang="en-US" sz="4800" dirty="0" err="1"/>
              <a:t>knn.predict</a:t>
            </a:r>
            <a:r>
              <a:rPr lang="en-US" sz="4800" dirty="0"/>
              <a:t>(</a:t>
            </a:r>
            <a:r>
              <a:rPr lang="en-US" sz="4800" dirty="0" err="1"/>
              <a:t>X_test_flat</a:t>
            </a:r>
            <a:r>
              <a:rPr lang="en-US" sz="4800" dirty="0"/>
              <a:t>)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dirty="0"/>
              <a:t># --- Calculate accuracy ---</a:t>
            </a:r>
          </a:p>
          <a:p>
            <a:pPr marL="0" indent="0">
              <a:buNone/>
            </a:pPr>
            <a:r>
              <a:rPr lang="en-US" sz="4800" dirty="0"/>
              <a:t>accuracy = (</a:t>
            </a:r>
            <a:r>
              <a:rPr lang="en-US" sz="4800" dirty="0" err="1"/>
              <a:t>y_pred</a:t>
            </a:r>
            <a:r>
              <a:rPr lang="en-US" sz="4800" dirty="0"/>
              <a:t> == </a:t>
            </a:r>
            <a:r>
              <a:rPr lang="en-US" sz="4800" dirty="0" err="1"/>
              <a:t>Y_test</a:t>
            </a:r>
            <a:r>
              <a:rPr lang="en-US" sz="4800" dirty="0"/>
              <a:t>).mean()</a:t>
            </a:r>
          </a:p>
          <a:p>
            <a:pPr marL="0" indent="0">
              <a:buNone/>
            </a:pPr>
            <a:r>
              <a:rPr lang="en-US" sz="4800" dirty="0"/>
              <a:t>print("Test accuracy:", accuracy)</a:t>
            </a:r>
            <a:endParaRPr lang="en-US" sz="4800" dirty="0">
              <a:solidFill>
                <a:srgbClr val="FFC000"/>
              </a:solidFill>
            </a:endParaRP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166B94D6-D148-16C6-F714-E8DA80DB0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12" y="-230983"/>
            <a:ext cx="10360501" cy="12239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29999"/>
                </a:solidFill>
              </a:rPr>
              <a:t>MNIST - 3 Nearest Neighbors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694AB9-41DA-5C56-BF1C-BFD2243B47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612" y="5636202"/>
            <a:ext cx="5372492" cy="88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6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36C21-D9B3-80BD-ED53-7097411F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71AD2-8F05-FD6F-FBF3-A6C3931F6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3296" y="992980"/>
            <a:ext cx="10360501" cy="4462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The 3-nearest neighbors claims a 97% accuracy.  How is the accuracy impacted if you change k?</a:t>
            </a:r>
          </a:p>
          <a:p>
            <a:pPr marL="0" indent="0">
              <a:buNone/>
            </a:pPr>
            <a:endParaRPr lang="en-US" sz="4800" dirty="0">
              <a:solidFill>
                <a:srgbClr val="FFC000"/>
              </a:solidFill>
            </a:endParaRP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FCDD59FF-8EBF-84B7-00C0-C49D06C7E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12" y="-230983"/>
            <a:ext cx="10360501" cy="12239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29999"/>
                </a:solidFill>
              </a:rPr>
              <a:t>To Do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394378-6E0F-D398-4A02-FB59DB433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170806"/>
              </p:ext>
            </p:extLst>
          </p:nvPr>
        </p:nvGraphicFramePr>
        <p:xfrm>
          <a:off x="3732212" y="2700477"/>
          <a:ext cx="446013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1454423430"/>
                    </a:ext>
                  </a:extLst>
                </a:gridCol>
                <a:gridCol w="3164735">
                  <a:extLst>
                    <a:ext uri="{9D8B030D-6E8A-4147-A177-3AD203B41FA5}">
                      <a16:colId xmlns:a16="http://schemas.microsoft.com/office/drawing/2014/main" val="11569626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99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86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43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97.05%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857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403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95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4454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9FEB7-675E-A981-24C6-3481BB085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FBB12-B489-0A2B-A356-AD679E914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12" y="790766"/>
            <a:ext cx="10360501" cy="4462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Let’s build a python program that lets the user draw a 0-9 digit and then use our KNN model to classify it.</a:t>
            </a:r>
          </a:p>
          <a:p>
            <a:pPr marL="0" indent="0">
              <a:buNone/>
            </a:pPr>
            <a:endParaRPr lang="en-US" sz="4800" dirty="0">
              <a:solidFill>
                <a:srgbClr val="FFC000"/>
              </a:solidFill>
            </a:endParaRP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9CE9683F-23DD-65B4-07FD-DCE77A781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4412" y="-433197"/>
            <a:ext cx="10360501" cy="12239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29999"/>
                </a:solidFill>
              </a:rPr>
              <a:t>User Input with </a:t>
            </a:r>
            <a:r>
              <a:rPr lang="en-US" sz="5400" dirty="0" err="1">
                <a:solidFill>
                  <a:srgbClr val="029999"/>
                </a:solidFill>
              </a:rPr>
              <a:t>Pygame</a:t>
            </a:r>
            <a:endParaRPr lang="en-US" sz="5400" dirty="0">
              <a:solidFill>
                <a:srgbClr val="029999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7F9C60-01DB-31E3-C812-76540737D2E7}"/>
              </a:ext>
            </a:extLst>
          </p:cNvPr>
          <p:cNvSpPr/>
          <p:nvPr/>
        </p:nvSpPr>
        <p:spPr>
          <a:xfrm>
            <a:off x="1370011" y="2014729"/>
            <a:ext cx="10360501" cy="4664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effectLst/>
                <a:latin typeface="Helvetica" pitchFamily="2" charset="0"/>
              </a:rPr>
              <a:t>import </a:t>
            </a:r>
            <a:r>
              <a:rPr lang="en-US" sz="1200" dirty="0" err="1">
                <a:effectLst/>
                <a:latin typeface="Helvetica" pitchFamily="2" charset="0"/>
              </a:rPr>
              <a:t>pygame</a:t>
            </a:r>
            <a:endParaRPr lang="en-US" sz="1200" dirty="0">
              <a:effectLst/>
              <a:latin typeface="Helvetica" pitchFamily="2" charset="0"/>
            </a:endParaRPr>
          </a:p>
          <a:p>
            <a:br>
              <a:rPr lang="en-US" sz="1200" dirty="0">
                <a:effectLst/>
                <a:latin typeface="Helvetica" pitchFamily="2" charset="0"/>
              </a:rPr>
            </a:br>
            <a:endParaRPr lang="en-US" sz="1200" dirty="0">
              <a:effectLst/>
              <a:latin typeface="Helvetica" pitchFamily="2" charset="0"/>
            </a:endParaRPr>
          </a:p>
          <a:p>
            <a:r>
              <a:rPr lang="en-US" sz="1200" dirty="0">
                <a:effectLst/>
                <a:latin typeface="Helvetica" pitchFamily="2" charset="0"/>
              </a:rPr>
              <a:t>size=28</a:t>
            </a:r>
          </a:p>
          <a:p>
            <a:r>
              <a:rPr lang="en-US" sz="1200" dirty="0">
                <a:effectLst/>
                <a:latin typeface="Helvetica" pitchFamily="2" charset="0"/>
              </a:rPr>
              <a:t>def run():</a:t>
            </a:r>
          </a:p>
          <a:p>
            <a:r>
              <a:rPr lang="en-US" sz="1200" dirty="0">
                <a:effectLst/>
                <a:latin typeface="Helvetica" pitchFamily="2" charset="0"/>
              </a:rPr>
              <a:t>    </a:t>
            </a:r>
            <a:r>
              <a:rPr lang="en-US" sz="1200" dirty="0" err="1">
                <a:effectLst/>
                <a:latin typeface="Helvetica" pitchFamily="2" charset="0"/>
              </a:rPr>
              <a:t>pygame.init</a:t>
            </a:r>
            <a:r>
              <a:rPr lang="en-US" sz="1200" dirty="0">
                <a:effectLst/>
                <a:latin typeface="Helvetica" pitchFamily="2" charset="0"/>
              </a:rPr>
              <a:t>()</a:t>
            </a:r>
          </a:p>
          <a:p>
            <a:r>
              <a:rPr lang="en-US" sz="1200" dirty="0">
                <a:effectLst/>
                <a:latin typeface="Helvetica" pitchFamily="2" charset="0"/>
              </a:rPr>
              <a:t>    # Square size instead of a 1x1 pixel, ratio 10x10</a:t>
            </a:r>
          </a:p>
          <a:p>
            <a:r>
              <a:rPr lang="en-US" sz="1200" dirty="0">
                <a:effectLst/>
                <a:latin typeface="Helvetica" pitchFamily="2" charset="0"/>
              </a:rPr>
              <a:t>    # so it's easier to draw</a:t>
            </a:r>
          </a:p>
          <a:p>
            <a:r>
              <a:rPr lang="en-US" sz="1200" dirty="0">
                <a:effectLst/>
                <a:latin typeface="Helvetica" pitchFamily="2" charset="0"/>
              </a:rPr>
              <a:t>    # visually scale whole image up by 10 (does not change what is stored)</a:t>
            </a:r>
          </a:p>
          <a:p>
            <a:r>
              <a:rPr lang="en-US" sz="1200" dirty="0">
                <a:effectLst/>
                <a:latin typeface="Helvetica" pitchFamily="2" charset="0"/>
              </a:rPr>
              <a:t>    SQUARE_SIZE = 10</a:t>
            </a:r>
          </a:p>
          <a:p>
            <a:r>
              <a:rPr lang="en-US" sz="1200" dirty="0">
                <a:effectLst/>
                <a:latin typeface="Helvetica" pitchFamily="2" charset="0"/>
              </a:rPr>
              <a:t>    # Window size</a:t>
            </a:r>
          </a:p>
          <a:p>
            <a:r>
              <a:rPr lang="en-US" sz="1200" dirty="0">
                <a:effectLst/>
                <a:latin typeface="Helvetica" pitchFamily="2" charset="0"/>
              </a:rPr>
              <a:t>    WIDTH, HEIGHT = size*SQUARE_SIZE, size*SQUARE_SIZE</a:t>
            </a:r>
          </a:p>
          <a:p>
            <a:r>
              <a:rPr lang="en-US" sz="1200" dirty="0">
                <a:effectLst/>
                <a:latin typeface="Helvetica" pitchFamily="2" charset="0"/>
              </a:rPr>
              <a:t>    screen = </a:t>
            </a:r>
            <a:r>
              <a:rPr lang="en-US" sz="1200" dirty="0" err="1">
                <a:effectLst/>
                <a:latin typeface="Helvetica" pitchFamily="2" charset="0"/>
              </a:rPr>
              <a:t>pygame.display.set_mode</a:t>
            </a:r>
            <a:r>
              <a:rPr lang="en-US" sz="1200" dirty="0">
                <a:effectLst/>
                <a:latin typeface="Helvetica" pitchFamily="2" charset="0"/>
              </a:rPr>
              <a:t>((WIDTH, HEIGHT))</a:t>
            </a:r>
          </a:p>
          <a:p>
            <a:r>
              <a:rPr lang="en-US" sz="1200" dirty="0">
                <a:effectLst/>
                <a:latin typeface="Helvetica" pitchFamily="2" charset="0"/>
              </a:rPr>
              <a:t>    </a:t>
            </a:r>
            <a:r>
              <a:rPr lang="en-US" sz="1200" dirty="0" err="1">
                <a:effectLst/>
                <a:latin typeface="Helvetica" pitchFamily="2" charset="0"/>
              </a:rPr>
              <a:t>pygame.display.set_caption</a:t>
            </a:r>
            <a:r>
              <a:rPr lang="en-US" sz="1200" dirty="0">
                <a:effectLst/>
                <a:latin typeface="Helvetica" pitchFamily="2" charset="0"/>
              </a:rPr>
              <a:t>("Draw a Digit (c to clear)")</a:t>
            </a:r>
          </a:p>
          <a:p>
            <a:r>
              <a:rPr lang="en-US" sz="1200" dirty="0">
                <a:effectLst/>
                <a:latin typeface="Helvetica" pitchFamily="2" charset="0"/>
              </a:rPr>
              <a:t>     </a:t>
            </a:r>
          </a:p>
          <a:p>
            <a:r>
              <a:rPr lang="en-US" sz="1200" dirty="0">
                <a:effectLst/>
                <a:latin typeface="Helvetica" pitchFamily="2" charset="0"/>
              </a:rPr>
              <a:t>    running = True</a:t>
            </a:r>
          </a:p>
          <a:p>
            <a:r>
              <a:rPr lang="en-US" sz="1200" dirty="0">
                <a:effectLst/>
                <a:latin typeface="Helvetica" pitchFamily="2" charset="0"/>
              </a:rPr>
              <a:t>    while running:</a:t>
            </a:r>
          </a:p>
          <a:p>
            <a:r>
              <a:rPr lang="en-US" sz="1200" dirty="0">
                <a:effectLst/>
                <a:latin typeface="Helvetica" pitchFamily="2" charset="0"/>
              </a:rPr>
              <a:t>        for event in </a:t>
            </a:r>
            <a:r>
              <a:rPr lang="en-US" sz="1200" dirty="0" err="1">
                <a:effectLst/>
                <a:latin typeface="Helvetica" pitchFamily="2" charset="0"/>
              </a:rPr>
              <a:t>pygame.event.get</a:t>
            </a:r>
            <a:r>
              <a:rPr lang="en-US" sz="1200" dirty="0">
                <a:effectLst/>
                <a:latin typeface="Helvetica" pitchFamily="2" charset="0"/>
              </a:rPr>
              <a:t>():</a:t>
            </a:r>
          </a:p>
          <a:p>
            <a:r>
              <a:rPr lang="en-US" sz="1200" dirty="0">
                <a:effectLst/>
                <a:latin typeface="Helvetica" pitchFamily="2" charset="0"/>
              </a:rPr>
              <a:t>            if </a:t>
            </a:r>
            <a:r>
              <a:rPr lang="en-US" sz="1200" dirty="0" err="1">
                <a:effectLst/>
                <a:latin typeface="Helvetica" pitchFamily="2" charset="0"/>
              </a:rPr>
              <a:t>event.type</a:t>
            </a:r>
            <a:r>
              <a:rPr lang="en-US" sz="1200" dirty="0">
                <a:effectLst/>
                <a:latin typeface="Helvetica" pitchFamily="2" charset="0"/>
              </a:rPr>
              <a:t> == </a:t>
            </a:r>
            <a:r>
              <a:rPr lang="en-US" sz="1200" dirty="0" err="1">
                <a:effectLst/>
                <a:latin typeface="Helvetica" pitchFamily="2" charset="0"/>
              </a:rPr>
              <a:t>pygame.QUIT</a:t>
            </a:r>
            <a:r>
              <a:rPr lang="en-US" sz="1200" dirty="0">
                <a:effectLst/>
                <a:latin typeface="Helvetica" pitchFamily="2" charset="0"/>
              </a:rPr>
              <a:t>:  # Window close button</a:t>
            </a:r>
          </a:p>
          <a:p>
            <a:r>
              <a:rPr lang="en-US" sz="1200" dirty="0">
                <a:effectLst/>
                <a:latin typeface="Helvetica" pitchFamily="2" charset="0"/>
              </a:rPr>
              <a:t>                running = False</a:t>
            </a:r>
          </a:p>
          <a:p>
            <a:r>
              <a:rPr lang="en-US" sz="1200" dirty="0">
                <a:effectLst/>
                <a:latin typeface="Helvetica" pitchFamily="2" charset="0"/>
              </a:rPr>
              <a:t>    # Quit </a:t>
            </a:r>
            <a:r>
              <a:rPr lang="en-US" sz="1200" dirty="0" err="1">
                <a:effectLst/>
                <a:latin typeface="Helvetica" pitchFamily="2" charset="0"/>
              </a:rPr>
              <a:t>pygame</a:t>
            </a:r>
            <a:endParaRPr lang="en-US" sz="1200" dirty="0">
              <a:effectLst/>
              <a:latin typeface="Helvetica" pitchFamily="2" charset="0"/>
            </a:endParaRPr>
          </a:p>
          <a:p>
            <a:r>
              <a:rPr lang="en-US" sz="1200" dirty="0">
                <a:effectLst/>
                <a:latin typeface="Helvetica" pitchFamily="2" charset="0"/>
              </a:rPr>
              <a:t>    </a:t>
            </a:r>
            <a:r>
              <a:rPr lang="en-US" sz="1200" dirty="0" err="1">
                <a:effectLst/>
                <a:latin typeface="Helvetica" pitchFamily="2" charset="0"/>
              </a:rPr>
              <a:t>pygame.quit</a:t>
            </a:r>
            <a:r>
              <a:rPr lang="en-US" sz="1200" dirty="0">
                <a:effectLst/>
                <a:latin typeface="Helvetica" pitchFamily="2" charset="0"/>
              </a:rPr>
              <a:t>()</a:t>
            </a:r>
          </a:p>
          <a:p>
            <a:br>
              <a:rPr lang="en-US" sz="1200" dirty="0">
                <a:effectLst/>
                <a:latin typeface="Helvetica" pitchFamily="2" charset="0"/>
              </a:rPr>
            </a:br>
            <a:endParaRPr lang="en-US" sz="1200" dirty="0">
              <a:effectLst/>
              <a:latin typeface="Helvetica" pitchFamily="2" charset="0"/>
            </a:endParaRPr>
          </a:p>
          <a:p>
            <a:r>
              <a:rPr lang="en-US" sz="1200" dirty="0">
                <a:effectLst/>
                <a:latin typeface="Helvetica" pitchFamily="2" charset="0"/>
              </a:rPr>
              <a:t>run()</a:t>
            </a:r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14065273-CB02-9CD7-8C8A-69E342F38C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026" y="2168334"/>
            <a:ext cx="3505200" cy="389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997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F2909-08BE-3A96-ACB3-A535F51B1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22A30-85E1-3084-6E6D-A3E797CFB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12" y="790766"/>
            <a:ext cx="10360501" cy="4462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Our original board is 28x28 list of all 0s.  Just to test out, let’s change the color of a few to white(255)</a:t>
            </a:r>
          </a:p>
          <a:p>
            <a:pPr marL="0" indent="0">
              <a:buNone/>
            </a:pPr>
            <a:endParaRPr lang="en-US" sz="4800" dirty="0">
              <a:solidFill>
                <a:srgbClr val="FFC000"/>
              </a:solidFill>
            </a:endParaRP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1FD21E1B-C3D6-0E51-9D7A-A733E8315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4412" y="-433197"/>
            <a:ext cx="10360501" cy="12239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29999"/>
                </a:solidFill>
              </a:rPr>
              <a:t>User Input with </a:t>
            </a:r>
            <a:r>
              <a:rPr lang="en-US" sz="5400" dirty="0" err="1">
                <a:solidFill>
                  <a:srgbClr val="029999"/>
                </a:solidFill>
              </a:rPr>
              <a:t>Pygame</a:t>
            </a:r>
            <a:r>
              <a:rPr lang="en-US" sz="5400" dirty="0">
                <a:solidFill>
                  <a:srgbClr val="029999"/>
                </a:solidFill>
              </a:rPr>
              <a:t> V2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9FE60F-6978-DFCD-9580-4C83528C3F68}"/>
              </a:ext>
            </a:extLst>
          </p:cNvPr>
          <p:cNvSpPr/>
          <p:nvPr/>
        </p:nvSpPr>
        <p:spPr>
          <a:xfrm>
            <a:off x="1293812" y="1805179"/>
            <a:ext cx="10360500" cy="47670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effectLst/>
                <a:latin typeface="Helvetica" pitchFamily="2" charset="0"/>
              </a:rPr>
              <a:t>    #store a 28x28 list of 0s, we will use this in redisplay when</a:t>
            </a:r>
          </a:p>
          <a:p>
            <a:r>
              <a:rPr lang="en-US" sz="1500" dirty="0">
                <a:effectLst/>
                <a:latin typeface="Helvetica" pitchFamily="2" charset="0"/>
              </a:rPr>
              <a:t>    #we clear the board</a:t>
            </a:r>
          </a:p>
          <a:p>
            <a:r>
              <a:rPr lang="en-US" sz="1500" dirty="0">
                <a:effectLst/>
                <a:latin typeface="Helvetica" pitchFamily="2" charset="0"/>
              </a:rPr>
              <a:t>    store = [[0]*size for _ in range(size)]</a:t>
            </a:r>
          </a:p>
          <a:p>
            <a:r>
              <a:rPr lang="en-US" sz="1500" dirty="0">
                <a:effectLst/>
                <a:latin typeface="Helvetica" pitchFamily="2" charset="0"/>
              </a:rPr>
              <a:t>    </a:t>
            </a:r>
          </a:p>
          <a:p>
            <a:r>
              <a:rPr lang="en-US" sz="1500" dirty="0">
                <a:effectLst/>
                <a:latin typeface="Helvetica" pitchFamily="2" charset="0"/>
              </a:rPr>
              <a:t>    store[0][0]=255 #hard code 1 pixel drawn</a:t>
            </a:r>
          </a:p>
          <a:p>
            <a:r>
              <a:rPr lang="en-US" sz="1500" dirty="0">
                <a:effectLst/>
                <a:latin typeface="Helvetica" pitchFamily="2" charset="0"/>
              </a:rPr>
              <a:t>    store[5][15]=255</a:t>
            </a:r>
          </a:p>
          <a:p>
            <a:r>
              <a:rPr lang="en-US" sz="1500" dirty="0">
                <a:effectLst/>
                <a:latin typeface="Helvetica" pitchFamily="2" charset="0"/>
              </a:rPr>
              <a:t>    store[27][27]=255 #hard code 1 pixel drawn</a:t>
            </a:r>
          </a:p>
          <a:p>
            <a:r>
              <a:rPr lang="en-US" sz="1500" dirty="0">
                <a:effectLst/>
                <a:latin typeface="Helvetica" pitchFamily="2" charset="0"/>
              </a:rPr>
              <a:t>    print(store)</a:t>
            </a:r>
          </a:p>
          <a:p>
            <a:r>
              <a:rPr lang="en-US" sz="1500" dirty="0">
                <a:effectLst/>
                <a:latin typeface="Helvetica" pitchFamily="2" charset="0"/>
              </a:rPr>
              <a:t>    </a:t>
            </a:r>
          </a:p>
          <a:p>
            <a:r>
              <a:rPr lang="en-US" sz="1500" dirty="0">
                <a:effectLst/>
                <a:latin typeface="Helvetica" pitchFamily="2" charset="0"/>
              </a:rPr>
              <a:t>    def redraw():</a:t>
            </a:r>
          </a:p>
          <a:p>
            <a:r>
              <a:rPr lang="en-US" sz="1500" dirty="0">
                <a:effectLst/>
                <a:latin typeface="Helvetica" pitchFamily="2" charset="0"/>
              </a:rPr>
              <a:t>        print("calling redraw")</a:t>
            </a:r>
          </a:p>
          <a:p>
            <a:r>
              <a:rPr lang="en-US" sz="1500" dirty="0">
                <a:effectLst/>
                <a:latin typeface="Helvetica" pitchFamily="2" charset="0"/>
              </a:rPr>
              <a:t>        for row in range(0, </a:t>
            </a:r>
            <a:r>
              <a:rPr lang="en-US" sz="1500" dirty="0" err="1">
                <a:effectLst/>
                <a:latin typeface="Helvetica" pitchFamily="2" charset="0"/>
              </a:rPr>
              <a:t>len</a:t>
            </a:r>
            <a:r>
              <a:rPr lang="en-US" sz="1500" dirty="0">
                <a:effectLst/>
                <a:latin typeface="Helvetica" pitchFamily="2" charset="0"/>
              </a:rPr>
              <a:t>(store)):</a:t>
            </a:r>
          </a:p>
          <a:p>
            <a:r>
              <a:rPr lang="en-US" sz="1500" dirty="0">
                <a:effectLst/>
                <a:latin typeface="Helvetica" pitchFamily="2" charset="0"/>
              </a:rPr>
              <a:t>            for col in range(0, </a:t>
            </a:r>
            <a:r>
              <a:rPr lang="en-US" sz="1500" dirty="0" err="1">
                <a:effectLst/>
                <a:latin typeface="Helvetica" pitchFamily="2" charset="0"/>
              </a:rPr>
              <a:t>len</a:t>
            </a:r>
            <a:r>
              <a:rPr lang="en-US" sz="1500" dirty="0">
                <a:effectLst/>
                <a:latin typeface="Helvetica" pitchFamily="2" charset="0"/>
              </a:rPr>
              <a:t>(store[0])):</a:t>
            </a:r>
          </a:p>
          <a:p>
            <a:r>
              <a:rPr lang="en-US" sz="1500" dirty="0">
                <a:effectLst/>
                <a:latin typeface="Helvetica" pitchFamily="2" charset="0"/>
              </a:rPr>
              <a:t>                #draw a square to represent store[row][col]</a:t>
            </a:r>
          </a:p>
          <a:p>
            <a:r>
              <a:rPr lang="en-US" sz="1500" dirty="0">
                <a:effectLst/>
                <a:latin typeface="Helvetica" pitchFamily="2" charset="0"/>
              </a:rPr>
              <a:t>                #</a:t>
            </a:r>
            <a:r>
              <a:rPr lang="en-US" sz="1500" dirty="0" err="1">
                <a:effectLst/>
                <a:latin typeface="Helvetica" pitchFamily="2" charset="0"/>
              </a:rPr>
              <a:t>Rect</a:t>
            </a:r>
            <a:r>
              <a:rPr lang="en-US" sz="1500" dirty="0">
                <a:effectLst/>
                <a:latin typeface="Helvetica" pitchFamily="2" charset="0"/>
              </a:rPr>
              <a:t> need the top left corner (</a:t>
            </a:r>
            <a:r>
              <a:rPr lang="en-US" sz="1500" dirty="0" err="1">
                <a:effectLst/>
                <a:latin typeface="Helvetica" pitchFamily="2" charset="0"/>
              </a:rPr>
              <a:t>x,y</a:t>
            </a:r>
            <a:r>
              <a:rPr lang="en-US" sz="1500" dirty="0">
                <a:effectLst/>
                <a:latin typeface="Helvetica" pitchFamily="2" charset="0"/>
              </a:rPr>
              <a:t>) is (col, row), and width and height</a:t>
            </a:r>
          </a:p>
          <a:p>
            <a:r>
              <a:rPr lang="en-US" sz="1500" dirty="0">
                <a:effectLst/>
                <a:latin typeface="Helvetica" pitchFamily="2" charset="0"/>
              </a:rPr>
              <a:t>                </a:t>
            </a:r>
            <a:r>
              <a:rPr lang="en-US" sz="1500" dirty="0" err="1">
                <a:effectLst/>
                <a:latin typeface="Helvetica" pitchFamily="2" charset="0"/>
              </a:rPr>
              <a:t>rect</a:t>
            </a:r>
            <a:r>
              <a:rPr lang="en-US" sz="1500" dirty="0">
                <a:effectLst/>
                <a:latin typeface="Helvetica" pitchFamily="2" charset="0"/>
              </a:rPr>
              <a:t> = </a:t>
            </a:r>
            <a:r>
              <a:rPr lang="en-US" sz="1500" dirty="0" err="1">
                <a:effectLst/>
                <a:latin typeface="Helvetica" pitchFamily="2" charset="0"/>
              </a:rPr>
              <a:t>pygame.Rect</a:t>
            </a:r>
            <a:r>
              <a:rPr lang="en-US" sz="1500" dirty="0">
                <a:effectLst/>
                <a:latin typeface="Helvetica" pitchFamily="2" charset="0"/>
              </a:rPr>
              <a:t>(col*SQUARE_SIZE,</a:t>
            </a:r>
          </a:p>
          <a:p>
            <a:r>
              <a:rPr lang="en-US" sz="1500" dirty="0">
                <a:effectLst/>
                <a:latin typeface="Helvetica" pitchFamily="2" charset="0"/>
              </a:rPr>
              <a:t>                                   row*SQUARE_SIZE,</a:t>
            </a:r>
          </a:p>
          <a:p>
            <a:r>
              <a:rPr lang="en-US" sz="1500" dirty="0">
                <a:effectLst/>
                <a:latin typeface="Helvetica" pitchFamily="2" charset="0"/>
              </a:rPr>
              <a:t>                                   SQUARE_SIZE, SQUARE_SIZE)</a:t>
            </a:r>
          </a:p>
          <a:p>
            <a:r>
              <a:rPr lang="en-US" sz="1500" dirty="0">
                <a:effectLst/>
                <a:latin typeface="Helvetica" pitchFamily="2" charset="0"/>
              </a:rPr>
              <a:t>                </a:t>
            </a:r>
            <a:r>
              <a:rPr lang="en-US" sz="1500" dirty="0" err="1">
                <a:effectLst/>
                <a:latin typeface="Helvetica" pitchFamily="2" charset="0"/>
              </a:rPr>
              <a:t>pygame.draw.rect</a:t>
            </a:r>
            <a:r>
              <a:rPr lang="en-US" sz="1500" dirty="0">
                <a:effectLst/>
                <a:latin typeface="Helvetica" pitchFamily="2" charset="0"/>
              </a:rPr>
              <a:t>(screen, (store[row][col], store[row][col], store[row][col]),</a:t>
            </a:r>
            <a:r>
              <a:rPr lang="en-US" sz="1500" dirty="0" err="1">
                <a:effectLst/>
                <a:latin typeface="Helvetica" pitchFamily="2" charset="0"/>
              </a:rPr>
              <a:t>rect</a:t>
            </a:r>
            <a:r>
              <a:rPr lang="en-US" sz="1500" dirty="0">
                <a:effectLst/>
                <a:latin typeface="Helvetica" pitchFamily="2" charset="0"/>
              </a:rPr>
              <a:t>)</a:t>
            </a:r>
          </a:p>
          <a:p>
            <a:r>
              <a:rPr lang="en-US" sz="1500" dirty="0">
                <a:effectLst/>
                <a:latin typeface="Helvetica" pitchFamily="2" charset="0"/>
              </a:rPr>
              <a:t>        </a:t>
            </a:r>
            <a:r>
              <a:rPr lang="en-US" sz="1500" dirty="0" err="1">
                <a:effectLst/>
                <a:latin typeface="Helvetica" pitchFamily="2" charset="0"/>
              </a:rPr>
              <a:t>pygame.display.update</a:t>
            </a:r>
            <a:r>
              <a:rPr lang="en-US" sz="1500" dirty="0">
                <a:effectLst/>
                <a:latin typeface="Helvetica" pitchFamily="2" charset="0"/>
              </a:rPr>
              <a:t>()</a:t>
            </a:r>
          </a:p>
          <a:p>
            <a:r>
              <a:rPr lang="en-US" sz="1050" dirty="0">
                <a:effectLst/>
                <a:latin typeface="Helvetica" pitchFamily="2" charset="0"/>
              </a:rPr>
              <a:t>    </a:t>
            </a:r>
          </a:p>
        </p:txBody>
      </p:sp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7BA3D4EC-E59A-586A-63D3-55FE41C08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912" y="1898142"/>
            <a:ext cx="3581400" cy="38481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BABF4E-FE05-8654-2644-74B2D6FD279D}"/>
              </a:ext>
            </a:extLst>
          </p:cNvPr>
          <p:cNvCxnSpPr/>
          <p:nvPr/>
        </p:nvCxnSpPr>
        <p:spPr>
          <a:xfrm flipV="1">
            <a:off x="7385762" y="2345953"/>
            <a:ext cx="687150" cy="507302"/>
          </a:xfrm>
          <a:prstGeom prst="straightConnector1">
            <a:avLst/>
          </a:prstGeom>
          <a:ln w="53975">
            <a:solidFill>
              <a:srgbClr val="FFFF00"/>
            </a:solidFill>
            <a:headEnd w="lg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4B71D69-ED0D-3BAD-27C4-260A97861447}"/>
              </a:ext>
            </a:extLst>
          </p:cNvPr>
          <p:cNvSpPr txBox="1"/>
          <p:nvPr/>
        </p:nvSpPr>
        <p:spPr>
          <a:xfrm>
            <a:off x="7008812" y="2853255"/>
            <a:ext cx="2286000" cy="52322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</a:rPr>
              <a:t>position (0, 0)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7FB9F4B-9937-1537-5EFF-7E1D8882CF74}"/>
              </a:ext>
            </a:extLst>
          </p:cNvPr>
          <p:cNvCxnSpPr>
            <a:cxnSpLocks/>
          </p:cNvCxnSpPr>
          <p:nvPr/>
        </p:nvCxnSpPr>
        <p:spPr>
          <a:xfrm flipV="1">
            <a:off x="9357951" y="3068224"/>
            <a:ext cx="624011" cy="523220"/>
          </a:xfrm>
          <a:prstGeom prst="straightConnector1">
            <a:avLst/>
          </a:prstGeom>
          <a:ln w="53975">
            <a:solidFill>
              <a:srgbClr val="FFFF00"/>
            </a:solidFill>
            <a:headEnd w="lg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4058897-E378-6755-D24A-56816C14EF3F}"/>
              </a:ext>
            </a:extLst>
          </p:cNvPr>
          <p:cNvSpPr txBox="1"/>
          <p:nvPr/>
        </p:nvSpPr>
        <p:spPr>
          <a:xfrm>
            <a:off x="8981001" y="3591444"/>
            <a:ext cx="2444712" cy="52322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</a:rPr>
              <a:t>position (5, 15)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D54A7F2-24A3-B1F4-E97D-79FDE4B381E4}"/>
              </a:ext>
            </a:extLst>
          </p:cNvPr>
          <p:cNvCxnSpPr>
            <a:cxnSpLocks/>
          </p:cNvCxnSpPr>
          <p:nvPr/>
        </p:nvCxnSpPr>
        <p:spPr>
          <a:xfrm flipV="1">
            <a:off x="10279775" y="5708184"/>
            <a:ext cx="1145938" cy="469244"/>
          </a:xfrm>
          <a:prstGeom prst="straightConnector1">
            <a:avLst/>
          </a:prstGeom>
          <a:ln w="53975">
            <a:solidFill>
              <a:srgbClr val="FFFF00"/>
            </a:solidFill>
            <a:headEnd w="lg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E6FFAAF-F878-5C05-8F2C-517D9702F8D6}"/>
              </a:ext>
            </a:extLst>
          </p:cNvPr>
          <p:cNvSpPr txBox="1"/>
          <p:nvPr/>
        </p:nvSpPr>
        <p:spPr>
          <a:xfrm>
            <a:off x="9357951" y="6072462"/>
            <a:ext cx="2894013" cy="52322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</a:rPr>
              <a:t>position (27, 27)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975ADD-A277-249F-E44A-DC85A088DC3F}"/>
              </a:ext>
            </a:extLst>
          </p:cNvPr>
          <p:cNvSpPr txBox="1"/>
          <p:nvPr/>
        </p:nvSpPr>
        <p:spPr>
          <a:xfrm>
            <a:off x="4608626" y="6137718"/>
            <a:ext cx="4442938" cy="55399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FF00"/>
                </a:solidFill>
              </a:rPr>
              <a:t>color (255,255,255) is white</a:t>
            </a:r>
            <a:br>
              <a:rPr lang="en-US" sz="1500" dirty="0">
                <a:solidFill>
                  <a:srgbClr val="FFFF00"/>
                </a:solidFill>
              </a:rPr>
            </a:br>
            <a:r>
              <a:rPr lang="en-US" sz="1500" dirty="0">
                <a:solidFill>
                  <a:srgbClr val="FFFF00"/>
                </a:solidFill>
              </a:rPr>
              <a:t>color (0,0,0) is black</a:t>
            </a:r>
          </a:p>
        </p:txBody>
      </p:sp>
    </p:spTree>
    <p:extLst>
      <p:ext uri="{BB962C8B-B14F-4D97-AF65-F5344CB8AC3E}">
        <p14:creationId xmlns:p14="http://schemas.microsoft.com/office/powerpoint/2010/main" val="4081699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2B5B8-4BC7-3ECF-FFE6-235FED118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F62E8-950B-ABBA-AE72-EB254892C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12" y="790766"/>
            <a:ext cx="10360501" cy="4462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Update the 28x28 list using the position the user clicks on.</a:t>
            </a:r>
          </a:p>
          <a:p>
            <a:pPr marL="0" indent="0">
              <a:buNone/>
            </a:pPr>
            <a:endParaRPr lang="en-US" sz="4800" dirty="0">
              <a:solidFill>
                <a:srgbClr val="FFC000"/>
              </a:solidFill>
            </a:endParaRP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E2BE32BA-F6C3-1EC5-FB20-96BFC4BE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4412" y="-433197"/>
            <a:ext cx="10360501" cy="12239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29999"/>
                </a:solidFill>
              </a:rPr>
              <a:t>User Input with </a:t>
            </a:r>
            <a:r>
              <a:rPr lang="en-US" sz="5400" dirty="0" err="1">
                <a:solidFill>
                  <a:srgbClr val="029999"/>
                </a:solidFill>
              </a:rPr>
              <a:t>Pygame</a:t>
            </a:r>
            <a:r>
              <a:rPr lang="en-US" sz="5400" dirty="0">
                <a:solidFill>
                  <a:srgbClr val="029999"/>
                </a:solidFill>
              </a:rPr>
              <a:t> V3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DBAABA-4A41-92F3-C9AE-03BDF3E4296B}"/>
              </a:ext>
            </a:extLst>
          </p:cNvPr>
          <p:cNvSpPr/>
          <p:nvPr/>
        </p:nvSpPr>
        <p:spPr>
          <a:xfrm>
            <a:off x="1293812" y="1805179"/>
            <a:ext cx="10360500" cy="47670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err="1">
                <a:effectLst/>
                <a:latin typeface="Helvetica" pitchFamily="2" charset="0"/>
              </a:rPr>
              <a:t>elif</a:t>
            </a:r>
            <a:r>
              <a:rPr lang="en-US" sz="2000" dirty="0">
                <a:effectLst/>
                <a:latin typeface="Helvetica" pitchFamily="2" charset="0"/>
              </a:rPr>
              <a:t> </a:t>
            </a:r>
            <a:r>
              <a:rPr lang="en-US" sz="2000" dirty="0" err="1">
                <a:effectLst/>
                <a:latin typeface="Helvetica" pitchFamily="2" charset="0"/>
              </a:rPr>
              <a:t>event.type</a:t>
            </a:r>
            <a:r>
              <a:rPr lang="en-US" sz="2000" dirty="0">
                <a:effectLst/>
                <a:latin typeface="Helvetica" pitchFamily="2" charset="0"/>
              </a:rPr>
              <a:t> == </a:t>
            </a:r>
            <a:r>
              <a:rPr lang="en-US" sz="2000" dirty="0" err="1">
                <a:effectLst/>
                <a:latin typeface="Helvetica" pitchFamily="2" charset="0"/>
              </a:rPr>
              <a:t>pygame.MOUSEBUTTONDOWN</a:t>
            </a:r>
            <a:r>
              <a:rPr lang="en-US" sz="2000" dirty="0">
                <a:effectLst/>
                <a:latin typeface="Helvetica" pitchFamily="2" charset="0"/>
              </a:rPr>
              <a:t>:</a:t>
            </a:r>
          </a:p>
          <a:p>
            <a:r>
              <a:rPr lang="en-US" sz="2000" dirty="0">
                <a:effectLst/>
                <a:latin typeface="Helvetica" pitchFamily="2" charset="0"/>
              </a:rPr>
              <a:t>                x, y = </a:t>
            </a:r>
            <a:r>
              <a:rPr lang="en-US" sz="2000" dirty="0" err="1">
                <a:effectLst/>
                <a:latin typeface="Helvetica" pitchFamily="2" charset="0"/>
              </a:rPr>
              <a:t>event.pos</a:t>
            </a:r>
            <a:r>
              <a:rPr lang="en-US" sz="2000" dirty="0">
                <a:effectLst/>
                <a:latin typeface="Helvetica" pitchFamily="2" charset="0"/>
              </a:rPr>
              <a:t>  # Get click position</a:t>
            </a:r>
          </a:p>
          <a:p>
            <a:r>
              <a:rPr lang="en-US" sz="2000" dirty="0">
                <a:effectLst/>
                <a:latin typeface="Helvetica" pitchFamily="2" charset="0"/>
              </a:rPr>
              <a:t>                </a:t>
            </a:r>
            <a:r>
              <a:rPr lang="en-US" sz="2000" dirty="0" err="1">
                <a:effectLst/>
                <a:latin typeface="Helvetica" pitchFamily="2" charset="0"/>
              </a:rPr>
              <a:t>x_scaled</a:t>
            </a:r>
            <a:r>
              <a:rPr lang="en-US" sz="2000" dirty="0">
                <a:effectLst/>
                <a:latin typeface="Helvetica" pitchFamily="2" charset="0"/>
              </a:rPr>
              <a:t>, </a:t>
            </a:r>
            <a:r>
              <a:rPr lang="en-US" sz="2000" dirty="0" err="1">
                <a:effectLst/>
                <a:latin typeface="Helvetica" pitchFamily="2" charset="0"/>
              </a:rPr>
              <a:t>y_scaled</a:t>
            </a:r>
            <a:r>
              <a:rPr lang="en-US" sz="2000" dirty="0">
                <a:effectLst/>
                <a:latin typeface="Helvetica" pitchFamily="2" charset="0"/>
              </a:rPr>
              <a:t> = x//SQUARE_SIZE, y//SQUARE_SIZE</a:t>
            </a:r>
          </a:p>
          <a:p>
            <a:r>
              <a:rPr lang="en-US" sz="2000" dirty="0">
                <a:effectLst/>
                <a:latin typeface="Helvetica" pitchFamily="2" charset="0"/>
              </a:rPr>
              <a:t>                store[</a:t>
            </a:r>
            <a:r>
              <a:rPr lang="en-US" sz="2000" dirty="0" err="1">
                <a:effectLst/>
                <a:latin typeface="Helvetica" pitchFamily="2" charset="0"/>
              </a:rPr>
              <a:t>y_scaled</a:t>
            </a:r>
            <a:r>
              <a:rPr lang="en-US" sz="2000" dirty="0">
                <a:effectLst/>
                <a:latin typeface="Helvetica" pitchFamily="2" charset="0"/>
              </a:rPr>
              <a:t>][</a:t>
            </a:r>
            <a:r>
              <a:rPr lang="en-US" sz="2000" dirty="0" err="1">
                <a:effectLst/>
                <a:latin typeface="Helvetica" pitchFamily="2" charset="0"/>
              </a:rPr>
              <a:t>x_scaled</a:t>
            </a:r>
            <a:r>
              <a:rPr lang="en-US" sz="2000" dirty="0">
                <a:effectLst/>
                <a:latin typeface="Helvetica" pitchFamily="2" charset="0"/>
              </a:rPr>
              <a:t>] = 255 #make pixel white</a:t>
            </a:r>
          </a:p>
          <a:p>
            <a:r>
              <a:rPr lang="en-US" sz="2000" dirty="0">
                <a:effectLst/>
                <a:latin typeface="Helvetica" pitchFamily="2" charset="0"/>
              </a:rPr>
              <a:t>                redraw()</a:t>
            </a:r>
          </a:p>
          <a:p>
            <a:r>
              <a:rPr lang="en-US" sz="1050" dirty="0">
                <a:effectLst/>
                <a:latin typeface="Helvetica" pitchFamily="2" charset="0"/>
              </a:rPr>
              <a:t>    </a:t>
            </a:r>
          </a:p>
        </p:txBody>
      </p:sp>
      <p:pic>
        <p:nvPicPr>
          <p:cNvPr id="6" name="Picture 5" descr="Screens screenshot of a phone&#10;&#10;AI-generated content may be incorrect.">
            <a:extLst>
              <a:ext uri="{FF2B5EF4-FFF2-40B4-BE49-F238E27FC236}">
                <a16:creationId xmlns:a16="http://schemas.microsoft.com/office/drawing/2014/main" id="{767E132B-7CFE-ACCD-181C-121DB4F7F6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9598" y="3429000"/>
            <a:ext cx="2938674" cy="317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681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9120C-AA14-DA8E-C188-88CB8AA10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7AA24-68AA-6DC1-D52F-DCE2745FF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12" y="790766"/>
            <a:ext cx="10360501" cy="4462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Update the code so the user can click OR drag the mouse to draw.</a:t>
            </a:r>
          </a:p>
          <a:p>
            <a:pPr marL="0" indent="0">
              <a:buNone/>
            </a:pPr>
            <a:endParaRPr lang="en-US" sz="4800" dirty="0">
              <a:solidFill>
                <a:srgbClr val="FFC000"/>
              </a:solidFill>
            </a:endParaRP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F18684B9-8369-3260-EA59-682E773EF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4412" y="-433197"/>
            <a:ext cx="10360501" cy="12239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29999"/>
                </a:solidFill>
              </a:rPr>
              <a:t>User Input with </a:t>
            </a:r>
            <a:r>
              <a:rPr lang="en-US" sz="5400" dirty="0" err="1">
                <a:solidFill>
                  <a:srgbClr val="029999"/>
                </a:solidFill>
              </a:rPr>
              <a:t>Pygame</a:t>
            </a:r>
            <a:r>
              <a:rPr lang="en-US" sz="5400" dirty="0">
                <a:solidFill>
                  <a:srgbClr val="029999"/>
                </a:solidFill>
              </a:rPr>
              <a:t> V4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4579D6-852C-3AE8-C091-B8FAF98CE130}"/>
              </a:ext>
            </a:extLst>
          </p:cNvPr>
          <p:cNvSpPr/>
          <p:nvPr/>
        </p:nvSpPr>
        <p:spPr>
          <a:xfrm>
            <a:off x="1293812" y="1805179"/>
            <a:ext cx="10360500" cy="47670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/>
              <a:t>while running:</a:t>
            </a:r>
          </a:p>
          <a:p>
            <a:r>
              <a:rPr lang="en-US" sz="2200" dirty="0"/>
              <a:t>        for event in </a:t>
            </a:r>
            <a:r>
              <a:rPr lang="en-US" sz="2200" dirty="0" err="1"/>
              <a:t>pygame.event.get</a:t>
            </a:r>
            <a:r>
              <a:rPr lang="en-US" sz="2200" dirty="0"/>
              <a:t>():</a:t>
            </a:r>
          </a:p>
          <a:p>
            <a:r>
              <a:rPr lang="en-US" sz="2200" dirty="0"/>
              <a:t>            if </a:t>
            </a:r>
            <a:r>
              <a:rPr lang="en-US" sz="2200" dirty="0" err="1"/>
              <a:t>event.type</a:t>
            </a:r>
            <a:r>
              <a:rPr lang="en-US" sz="2200" dirty="0"/>
              <a:t> == </a:t>
            </a:r>
            <a:r>
              <a:rPr lang="en-US" sz="2200" dirty="0" err="1"/>
              <a:t>pygame.QUIT</a:t>
            </a:r>
            <a:r>
              <a:rPr lang="en-US" sz="2200" dirty="0"/>
              <a:t>:  # Window close button</a:t>
            </a:r>
          </a:p>
          <a:p>
            <a:r>
              <a:rPr lang="en-US" sz="2200" dirty="0"/>
              <a:t>                running = False</a:t>
            </a:r>
          </a:p>
          <a:p>
            <a:r>
              <a:rPr lang="en-US" sz="2200" dirty="0"/>
              <a:t>            </a:t>
            </a:r>
            <a:r>
              <a:rPr lang="en-US" sz="2200" dirty="0" err="1"/>
              <a:t>elif</a:t>
            </a:r>
            <a:r>
              <a:rPr lang="en-US" sz="2200" dirty="0"/>
              <a:t> </a:t>
            </a:r>
            <a:r>
              <a:rPr lang="en-US" sz="2200" dirty="0" err="1"/>
              <a:t>event.type</a:t>
            </a:r>
            <a:r>
              <a:rPr lang="en-US" sz="2200" dirty="0"/>
              <a:t> == </a:t>
            </a:r>
            <a:r>
              <a:rPr lang="en-US" sz="2200" dirty="0" err="1">
                <a:solidFill>
                  <a:srgbClr val="FFFF00"/>
                </a:solidFill>
              </a:rPr>
              <a:t>pygame.MOUSEBUTTONDOWN</a:t>
            </a:r>
            <a:r>
              <a:rPr lang="en-US" sz="2200" dirty="0">
                <a:solidFill>
                  <a:srgbClr val="FFFF00"/>
                </a:solidFill>
              </a:rPr>
              <a:t> </a:t>
            </a:r>
            <a:r>
              <a:rPr lang="en-US" sz="2200" dirty="0"/>
              <a:t>or \</a:t>
            </a:r>
          </a:p>
          <a:p>
            <a:r>
              <a:rPr lang="en-US" sz="2200" dirty="0"/>
              <a:t>                 (</a:t>
            </a:r>
            <a:r>
              <a:rPr lang="en-US" sz="2200" dirty="0" err="1"/>
              <a:t>event.type</a:t>
            </a:r>
            <a:r>
              <a:rPr lang="en-US" sz="2200" dirty="0"/>
              <a:t> == </a:t>
            </a:r>
            <a:r>
              <a:rPr lang="en-US" sz="2200" dirty="0" err="1">
                <a:solidFill>
                  <a:srgbClr val="FFFF00"/>
                </a:solidFill>
              </a:rPr>
              <a:t>pygame.MOUSEMOTION</a:t>
            </a:r>
            <a:r>
              <a:rPr lang="en-US" sz="2200" dirty="0">
                <a:solidFill>
                  <a:srgbClr val="FFFF00"/>
                </a:solidFill>
              </a:rPr>
              <a:t> and drawing</a:t>
            </a:r>
            <a:r>
              <a:rPr lang="en-US" sz="2200" dirty="0"/>
              <a:t>):  # Mouse click</a:t>
            </a:r>
          </a:p>
          <a:p>
            <a:r>
              <a:rPr lang="en-US" sz="2200" dirty="0"/>
              <a:t>                </a:t>
            </a:r>
            <a:r>
              <a:rPr lang="en-US" sz="2200" dirty="0">
                <a:solidFill>
                  <a:srgbClr val="FFFF00"/>
                </a:solidFill>
              </a:rPr>
              <a:t>drawing = True</a:t>
            </a:r>
          </a:p>
          <a:p>
            <a:r>
              <a:rPr lang="en-US" sz="2200" dirty="0"/>
              <a:t>                x, y = </a:t>
            </a:r>
            <a:r>
              <a:rPr lang="en-US" sz="2200" dirty="0" err="1"/>
              <a:t>event.pos</a:t>
            </a:r>
            <a:r>
              <a:rPr lang="en-US" sz="2200" dirty="0"/>
              <a:t>  # Get click position</a:t>
            </a:r>
          </a:p>
          <a:p>
            <a:r>
              <a:rPr lang="en-US" sz="2200" dirty="0"/>
              <a:t>                </a:t>
            </a:r>
            <a:r>
              <a:rPr lang="en-US" sz="2200" dirty="0" err="1"/>
              <a:t>x_scaled</a:t>
            </a:r>
            <a:r>
              <a:rPr lang="en-US" sz="2200" dirty="0"/>
              <a:t>, </a:t>
            </a:r>
            <a:r>
              <a:rPr lang="en-US" sz="2200" dirty="0" err="1"/>
              <a:t>y_scaled</a:t>
            </a:r>
            <a:r>
              <a:rPr lang="en-US" sz="2200" dirty="0"/>
              <a:t> = x//SQUARE_SIZE, y//SQUARE_SIZE</a:t>
            </a:r>
          </a:p>
          <a:p>
            <a:r>
              <a:rPr lang="en-US" sz="2200" dirty="0"/>
              <a:t>                store[</a:t>
            </a:r>
            <a:r>
              <a:rPr lang="en-US" sz="2200" dirty="0" err="1"/>
              <a:t>y_scaled</a:t>
            </a:r>
            <a:r>
              <a:rPr lang="en-US" sz="2200" dirty="0"/>
              <a:t>][</a:t>
            </a:r>
            <a:r>
              <a:rPr lang="en-US" sz="2200" dirty="0" err="1"/>
              <a:t>x_scaled</a:t>
            </a:r>
            <a:r>
              <a:rPr lang="en-US" sz="2200" dirty="0"/>
              <a:t>] = 255 #make pixel white</a:t>
            </a:r>
          </a:p>
          <a:p>
            <a:r>
              <a:rPr lang="en-US" sz="2200" dirty="0"/>
              <a:t>                redraw()</a:t>
            </a:r>
          </a:p>
          <a:p>
            <a:r>
              <a:rPr lang="en-US" sz="2200" dirty="0"/>
              <a:t>            else:</a:t>
            </a:r>
          </a:p>
          <a:p>
            <a:r>
              <a:rPr lang="en-US" sz="2200" dirty="0"/>
              <a:t>                </a:t>
            </a:r>
            <a:r>
              <a:rPr lang="en-US" sz="2200" dirty="0">
                <a:solidFill>
                  <a:srgbClr val="FFFF00"/>
                </a:solidFill>
              </a:rPr>
              <a:t>drawing = False</a:t>
            </a:r>
          </a:p>
          <a:p>
            <a:r>
              <a:rPr lang="en-US" sz="2200" dirty="0">
                <a:effectLst/>
                <a:latin typeface="Helvetica" pitchFamily="2" charset="0"/>
              </a:rPr>
              <a:t>    </a:t>
            </a:r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FE3A381C-F0CB-B438-DCCE-4B78CBB4F3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9611" y="3983261"/>
            <a:ext cx="2589213" cy="28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232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5484B-1417-F30A-79D2-A8184237A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A6278-6852-AA46-91B5-8E3C79EB8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12" y="790766"/>
            <a:ext cx="10360501" cy="4462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Display the drawn number to the screen for debugging</a:t>
            </a:r>
          </a:p>
          <a:p>
            <a:pPr marL="0" indent="0">
              <a:buNone/>
            </a:pPr>
            <a:endParaRPr lang="en-US" sz="4800" dirty="0">
              <a:solidFill>
                <a:srgbClr val="FFC000"/>
              </a:solidFill>
            </a:endParaRP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05A1BFE7-1394-CF41-213E-7FC52F668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4412" y="-433197"/>
            <a:ext cx="10360501" cy="12239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29999"/>
                </a:solidFill>
              </a:rPr>
              <a:t>User Input with </a:t>
            </a:r>
            <a:r>
              <a:rPr lang="en-US" sz="5400" dirty="0" err="1">
                <a:solidFill>
                  <a:srgbClr val="029999"/>
                </a:solidFill>
              </a:rPr>
              <a:t>Pygame</a:t>
            </a:r>
            <a:r>
              <a:rPr lang="en-US" sz="5400" dirty="0">
                <a:solidFill>
                  <a:srgbClr val="029999"/>
                </a:solidFill>
              </a:rPr>
              <a:t> V5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6B8C42-BEC9-696D-BD16-220B9D3D1885}"/>
              </a:ext>
            </a:extLst>
          </p:cNvPr>
          <p:cNvSpPr/>
          <p:nvPr/>
        </p:nvSpPr>
        <p:spPr>
          <a:xfrm>
            <a:off x="533717" y="1730914"/>
            <a:ext cx="10360500" cy="47670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effectLst/>
                <a:latin typeface="Helvetica" pitchFamily="2" charset="0"/>
              </a:rPr>
              <a:t>elif</a:t>
            </a:r>
            <a:r>
              <a:rPr lang="en-US" sz="1600" dirty="0">
                <a:effectLst/>
                <a:latin typeface="Helvetica" pitchFamily="2" charset="0"/>
              </a:rPr>
              <a:t> </a:t>
            </a:r>
            <a:r>
              <a:rPr lang="en-US" sz="1600" dirty="0" err="1">
                <a:effectLst/>
                <a:latin typeface="Helvetica" pitchFamily="2" charset="0"/>
              </a:rPr>
              <a:t>event.type</a:t>
            </a:r>
            <a:r>
              <a:rPr lang="en-US" sz="1600" dirty="0">
                <a:effectLst/>
                <a:latin typeface="Helvetica" pitchFamily="2" charset="0"/>
              </a:rPr>
              <a:t> == </a:t>
            </a:r>
            <a:r>
              <a:rPr lang="en-US" sz="1600" dirty="0" err="1">
                <a:effectLst/>
                <a:latin typeface="Helvetica" pitchFamily="2" charset="0"/>
              </a:rPr>
              <a:t>pygame.MOUSEBUTTONUP</a:t>
            </a:r>
            <a:r>
              <a:rPr lang="en-US" sz="1600" dirty="0">
                <a:effectLst/>
                <a:latin typeface="Helvetica" pitchFamily="2" charset="0"/>
              </a:rPr>
              <a:t>:  # Mouse button released</a:t>
            </a:r>
          </a:p>
          <a:p>
            <a:r>
              <a:rPr lang="en-US" sz="1600" dirty="0">
                <a:effectLst/>
                <a:latin typeface="Helvetica" pitchFamily="2" charset="0"/>
              </a:rPr>
              <a:t>                drawing = False</a:t>
            </a:r>
          </a:p>
          <a:p>
            <a:r>
              <a:rPr lang="en-US" sz="1600" dirty="0">
                <a:effectLst/>
                <a:latin typeface="Helvetica" pitchFamily="2" charset="0"/>
              </a:rPr>
              <a:t>                #print(store)</a:t>
            </a:r>
          </a:p>
          <a:p>
            <a:r>
              <a:rPr lang="en-US" sz="1600" dirty="0">
                <a:effectLst/>
                <a:latin typeface="Helvetica" pitchFamily="2" charset="0"/>
              </a:rPr>
              <a:t>                for r in range(size):</a:t>
            </a:r>
          </a:p>
          <a:p>
            <a:r>
              <a:rPr lang="en-US" sz="1600" dirty="0">
                <a:effectLst/>
                <a:latin typeface="Helvetica" pitchFamily="2" charset="0"/>
              </a:rPr>
              <a:t>                    for c in range(size):</a:t>
            </a:r>
          </a:p>
          <a:p>
            <a:r>
              <a:rPr lang="en-US" sz="1600" dirty="0">
                <a:effectLst/>
                <a:latin typeface="Helvetica" pitchFamily="2" charset="0"/>
              </a:rPr>
              <a:t>                        if store[r][c] &gt; 0:</a:t>
            </a:r>
          </a:p>
          <a:p>
            <a:r>
              <a:rPr lang="en-US" sz="1600" dirty="0">
                <a:effectLst/>
                <a:latin typeface="Helvetica" pitchFamily="2" charset="0"/>
              </a:rPr>
              <a:t>                            print("*", end="")</a:t>
            </a:r>
          </a:p>
          <a:p>
            <a:r>
              <a:rPr lang="en-US" sz="1600" dirty="0">
                <a:effectLst/>
                <a:latin typeface="Helvetica" pitchFamily="2" charset="0"/>
              </a:rPr>
              <a:t>                        else:</a:t>
            </a:r>
          </a:p>
          <a:p>
            <a:r>
              <a:rPr lang="en-US" sz="1600" dirty="0">
                <a:effectLst/>
                <a:latin typeface="Helvetica" pitchFamily="2" charset="0"/>
              </a:rPr>
              <a:t>                            print(" ", end="")</a:t>
            </a:r>
          </a:p>
          <a:p>
            <a:r>
              <a:rPr lang="en-US" sz="1600" dirty="0">
                <a:effectLst/>
                <a:latin typeface="Helvetica" pitchFamily="2" charset="0"/>
              </a:rPr>
              <a:t>                    print()#newline</a:t>
            </a:r>
          </a:p>
          <a:p>
            <a:r>
              <a:rPr lang="en-US" sz="2200" dirty="0">
                <a:effectLst/>
                <a:latin typeface="Helvetica" pitchFamily="2" charset="0"/>
              </a:rPr>
              <a:t>    </a:t>
            </a:r>
          </a:p>
        </p:txBody>
      </p:sp>
      <p:pic>
        <p:nvPicPr>
          <p:cNvPr id="6" name="Picture 5" descr="A blue snowflakes on a white background&#10;&#10;AI-generated content may be incorrect.">
            <a:extLst>
              <a:ext uri="{FF2B5EF4-FFF2-40B4-BE49-F238E27FC236}">
                <a16:creationId xmlns:a16="http://schemas.microsoft.com/office/drawing/2014/main" id="{0F168DF3-E91F-6572-ADC3-747F37FD4A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342" y="3039008"/>
            <a:ext cx="3302441" cy="3787814"/>
          </a:xfrm>
          <a:prstGeom prst="rect">
            <a:avLst/>
          </a:prstGeom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F3F8A35E-F2C7-5AA4-8F94-571AB0AD1F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3325" y="2852404"/>
            <a:ext cx="33655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35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C5A42-E971-0D24-1186-E3A283AB2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C8412-C9D8-4CEC-9E4A-2C54ECDA8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12" y="790766"/>
            <a:ext cx="10360501" cy="4462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Give the user a way to erase the drawing and start again if they type ‘c’</a:t>
            </a:r>
          </a:p>
          <a:p>
            <a:pPr marL="0" indent="0">
              <a:buNone/>
            </a:pPr>
            <a:endParaRPr lang="en-US" sz="4800" dirty="0">
              <a:solidFill>
                <a:srgbClr val="FFC000"/>
              </a:solidFill>
            </a:endParaRP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C875720A-C40C-AA90-5435-6BCDE9EDE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4412" y="-433197"/>
            <a:ext cx="10360501" cy="12239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29999"/>
                </a:solidFill>
              </a:rPr>
              <a:t>User Input with </a:t>
            </a:r>
            <a:r>
              <a:rPr lang="en-US" sz="5400" dirty="0" err="1">
                <a:solidFill>
                  <a:srgbClr val="029999"/>
                </a:solidFill>
              </a:rPr>
              <a:t>Pygame</a:t>
            </a:r>
            <a:r>
              <a:rPr lang="en-US" sz="5400" dirty="0">
                <a:solidFill>
                  <a:srgbClr val="029999"/>
                </a:solidFill>
              </a:rPr>
              <a:t> V6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B31CE4-47C2-2663-BCD9-CA7BF910B89E}"/>
              </a:ext>
            </a:extLst>
          </p:cNvPr>
          <p:cNvSpPr/>
          <p:nvPr/>
        </p:nvSpPr>
        <p:spPr>
          <a:xfrm>
            <a:off x="1293812" y="1805179"/>
            <a:ext cx="10360500" cy="47670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/>
              <a:t>while running:</a:t>
            </a:r>
          </a:p>
          <a:p>
            <a:r>
              <a:rPr lang="en-US" sz="2200" dirty="0"/>
              <a:t>        for event in </a:t>
            </a:r>
            <a:r>
              <a:rPr lang="en-US" sz="2200" dirty="0" err="1"/>
              <a:t>pygame.event.get</a:t>
            </a:r>
            <a:r>
              <a:rPr lang="en-US" sz="2200" dirty="0"/>
              <a:t>():</a:t>
            </a:r>
          </a:p>
          <a:p>
            <a:r>
              <a:rPr lang="en-US" sz="2200" dirty="0"/>
              <a:t>            if </a:t>
            </a:r>
            <a:r>
              <a:rPr lang="en-US" sz="2200" dirty="0" err="1"/>
              <a:t>event.type</a:t>
            </a:r>
            <a:r>
              <a:rPr lang="en-US" sz="2200" dirty="0"/>
              <a:t> == </a:t>
            </a:r>
            <a:r>
              <a:rPr lang="en-US" sz="2200" dirty="0" err="1"/>
              <a:t>pygame.QUIT</a:t>
            </a:r>
            <a:r>
              <a:rPr lang="en-US" sz="2200" dirty="0"/>
              <a:t>:  # Window close button</a:t>
            </a:r>
          </a:p>
          <a:p>
            <a:r>
              <a:rPr lang="en-US" sz="2200" dirty="0"/>
              <a:t>                running = False</a:t>
            </a:r>
          </a:p>
          <a:p>
            <a:r>
              <a:rPr lang="en-US" sz="2200" dirty="0"/>
              <a:t>            </a:t>
            </a:r>
            <a:r>
              <a:rPr lang="en-US" sz="2200" dirty="0" err="1"/>
              <a:t>elif</a:t>
            </a:r>
            <a:r>
              <a:rPr lang="en-US" sz="2200" dirty="0"/>
              <a:t> </a:t>
            </a:r>
            <a:r>
              <a:rPr lang="en-US" sz="2200" dirty="0" err="1"/>
              <a:t>event.type</a:t>
            </a:r>
            <a:r>
              <a:rPr lang="en-US" sz="2200" dirty="0"/>
              <a:t> == </a:t>
            </a:r>
            <a:r>
              <a:rPr lang="en-US" sz="2200" dirty="0" err="1">
                <a:solidFill>
                  <a:srgbClr val="FFFF00"/>
                </a:solidFill>
              </a:rPr>
              <a:t>pygame.MOUSEBUTTONDOWN</a:t>
            </a:r>
            <a:r>
              <a:rPr lang="en-US" sz="2200" dirty="0">
                <a:solidFill>
                  <a:srgbClr val="FFFF00"/>
                </a:solidFill>
              </a:rPr>
              <a:t> </a:t>
            </a:r>
            <a:r>
              <a:rPr lang="en-US" sz="2200" dirty="0"/>
              <a:t>or \</a:t>
            </a:r>
          </a:p>
          <a:p>
            <a:r>
              <a:rPr lang="en-US" sz="2200" dirty="0"/>
              <a:t>                 (</a:t>
            </a:r>
            <a:r>
              <a:rPr lang="en-US" sz="2200" dirty="0" err="1"/>
              <a:t>event.type</a:t>
            </a:r>
            <a:r>
              <a:rPr lang="en-US" sz="2200" dirty="0"/>
              <a:t> == </a:t>
            </a:r>
            <a:r>
              <a:rPr lang="en-US" sz="2200" dirty="0" err="1">
                <a:solidFill>
                  <a:srgbClr val="FFFF00"/>
                </a:solidFill>
              </a:rPr>
              <a:t>pygame.MOUSEMOTION</a:t>
            </a:r>
            <a:r>
              <a:rPr lang="en-US" sz="2200" dirty="0">
                <a:solidFill>
                  <a:srgbClr val="FFFF00"/>
                </a:solidFill>
              </a:rPr>
              <a:t> and drawing</a:t>
            </a:r>
            <a:r>
              <a:rPr lang="en-US" sz="2200" dirty="0"/>
              <a:t>):  # Mouse click</a:t>
            </a:r>
          </a:p>
          <a:p>
            <a:r>
              <a:rPr lang="en-US" sz="2200" dirty="0"/>
              <a:t>                </a:t>
            </a:r>
            <a:r>
              <a:rPr lang="en-US" sz="2200" dirty="0">
                <a:solidFill>
                  <a:srgbClr val="FFFF00"/>
                </a:solidFill>
              </a:rPr>
              <a:t>drawing = True</a:t>
            </a:r>
          </a:p>
          <a:p>
            <a:r>
              <a:rPr lang="en-US" sz="2200" dirty="0"/>
              <a:t>                x, y = </a:t>
            </a:r>
            <a:r>
              <a:rPr lang="en-US" sz="2200" dirty="0" err="1"/>
              <a:t>event.pos</a:t>
            </a:r>
            <a:r>
              <a:rPr lang="en-US" sz="2200" dirty="0"/>
              <a:t>  # Get click position</a:t>
            </a:r>
          </a:p>
          <a:p>
            <a:r>
              <a:rPr lang="en-US" sz="2200" dirty="0"/>
              <a:t>                </a:t>
            </a:r>
            <a:r>
              <a:rPr lang="en-US" sz="2200" dirty="0" err="1"/>
              <a:t>x_scaled</a:t>
            </a:r>
            <a:r>
              <a:rPr lang="en-US" sz="2200" dirty="0"/>
              <a:t>, </a:t>
            </a:r>
            <a:r>
              <a:rPr lang="en-US" sz="2200" dirty="0" err="1"/>
              <a:t>y_scaled</a:t>
            </a:r>
            <a:r>
              <a:rPr lang="en-US" sz="2200" dirty="0"/>
              <a:t> = x//SQUARE_SIZE, y//SQUARE_SIZE</a:t>
            </a:r>
          </a:p>
          <a:p>
            <a:r>
              <a:rPr lang="en-US" sz="2200" dirty="0"/>
              <a:t>                store[</a:t>
            </a:r>
            <a:r>
              <a:rPr lang="en-US" sz="2200" dirty="0" err="1"/>
              <a:t>y_scaled</a:t>
            </a:r>
            <a:r>
              <a:rPr lang="en-US" sz="2200" dirty="0"/>
              <a:t>][</a:t>
            </a:r>
            <a:r>
              <a:rPr lang="en-US" sz="2200" dirty="0" err="1"/>
              <a:t>x_scaled</a:t>
            </a:r>
            <a:r>
              <a:rPr lang="en-US" sz="2200" dirty="0"/>
              <a:t>] = 255 #make pixel white</a:t>
            </a:r>
          </a:p>
          <a:p>
            <a:r>
              <a:rPr lang="en-US" sz="2200" dirty="0"/>
              <a:t>                redraw()</a:t>
            </a:r>
          </a:p>
          <a:p>
            <a:r>
              <a:rPr lang="en-US" sz="2200" dirty="0"/>
              <a:t>            else:</a:t>
            </a:r>
          </a:p>
          <a:p>
            <a:r>
              <a:rPr lang="en-US" sz="2200" dirty="0"/>
              <a:t>                </a:t>
            </a:r>
            <a:r>
              <a:rPr lang="en-US" sz="2200" dirty="0">
                <a:solidFill>
                  <a:srgbClr val="FFFF00"/>
                </a:solidFill>
              </a:rPr>
              <a:t>drawing = False</a:t>
            </a:r>
          </a:p>
          <a:p>
            <a:r>
              <a:rPr lang="en-US" sz="2200" dirty="0">
                <a:effectLst/>
                <a:latin typeface="Helvetica" pitchFamily="2" charset="0"/>
              </a:rPr>
              <a:t>    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F0585F-A9D3-F56A-0B21-486C27ED7D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040" y="3064969"/>
            <a:ext cx="5808472" cy="350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48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924D2-1555-5DE1-282B-5ABEF3CA5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DB5EA-0F43-5C00-A7D4-F5C46D693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12" y="790766"/>
            <a:ext cx="10360501" cy="4462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To make this a module, put everything in a function that requires the KNN model as input</a:t>
            </a:r>
          </a:p>
          <a:p>
            <a:pPr marL="0" indent="0">
              <a:buNone/>
            </a:pPr>
            <a:endParaRPr lang="en-US" sz="4800" dirty="0">
              <a:solidFill>
                <a:srgbClr val="FFC000"/>
              </a:solidFill>
            </a:endParaRP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41B4C7BB-0152-28A7-E153-83D09E7A5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4412" y="-433197"/>
            <a:ext cx="10360501" cy="12239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29999"/>
                </a:solidFill>
              </a:rPr>
              <a:t>User Input with </a:t>
            </a:r>
            <a:r>
              <a:rPr lang="en-US" sz="5400" dirty="0" err="1">
                <a:solidFill>
                  <a:srgbClr val="029999"/>
                </a:solidFill>
              </a:rPr>
              <a:t>Pygame</a:t>
            </a:r>
            <a:r>
              <a:rPr lang="en-US" sz="5400" dirty="0">
                <a:solidFill>
                  <a:srgbClr val="029999"/>
                </a:solidFill>
              </a:rPr>
              <a:t> V7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0E204E-E805-C5C4-FA38-C221824A1453}"/>
              </a:ext>
            </a:extLst>
          </p:cNvPr>
          <p:cNvSpPr/>
          <p:nvPr/>
        </p:nvSpPr>
        <p:spPr>
          <a:xfrm>
            <a:off x="763112" y="1828800"/>
            <a:ext cx="6321900" cy="4083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# update the code so that all the magic happens when you call the run function.</a:t>
            </a:r>
          </a:p>
          <a:p>
            <a:r>
              <a:rPr lang="en-US" sz="1400" dirty="0"/>
              <a:t># the run function expects you to pass in a K-Nearest Neighbor model</a:t>
            </a:r>
          </a:p>
          <a:p>
            <a:r>
              <a:rPr lang="en-US" sz="1400" dirty="0"/>
              <a:t># that has already been trained. </a:t>
            </a:r>
          </a:p>
          <a:p>
            <a:r>
              <a:rPr lang="en-US" sz="1400" dirty="0"/>
              <a:t># flatten the 28x28 into a 1D array and call predict</a:t>
            </a:r>
          </a:p>
          <a:p>
            <a:r>
              <a:rPr lang="en-US" sz="1400" dirty="0"/>
              <a:t># </a:t>
            </a:r>
            <a:r>
              <a:rPr lang="en-US" sz="1400" dirty="0" err="1"/>
              <a:t>knn.predict</a:t>
            </a:r>
            <a:r>
              <a:rPr lang="en-US" sz="1400" dirty="0"/>
              <a:t>([</a:t>
            </a:r>
            <a:r>
              <a:rPr lang="en-US" sz="1400" dirty="0" err="1"/>
              <a:t>numpy_array</a:t>
            </a:r>
            <a:r>
              <a:rPr lang="en-US" sz="1400" dirty="0"/>
              <a:t>])</a:t>
            </a:r>
          </a:p>
          <a:p>
            <a:r>
              <a:rPr lang="en-US" sz="1400" dirty="0"/>
              <a:t>import </a:t>
            </a:r>
            <a:r>
              <a:rPr lang="en-US" sz="1400" dirty="0" err="1"/>
              <a:t>pygame</a:t>
            </a:r>
            <a:endParaRPr lang="en-US" sz="1400" dirty="0"/>
          </a:p>
          <a:p>
            <a:r>
              <a:rPr lang="en-US" sz="1400" dirty="0"/>
              <a:t>import </a:t>
            </a:r>
            <a:r>
              <a:rPr lang="en-US" sz="1400" dirty="0" err="1"/>
              <a:t>numpy</a:t>
            </a:r>
            <a:r>
              <a:rPr lang="en-US" sz="1400" dirty="0"/>
              <a:t> as np</a:t>
            </a:r>
          </a:p>
          <a:p>
            <a:endParaRPr lang="en-US" sz="1400" dirty="0"/>
          </a:p>
          <a:p>
            <a:r>
              <a:rPr lang="en-US" sz="1400" dirty="0"/>
              <a:t>size=28</a:t>
            </a:r>
          </a:p>
          <a:p>
            <a:r>
              <a:rPr lang="en-US" sz="1400" dirty="0"/>
              <a:t># Square size instead of a 1x1 pixel, ratio 10x10</a:t>
            </a:r>
          </a:p>
          <a:p>
            <a:r>
              <a:rPr lang="en-US" sz="1400" dirty="0"/>
              <a:t># so it's easier to draw</a:t>
            </a:r>
          </a:p>
          <a:p>
            <a:r>
              <a:rPr lang="en-US" sz="1400" dirty="0"/>
              <a:t># visually scale whole image up by 10 (does not change what is stored)</a:t>
            </a:r>
          </a:p>
          <a:p>
            <a:r>
              <a:rPr lang="en-US" sz="1400" dirty="0"/>
              <a:t># Window size</a:t>
            </a:r>
          </a:p>
          <a:p>
            <a:r>
              <a:rPr lang="en-US" sz="1400" dirty="0"/>
              <a:t>SQUARE_SIZE = 10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def run(</a:t>
            </a:r>
            <a:r>
              <a:rPr lang="en-US" sz="1400" dirty="0" err="1"/>
              <a:t>knn</a:t>
            </a:r>
            <a:r>
              <a:rPr lang="en-US" sz="1400" dirty="0"/>
              <a:t>):</a:t>
            </a:r>
          </a:p>
          <a:p>
            <a:r>
              <a:rPr lang="en-US" sz="1400" dirty="0"/>
              <a:t># ….</a:t>
            </a:r>
          </a:p>
          <a:p>
            <a:r>
              <a:rPr lang="en-US" sz="2200" dirty="0">
                <a:effectLst/>
                <a:latin typeface="Helvetica" pitchFamily="2" charset="0"/>
              </a:rPr>
              <a:t>   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B5634F-42C6-FC99-9CB5-EFC7525A3702}"/>
              </a:ext>
            </a:extLst>
          </p:cNvPr>
          <p:cNvSpPr txBox="1"/>
          <p:nvPr/>
        </p:nvSpPr>
        <p:spPr>
          <a:xfrm>
            <a:off x="1598612" y="6067234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pygameDraw_v7.py</a:t>
            </a:r>
          </a:p>
        </p:txBody>
      </p:sp>
    </p:spTree>
    <p:extLst>
      <p:ext uri="{BB962C8B-B14F-4D97-AF65-F5344CB8AC3E}">
        <p14:creationId xmlns:p14="http://schemas.microsoft.com/office/powerpoint/2010/main" val="1847899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46ABF-388C-2E81-5212-51B7789BF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5276E-B90E-C9D7-44A2-2D789AF70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12" y="790766"/>
            <a:ext cx="10360501" cy="4462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Tie this in with your KNN model for live digit prediction!!!!</a:t>
            </a:r>
          </a:p>
          <a:p>
            <a:pPr marL="0" indent="0">
              <a:buNone/>
            </a:pPr>
            <a:endParaRPr lang="en-US" sz="4800" dirty="0">
              <a:solidFill>
                <a:srgbClr val="FFC000"/>
              </a:solidFill>
            </a:endParaRP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E0B1F957-513B-5CB7-A229-AC20A482B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4412" y="-433197"/>
            <a:ext cx="10360501" cy="12239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29999"/>
                </a:solidFill>
              </a:rPr>
              <a:t>User Input with </a:t>
            </a:r>
            <a:r>
              <a:rPr lang="en-US" sz="5400" dirty="0" err="1">
                <a:solidFill>
                  <a:srgbClr val="029999"/>
                </a:solidFill>
              </a:rPr>
              <a:t>Pygame</a:t>
            </a:r>
            <a:r>
              <a:rPr lang="en-US" sz="5400" dirty="0">
                <a:solidFill>
                  <a:srgbClr val="029999"/>
                </a:solidFill>
              </a:rPr>
              <a:t> V7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62DFB6-04EA-122D-D622-5B939041E6E4}"/>
              </a:ext>
            </a:extLst>
          </p:cNvPr>
          <p:cNvSpPr/>
          <p:nvPr/>
        </p:nvSpPr>
        <p:spPr>
          <a:xfrm>
            <a:off x="763112" y="1450372"/>
            <a:ext cx="6248400" cy="44622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err="1">
                <a:effectLst/>
                <a:latin typeface="Helvetica" pitchFamily="2" charset="0"/>
              </a:rPr>
              <a:t>mport</a:t>
            </a:r>
            <a:r>
              <a:rPr lang="en-US" sz="2000" dirty="0">
                <a:effectLst/>
                <a:latin typeface="Helvetica" pitchFamily="2" charset="0"/>
              </a:rPr>
              <a:t> </a:t>
            </a:r>
            <a:r>
              <a:rPr lang="en-US" sz="2000" dirty="0" err="1">
                <a:effectLst/>
                <a:latin typeface="Helvetica" pitchFamily="2" charset="0"/>
              </a:rPr>
              <a:t>numpy</a:t>
            </a:r>
            <a:r>
              <a:rPr lang="en-US" sz="2000" dirty="0">
                <a:effectLst/>
                <a:latin typeface="Helvetica" pitchFamily="2" charset="0"/>
              </a:rPr>
              <a:t> as np</a:t>
            </a:r>
          </a:p>
          <a:p>
            <a:r>
              <a:rPr lang="en-US" sz="2000" dirty="0">
                <a:effectLst/>
                <a:latin typeface="Helvetica" pitchFamily="2" charset="0"/>
              </a:rPr>
              <a:t>import </a:t>
            </a:r>
            <a:r>
              <a:rPr lang="en-US" sz="2000" dirty="0" err="1">
                <a:effectLst/>
                <a:latin typeface="Helvetica" pitchFamily="2" charset="0"/>
              </a:rPr>
              <a:t>gzip</a:t>
            </a:r>
            <a:endParaRPr lang="en-US" sz="2000" dirty="0">
              <a:effectLst/>
              <a:latin typeface="Helvetica" pitchFamily="2" charset="0"/>
            </a:endParaRPr>
          </a:p>
          <a:p>
            <a:r>
              <a:rPr lang="en-US" sz="2000" dirty="0">
                <a:effectLst/>
                <a:latin typeface="Helvetica" pitchFamily="2" charset="0"/>
              </a:rPr>
              <a:t>import struct</a:t>
            </a:r>
          </a:p>
          <a:p>
            <a:r>
              <a:rPr lang="en-US" sz="2000" dirty="0">
                <a:effectLst/>
                <a:latin typeface="Helvetica" pitchFamily="2" charset="0"/>
              </a:rPr>
              <a:t>from </a:t>
            </a:r>
            <a:r>
              <a:rPr lang="en-US" sz="2000" dirty="0" err="1">
                <a:effectLst/>
                <a:latin typeface="Helvetica" pitchFamily="2" charset="0"/>
              </a:rPr>
              <a:t>sklearn.neighbors</a:t>
            </a:r>
            <a:r>
              <a:rPr lang="en-US" sz="2000" dirty="0">
                <a:effectLst/>
                <a:latin typeface="Helvetica" pitchFamily="2" charset="0"/>
              </a:rPr>
              <a:t> import </a:t>
            </a:r>
            <a:r>
              <a:rPr lang="en-US" sz="2000" dirty="0" err="1">
                <a:effectLst/>
                <a:latin typeface="Helvetica" pitchFamily="2" charset="0"/>
              </a:rPr>
              <a:t>KNeighborsClassifier</a:t>
            </a:r>
            <a:endParaRPr lang="en-US" sz="2000" dirty="0">
              <a:effectLst/>
              <a:latin typeface="Helvetica" pitchFamily="2" charset="0"/>
            </a:endParaRPr>
          </a:p>
          <a:p>
            <a:r>
              <a:rPr lang="en-US" sz="2000" dirty="0">
                <a:solidFill>
                  <a:srgbClr val="FFFF00"/>
                </a:solidFill>
                <a:effectLst/>
                <a:latin typeface="Helvetica" pitchFamily="2" charset="0"/>
              </a:rPr>
              <a:t>import pygameDraw_v7</a:t>
            </a:r>
          </a:p>
          <a:p>
            <a:r>
              <a:rPr lang="en-US" sz="2000" dirty="0"/>
              <a:t># ….</a:t>
            </a:r>
          </a:p>
          <a:p>
            <a:r>
              <a:rPr lang="en-US" sz="2000" dirty="0">
                <a:effectLst/>
                <a:latin typeface="Helvetica" pitchFamily="2" charset="0"/>
              </a:rPr>
              <a:t># --- Calculate accuracy ---</a:t>
            </a:r>
          </a:p>
          <a:p>
            <a:r>
              <a:rPr lang="en-US" sz="2000" dirty="0">
                <a:effectLst/>
                <a:latin typeface="Helvetica" pitchFamily="2" charset="0"/>
              </a:rPr>
              <a:t>accuracy = (</a:t>
            </a:r>
            <a:r>
              <a:rPr lang="en-US" sz="2000" dirty="0" err="1">
                <a:effectLst/>
                <a:latin typeface="Helvetica" pitchFamily="2" charset="0"/>
              </a:rPr>
              <a:t>y_pred</a:t>
            </a:r>
            <a:r>
              <a:rPr lang="en-US" sz="2000" dirty="0">
                <a:effectLst/>
                <a:latin typeface="Helvetica" pitchFamily="2" charset="0"/>
              </a:rPr>
              <a:t> == </a:t>
            </a:r>
            <a:r>
              <a:rPr lang="en-US" sz="2000" dirty="0" err="1">
                <a:effectLst/>
                <a:latin typeface="Helvetica" pitchFamily="2" charset="0"/>
              </a:rPr>
              <a:t>Y_test</a:t>
            </a:r>
            <a:r>
              <a:rPr lang="en-US" sz="2000" dirty="0">
                <a:effectLst/>
                <a:latin typeface="Helvetica" pitchFamily="2" charset="0"/>
              </a:rPr>
              <a:t>).mean()</a:t>
            </a:r>
          </a:p>
          <a:p>
            <a:r>
              <a:rPr lang="en-US" sz="2000" dirty="0">
                <a:effectLst/>
                <a:latin typeface="Helvetica" pitchFamily="2" charset="0"/>
              </a:rPr>
              <a:t>print("Test accuracy:", accuracy)</a:t>
            </a:r>
          </a:p>
          <a:p>
            <a:br>
              <a:rPr lang="en-US" sz="2000" dirty="0">
                <a:effectLst/>
                <a:latin typeface="Helvetica" pitchFamily="2" charset="0"/>
              </a:rPr>
            </a:br>
            <a:endParaRPr lang="en-US" sz="2000" dirty="0">
              <a:effectLst/>
              <a:latin typeface="Helvetica" pitchFamily="2" charset="0"/>
            </a:endParaRPr>
          </a:p>
          <a:p>
            <a:r>
              <a:rPr lang="en-US" sz="2000" dirty="0">
                <a:solidFill>
                  <a:srgbClr val="FFFF00"/>
                </a:solidFill>
                <a:effectLst/>
                <a:latin typeface="Helvetica" pitchFamily="2" charset="0"/>
              </a:rPr>
              <a:t>pygameDraw_v7.run(</a:t>
            </a:r>
            <a:r>
              <a:rPr lang="en-US" sz="2000" dirty="0" err="1">
                <a:solidFill>
                  <a:srgbClr val="FFFF00"/>
                </a:solidFill>
                <a:effectLst/>
                <a:latin typeface="Helvetica" pitchFamily="2" charset="0"/>
              </a:rPr>
              <a:t>knn</a:t>
            </a:r>
            <a:r>
              <a:rPr lang="en-US" sz="2000" dirty="0">
                <a:solidFill>
                  <a:srgbClr val="FFFF00"/>
                </a:solidFill>
                <a:effectLst/>
                <a:latin typeface="Helvetica" pitchFamily="2" charset="0"/>
              </a:rPr>
              <a:t>)</a:t>
            </a:r>
          </a:p>
          <a:p>
            <a:endParaRPr lang="en-US" sz="1400" dirty="0"/>
          </a:p>
          <a:p>
            <a:r>
              <a:rPr lang="en-US" sz="2200" dirty="0">
                <a:effectLst/>
                <a:latin typeface="Helvetica" pitchFamily="2" charset="0"/>
              </a:rPr>
              <a:t>   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F229F3-8A33-DC32-17CF-2CD64B1F240A}"/>
              </a:ext>
            </a:extLst>
          </p:cNvPr>
          <p:cNvSpPr txBox="1"/>
          <p:nvPr/>
        </p:nvSpPr>
        <p:spPr>
          <a:xfrm>
            <a:off x="1598611" y="6067234"/>
            <a:ext cx="4054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mnist_knn_userDraw.py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914A02-3CB1-DC3A-EFA1-FD59D7AFEBF2}"/>
              </a:ext>
            </a:extLst>
          </p:cNvPr>
          <p:cNvSpPr txBox="1"/>
          <p:nvPr/>
        </p:nvSpPr>
        <p:spPr>
          <a:xfrm>
            <a:off x="7694612" y="6067234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pygameDraw_v7.py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3750D9-41B8-39D1-43C9-15822FD656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212" y="2153801"/>
            <a:ext cx="4995489" cy="391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950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3FFDA-8E71-1CC2-165D-E9CA588FE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740D8-D05F-6532-0132-1254BD551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3296" y="992980"/>
            <a:ext cx="10360501" cy="446227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200" dirty="0"/>
              <a:t>It’s an easy algorithm, and a good choice when similar things are close together. It’s good when there is a small or medium sized data set (if you are comparing a new point to every existing point, runtime will be longer the larger the dataset is).  </a:t>
            </a:r>
          </a:p>
          <a:p>
            <a:pPr marL="0" indent="0">
              <a:buNone/>
            </a:pPr>
            <a:r>
              <a:rPr lang="en-US" sz="3200" dirty="0" err="1"/>
              <a:t>kNN</a:t>
            </a:r>
            <a:r>
              <a:rPr lang="en-US" sz="3200" dirty="0"/>
              <a:t> works well even with curvy and irregular boundaries (does not need to be a line).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Selecting the k is critical.  Selecting the proper distance formula is critical.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4800" dirty="0">
              <a:solidFill>
                <a:srgbClr val="FFC000"/>
              </a:solidFill>
            </a:endParaRP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3BFC862D-A9EA-D177-6427-43C5855D7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12" y="-230983"/>
            <a:ext cx="10360501" cy="12239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29999"/>
                </a:solidFill>
              </a:rPr>
              <a:t>When to use K-nearest Neighbors</a:t>
            </a:r>
          </a:p>
        </p:txBody>
      </p:sp>
    </p:spTree>
    <p:extLst>
      <p:ext uri="{BB962C8B-B14F-4D97-AF65-F5344CB8AC3E}">
        <p14:creationId xmlns:p14="http://schemas.microsoft.com/office/powerpoint/2010/main" val="249102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E0BA1-286A-5502-6CEA-C28A3DF61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2" y="2057400"/>
            <a:ext cx="10360501" cy="1223963"/>
          </a:xfrm>
        </p:spPr>
        <p:txBody>
          <a:bodyPr/>
          <a:lstStyle/>
          <a:p>
            <a:r>
              <a:rPr lang="en-US" dirty="0"/>
              <a:t>No In Class Exercise, just have fun with your Digit Classifier</a:t>
            </a:r>
          </a:p>
        </p:txBody>
      </p:sp>
    </p:spTree>
    <p:extLst>
      <p:ext uri="{BB962C8B-B14F-4D97-AF65-F5344CB8AC3E}">
        <p14:creationId xmlns:p14="http://schemas.microsoft.com/office/powerpoint/2010/main" val="256386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16x9</Template>
  <TotalTime>4329</TotalTime>
  <Words>8054</Words>
  <Application>Microsoft Office PowerPoint</Application>
  <PresentationFormat>Custom</PresentationFormat>
  <Paragraphs>1011</Paragraphs>
  <Slides>26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Google Sans</vt:lpstr>
      <vt:lpstr>Helvetica</vt:lpstr>
      <vt:lpstr>Tech 16x9</vt:lpstr>
      <vt:lpstr>MNIST Digit Classification  with K-nearest Neighbors</vt:lpstr>
      <vt:lpstr>MNIST Database</vt:lpstr>
      <vt:lpstr>MNIST Database</vt:lpstr>
      <vt:lpstr>Reading the Data</vt:lpstr>
      <vt:lpstr>To Do</vt:lpstr>
      <vt:lpstr>Matching Labels</vt:lpstr>
      <vt:lpstr>To Do</vt:lpstr>
      <vt:lpstr>Linear Classification</vt:lpstr>
      <vt:lpstr>K-nearest Neighbors</vt:lpstr>
      <vt:lpstr>How to Determine Nearest Neighbors</vt:lpstr>
      <vt:lpstr>Majority Classification</vt:lpstr>
      <vt:lpstr>MNIST - K Nearest Neighbors</vt:lpstr>
      <vt:lpstr>Scikit-Learn KNeighborsClassifier</vt:lpstr>
      <vt:lpstr>Scikit-Learn KNeighborsClassifier</vt:lpstr>
      <vt:lpstr>MNIST - 3 Nearest Neighbors</vt:lpstr>
      <vt:lpstr>To Do</vt:lpstr>
      <vt:lpstr>User Input with Pygame</vt:lpstr>
      <vt:lpstr>User Input with Pygame V2</vt:lpstr>
      <vt:lpstr>User Input with Pygame V3</vt:lpstr>
      <vt:lpstr>User Input with Pygame V4</vt:lpstr>
      <vt:lpstr>User Input with Pygame V5</vt:lpstr>
      <vt:lpstr>User Input with Pygame V6</vt:lpstr>
      <vt:lpstr>User Input with Pygame V7</vt:lpstr>
      <vt:lpstr>User Input with Pygame V7</vt:lpstr>
      <vt:lpstr>When to use K-nearest Neighbors</vt:lpstr>
      <vt:lpstr>No In Class Exercise, just have fun with your Digit Classifier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Marriott, Heather H</dc:creator>
  <cp:lastModifiedBy>Marriott, Heather H</cp:lastModifiedBy>
  <cp:revision>29</cp:revision>
  <dcterms:created xsi:type="dcterms:W3CDTF">2025-11-08T18:22:53Z</dcterms:created>
  <dcterms:modified xsi:type="dcterms:W3CDTF">2026-01-26T19:00:08Z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